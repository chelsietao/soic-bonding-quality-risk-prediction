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3a25a49aba4706" /><Relationship Type="http://schemas.openxmlformats.org/officeDocument/2006/relationships/extended-properties" Target="/docProps/app.xml" Id="R9f4dbe38320944c5" /><Relationship Type="http://schemas.openxmlformats.org/officeDocument/2006/relationships/officeDocument" Target="/ppt/presentation.xml" Id="R64def7d24df241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eb6b152d264755"/>
  </p:sldMasterIdLst>
  <p:notesMasterIdLst>
    <p:notesMasterId xmlns:r="http://schemas.openxmlformats.org/officeDocument/2006/relationships" r:id="R97cb1bddf5f84914"/>
  </p:notesMasterIdLst>
  <p:sldIdLst>
    <p:sldId xmlns:r="http://schemas.openxmlformats.org/officeDocument/2006/relationships" id="256" r:id="R3c73a6073d314efe"/>
    <p:sldId xmlns:r="http://schemas.openxmlformats.org/officeDocument/2006/relationships" id="257" r:id="R73b6668799424152"/>
    <p:sldId xmlns:r="http://schemas.openxmlformats.org/officeDocument/2006/relationships" id="258" r:id="R834bd59bafb940d0"/>
    <p:sldId xmlns:r="http://schemas.openxmlformats.org/officeDocument/2006/relationships" id="259" r:id="Rb94dced37c734940"/>
    <p:sldId xmlns:r="http://schemas.openxmlformats.org/officeDocument/2006/relationships" id="260" r:id="R3d4866d958f84ef2"/>
    <p:sldId xmlns:r="http://schemas.openxmlformats.org/officeDocument/2006/relationships" id="261" r:id="R895128e3364d4bb4"/>
    <p:sldId xmlns:r="http://schemas.openxmlformats.org/officeDocument/2006/relationships" id="262" r:id="R1dd033d84ac44349"/>
    <p:sldId xmlns:r="http://schemas.openxmlformats.org/officeDocument/2006/relationships" id="263" r:id="R1c7cfdbe666b4c89"/>
    <p:sldId xmlns:r="http://schemas.openxmlformats.org/officeDocument/2006/relationships" id="264" r:id="Rcf8f5581d6574ac7"/>
    <p:sldId xmlns:r="http://schemas.openxmlformats.org/officeDocument/2006/relationships" id="265" r:id="R177fceea0dfe47af"/>
    <p:sldId xmlns:r="http://schemas.openxmlformats.org/officeDocument/2006/relationships" id="266" r:id="R0afb5c32ccb24506"/>
    <p:sldId xmlns:r="http://schemas.openxmlformats.org/officeDocument/2006/relationships" id="267" r:id="R50c7662b81c94ed9"/>
    <p:sldId xmlns:r="http://schemas.openxmlformats.org/officeDocument/2006/relationships" id="268" r:id="R689469bd86754765"/>
    <p:sldId xmlns:r="http://schemas.openxmlformats.org/officeDocument/2006/relationships" id="269" r:id="Rc74dab165d5b4b58"/>
    <p:sldId xmlns:r="http://schemas.openxmlformats.org/officeDocument/2006/relationships" id="270" r:id="Rf5970db5977c4666"/>
    <p:sldId xmlns:r="http://schemas.openxmlformats.org/officeDocument/2006/relationships" id="271" r:id="R6d12219136e9433e"/>
    <p:sldId xmlns:r="http://schemas.openxmlformats.org/officeDocument/2006/relationships" id="272" r:id="Rae186a68671646c0"/>
    <p:sldId xmlns:r="http://schemas.openxmlformats.org/officeDocument/2006/relationships" id="273" r:id="Rcd34dd7f3f8b4897"/>
    <p:sldId xmlns:r="http://schemas.openxmlformats.org/officeDocument/2006/relationships" id="274" r:id="Rd7f3705dd5b641d1"/>
    <p:sldId xmlns:r="http://schemas.openxmlformats.org/officeDocument/2006/relationships" id="275" r:id="R9a88b49aeea84f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51549464bd4dd7" /><Relationship Type="http://schemas.openxmlformats.org/officeDocument/2006/relationships/slideMaster" Target="/ppt/slideMasters/slideMaster1.xml" Id="R5aeb6b152d264755" /><Relationship Type="http://schemas.openxmlformats.org/officeDocument/2006/relationships/notesMaster" Target="/ppt/notesMasters/notesMaster1.xml" Id="R97cb1bddf5f84914" /><Relationship Type="http://schemas.openxmlformats.org/officeDocument/2006/relationships/presProps" Target="/ppt/presProps.xml" Id="R43774cc9c4e54291" /><Relationship Type="http://schemas.openxmlformats.org/officeDocument/2006/relationships/tableStyles" Target="/ppt/tableStyles.xml" Id="R9de2fd637940475a" /><Relationship Type="http://schemas.openxmlformats.org/officeDocument/2006/relationships/slide" Target="/ppt/slides/slide1.xml" Id="R3c73a6073d314efe" /><Relationship Type="http://schemas.openxmlformats.org/officeDocument/2006/relationships/slide" Target="/ppt/slides/slide2.xml" Id="R73b6668799424152" /><Relationship Type="http://schemas.openxmlformats.org/officeDocument/2006/relationships/slide" Target="/ppt/slides/slide3.xml" Id="R834bd59bafb940d0" /><Relationship Type="http://schemas.openxmlformats.org/officeDocument/2006/relationships/slide" Target="/ppt/slides/slide4.xml" Id="Rb94dced37c734940" /><Relationship Type="http://schemas.openxmlformats.org/officeDocument/2006/relationships/slide" Target="/ppt/slides/slide5.xml" Id="R3d4866d958f84ef2" /><Relationship Type="http://schemas.openxmlformats.org/officeDocument/2006/relationships/slide" Target="/ppt/slides/slide6.xml" Id="R895128e3364d4bb4" /><Relationship Type="http://schemas.openxmlformats.org/officeDocument/2006/relationships/slide" Target="/ppt/slides/slide7.xml" Id="R1dd033d84ac44349" /><Relationship Type="http://schemas.openxmlformats.org/officeDocument/2006/relationships/slide" Target="/ppt/slides/slide8.xml" Id="R1c7cfdbe666b4c89" /><Relationship Type="http://schemas.openxmlformats.org/officeDocument/2006/relationships/slide" Target="/ppt/slides/slide9.xml" Id="Rcf8f5581d6574ac7" /><Relationship Type="http://schemas.openxmlformats.org/officeDocument/2006/relationships/slide" Target="/ppt/slides/slide10.xml" Id="R177fceea0dfe47af" /><Relationship Type="http://schemas.openxmlformats.org/officeDocument/2006/relationships/slide" Target="/ppt/slides/slide11.xml" Id="R0afb5c32ccb24506" /><Relationship Type="http://schemas.openxmlformats.org/officeDocument/2006/relationships/slide" Target="/ppt/slides/slide12.xml" Id="R50c7662b81c94ed9" /><Relationship Type="http://schemas.openxmlformats.org/officeDocument/2006/relationships/slide" Target="/ppt/slides/slide13.xml" Id="R689469bd86754765" /><Relationship Type="http://schemas.openxmlformats.org/officeDocument/2006/relationships/slide" Target="/ppt/slides/slide14.xml" Id="Rc74dab165d5b4b58" /><Relationship Type="http://schemas.openxmlformats.org/officeDocument/2006/relationships/slide" Target="/ppt/slides/slide15.xml" Id="Rf5970db5977c4666" /><Relationship Type="http://schemas.openxmlformats.org/officeDocument/2006/relationships/slide" Target="/ppt/slides/slide16.xml" Id="R6d12219136e9433e" /><Relationship Type="http://schemas.openxmlformats.org/officeDocument/2006/relationships/slide" Target="/ppt/slides/slide17.xml" Id="Rae186a68671646c0" /><Relationship Type="http://schemas.openxmlformats.org/officeDocument/2006/relationships/slide" Target="/ppt/slides/slide18.xml" Id="Rcd34dd7f3f8b4897" /><Relationship Type="http://schemas.openxmlformats.org/officeDocument/2006/relationships/slide" Target="/ppt/slides/slide19.xml" Id="Rd7f3705dd5b641d1" /><Relationship Type="http://schemas.openxmlformats.org/officeDocument/2006/relationships/slide" Target="/ppt/slides/slide20.xml" Id="R9a88b49aeea84f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a77d5fcfc441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1d1f9e7827462a" /><Relationship Type="http://schemas.openxmlformats.org/officeDocument/2006/relationships/notesMaster" Target="/ppt/notesMasters/notesMaster1.xml" Id="R65424ac73d684f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f91041042c4630" /><Relationship Type="http://schemas.openxmlformats.org/officeDocument/2006/relationships/notesMaster" Target="/ppt/notesMasters/notesMaster1.xml" Id="Rd12268b2b7ba4e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acb8d58b724d6f" /><Relationship Type="http://schemas.openxmlformats.org/officeDocument/2006/relationships/notesMaster" Target="/ppt/notesMasters/notesMaster1.xml" Id="Rb2cc1fde09ad42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a4c117c7d440e2" /><Relationship Type="http://schemas.openxmlformats.org/officeDocument/2006/relationships/notesMaster" Target="/ppt/notesMasters/notesMaster1.xml" Id="R7e0dd900e9d349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298be35f2d4795" /><Relationship Type="http://schemas.openxmlformats.org/officeDocument/2006/relationships/notesMaster" Target="/ppt/notesMasters/notesMaster1.xml" Id="Rc46f0d063d3a4e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65e85fd8fd4ecc" /><Relationship Type="http://schemas.openxmlformats.org/officeDocument/2006/relationships/notesMaster" Target="/ppt/notesMasters/notesMaster1.xml" Id="Rd18aadd9ef6d49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8ce5b872fa4104" /><Relationship Type="http://schemas.openxmlformats.org/officeDocument/2006/relationships/notesMaster" Target="/ppt/notesMasters/notesMaster1.xml" Id="R95a2e45d54704e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7a14ef36934f99" /><Relationship Type="http://schemas.openxmlformats.org/officeDocument/2006/relationships/notesMaster" Target="/ppt/notesMasters/notesMaster1.xml" Id="Ra4476021370e48e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55b1ee46f7474b" /><Relationship Type="http://schemas.openxmlformats.org/officeDocument/2006/relationships/notesMaster" Target="/ppt/notesMasters/notesMaster1.xml" Id="R301f7e7c60ba46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c5529d6de8b4003" /><Relationship Type="http://schemas.openxmlformats.org/officeDocument/2006/relationships/notesMaster" Target="/ppt/notesMasters/notesMaster1.xml" Id="Re03d86c8e9134e7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dafeaec35c41f8" /><Relationship Type="http://schemas.openxmlformats.org/officeDocument/2006/relationships/notesMaster" Target="/ppt/notesMasters/notesMaster1.xml" Id="R0f7ef9fc9a3649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3537086f704a2f" /><Relationship Type="http://schemas.openxmlformats.org/officeDocument/2006/relationships/notesMaster" Target="/ppt/notesMasters/notesMaster1.xml" Id="Rc3fc0d2895254d3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fd8ae098d684c2e" /><Relationship Type="http://schemas.openxmlformats.org/officeDocument/2006/relationships/notesMaster" Target="/ppt/notesMasters/notesMaster1.xml" Id="R90475ddd423d476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c4631da8ca44e34" /><Relationship Type="http://schemas.openxmlformats.org/officeDocument/2006/relationships/notesMaster" Target="/ppt/notesMasters/notesMaster1.xml" Id="R60a550fdf0dd47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58f7265e8fa47f5" /><Relationship Type="http://schemas.openxmlformats.org/officeDocument/2006/relationships/notesMaster" Target="/ppt/notesMasters/notesMaster1.xml" Id="Rfecfaa5f3c104b9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23e295a094f4786" /><Relationship Type="http://schemas.openxmlformats.org/officeDocument/2006/relationships/notesMaster" Target="/ppt/notesMasters/notesMaster1.xml" Id="Rdbb0aded0279459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e0ec51a7f1744d2" /><Relationship Type="http://schemas.openxmlformats.org/officeDocument/2006/relationships/notesMaster" Target="/ppt/notesMasters/notesMaster1.xml" Id="R47347512d644418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7e36ce20adc428c" /><Relationship Type="http://schemas.openxmlformats.org/officeDocument/2006/relationships/notesMaster" Target="/ppt/notesMasters/notesMaster1.xml" Id="R991d44f7ba5342c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20d106dddc64dc3" /><Relationship Type="http://schemas.openxmlformats.org/officeDocument/2006/relationships/notesMaster" Target="/ppt/notesMasters/notesMaster1.xml" Id="R6d4f1cc97e54449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2f029f8a8724890" /><Relationship Type="http://schemas.openxmlformats.org/officeDocument/2006/relationships/notesMaster" Target="/ppt/notesMasters/notesMaster1.xml" Id="R2491f44dfb194e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我以鍵合加工的模擬資料建立缺陷風險排序模型，想回答在檢查容量有限的情況下，如何優先檢查較可能有缺陷的紀錄，並用可追溯的評估與模型解釋提出工程調查方向。</a:t>
            </a:r>
          </a:p>
          <a:p xmlns:a="http://schemas.openxmlformats.org/drawingml/2006/main">
            <a:r>
              <a:t>這份研究尚未使用真實製程資料，所有結果都限定在目前模擬資料與分析設定。</a:t>
            </a:r>
          </a:p>
          <a:p xmlns:a="http://schemas.openxmlformats.org/drawingml/2006/main">
            <a:r>
              <a:t>來源：README.zh-TW.md，results/final_evaluation.csv，職務內容依提供的職缺文字。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我把問題定義為加工後、品質檢查前的檢查優先排序，因為平均溫度與加工時間等摘要需要在該步驟完成後才可取得。</a:t>
            </a:r>
          </a:p>
          <a:p xmlns:a="http://schemas.openxmlformats.org/drawingml/2006/main">
            <a:r>
              <a:t>假設某批紀錄只能檢查百分之二十，模型用可用參數產生分數，整批排序後選取高分紀錄，再以品質標籤評估涵蓋率。</a:t>
            </a:r>
          </a:p>
          <a:p xmlns:a="http://schemas.openxmlformats.org/drawingml/2006/main">
            <a:r>
              <a:t>百分之二十只是容量示範，放行、攔貨與停機仍依現場 SOP，模型沒有執行這些動作。</a:t>
            </a:r>
          </a:p>
          <a:p xmlns:a="http://schemas.openxmlformats.org/drawingml/2006/main">
            <a:r>
              <a:t>來源：notebooks/SoIC_Bonding_01_EDA.ipynb，models/model_metadata.json。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依提供的職缺，工作包含製程開發與維持、設備排查、跨部門溝通與 SPC／DOE，並期待 Python 或 AI 能力。</a:t>
            </a:r>
          </a:p>
          <a:p xmlns:a="http://schemas.openxmlformats.org/drawingml/2006/main">
            <a:r>
              <a:t>我把每個分析步驟對應到一個工程問題，並保留證據層級，現有成果支持資料分析，尚未證明現場操作、量產改善或赴美任職準備。</a:t>
            </a:r>
          </a:p>
          <a:p xmlns:a="http://schemas.openxmlformats.org/drawingml/2006/main">
            <a:r>
              <a:t>赴美意願與時程應由本人據實回答，這份專題提供的是雙語文件與交接方法。</a:t>
            </a:r>
          </a:p>
          <a:p xmlns:a="http://schemas.openxmlformats.org/drawingml/2006/main">
            <a:r>
              <a:t>來源：使用者提供的 2027預聘_SoIC AP7P2(嘉義) &amp; SoIC AZ(美國) 3DAS Process Engineer 職缺文字。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資料有十萬筆，代表模擬晶圓加工紀錄，包含四千批次與三台機台，缺陷率為百分之十點零四六。</a:t>
            </a:r>
          </a:p>
          <a:p xmlns:a="http://schemas.openxmlformats.org/drawingml/2006/main">
            <a:r>
              <a:t>七個數值特徵構成模型輸入，編號與時間供追溯及資料切分。</a:t>
            </a:r>
          </a:p>
          <a:p xmlns:a="http://schemas.openxmlformats.org/drawingml/2006/main">
            <a:r>
              <a:t>溫度、壓力、時間與對準誤差的物理單位尚未記錄，粒子數的量測面積和門檻也未知，因此不能把數值當成真實配方。</a:t>
            </a:r>
          </a:p>
          <a:p xmlns:a="http://schemas.openxmlformats.org/drawingml/2006/main">
            <a:r>
              <a:t>來源：data/synthetic_bonding_data.csv，models/model_metadata.json。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我依批次最早時間排序，分成七成訓練、一成五驗證與一成五測試，並檢查各集合的時間範圍沒有重疊。</a:t>
            </a:r>
          </a:p>
          <a:p xmlns:a="http://schemas.openxmlformats.org/drawingml/2006/main">
            <a:r>
              <a:t>訓練資料決定模型參數，驗證集比較模型與政策，測試集評估固定版本。</a:t>
            </a:r>
          </a:p>
          <a:p xmlns:a="http://schemas.openxmlformats.org/drawingml/2006/main">
            <a:r>
              <a:t>同批次不跨集合可降低批次相似性造成的評估偏差，但全期間 EDA 已先看過，因此正式確認仍需要新期間資料。</a:t>
            </a:r>
          </a:p>
          <a:p xmlns:a="http://schemas.openxmlformats.org/drawingml/2006/main">
            <a:r>
              <a:t>來源：notebooks/SoIC_Bonding_01_EDA.ipynb，results/final_evaluation.csv。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參數分組圖以組內中位數作為 X 軸，缺陷比例作為 Y 軸，因此點代表一組紀錄。</a:t>
            </a:r>
          </a:p>
          <a:p xmlns:a="http://schemas.openxmlformats.org/drawingml/2006/main">
            <a:r>
              <a:t>溫度、壓力與時間呈 U 形，Spearman 只檢查單調方向，接近零仍可能存在非線性關係。</a:t>
            </a:r>
          </a:p>
          <a:p xmlns:a="http://schemas.openxmlformats.org/drawingml/2006/main">
            <a:r>
              <a:t>TOOL_C 的缺陷率較高，可形成調查範圍，但仍需核對產品與時段，機台差異無法直接等同設備故障。</a:t>
            </a:r>
          </a:p>
          <a:p xmlns:a="http://schemas.openxmlformats.org/drawingml/2006/main">
            <a:r>
              <a:t>來源：notebooks/SoIC_Bonding_01_EDA.ipynb，固定 CSV 的分組結果。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這頁數值來自 Logistic Regression 驗證集，門檻改變的是警報規則，模型分數與排序沒有改變。</a:t>
            </a:r>
          </a:p>
          <a:p xmlns:a="http://schemas.openxmlformats.org/drawingml/2006/main">
            <a:r>
              <a:t>從零點五降到零點一，Recall 從百分之十點七升到七十三點一，警報從兩百五十筆增加到五千兩百零九筆，漏判減少的同時需要更多檢查。</a:t>
            </a:r>
          </a:p>
          <a:p xmlns:a="http://schemas.openxmlformats.org/drawingml/2006/main">
            <a:r>
              <a:t>我接著固定相同檢查量比較模型，才能評估排序方法本身的差異。</a:t>
            </a:r>
          </a:p>
          <a:p xmlns:a="http://schemas.openxmlformats.org/drawingml/2006/main">
            <a:r>
              <a:t>來源：results/threshold_comparison_logistic.csv。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兩個模型都使用相同七個數值特徵，在同一份驗證集各選風險最高的三千筆。</a:t>
            </a:r>
          </a:p>
          <a:p xmlns:a="http://schemas.openxmlformats.org/drawingml/2006/main">
            <a:r>
              <a:t>Logistic Regression 涵蓋九百五十八筆缺陷，梯度提升樹涵蓋一千兩百二十六筆，差距為兩百六十八筆，未涵蓋缺陷從六百九十五筆降到四百二十七筆，相對下降百分之三十八點六。</a:t>
            </a:r>
          </a:p>
          <a:p xmlns:a="http://schemas.openxmlformats.org/drawingml/2006/main">
            <a:r>
              <a:t>這是選取成效，尚未證明製造缺陷生成率、良率或成本改善，非線性表達能力是合理改善機制，尚未量化各機制貢獻。</a:t>
            </a:r>
          </a:p>
          <a:p xmlns:a="http://schemas.openxmlformats.org/drawingml/2006/main">
            <a:r>
              <a:t>來源：results/model_comparison.csv。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測試集有一萬五千筆紀錄，其中兩千六百五十七筆有缺陷，模型選出三千筆，其中一千九百二十七筆有缺陷，一千零七十三筆沒有缺陷。</a:t>
            </a:r>
          </a:p>
          <a:p xmlns:a="http://schemas.openxmlformats.org/drawingml/2006/main">
            <a:r>
              <a:t>剩下的一萬兩千筆仍有七百三十筆缺陷，所以未警報不能被視為合格放行證據。</a:t>
            </a:r>
          </a:p>
          <a:p xmlns:a="http://schemas.openxmlformats.org/drawingml/2006/main">
            <a:r>
              <a:t>若隨機選三千筆，預期涵蓋五百三十一點四筆，模型約為其三點六三倍，這是缺陷濃度提升，尚未換算工時與成本。</a:t>
            </a:r>
          </a:p>
          <a:p xmlns:a="http://schemas.openxmlformats.org/drawingml/2006/main">
            <a:r>
              <a:t>來源：results/final_evaluation.csv，算式 1927/(3000*2657/15000)。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驗證 Recall 為百分之七十四點二，測試為七十二點五，相差一點七個百分點，固定容量的涵蓋率在這次較晚期間仍接近。</a:t>
            </a:r>
          </a:p>
          <a:p xmlns:a="http://schemas.openxmlformats.org/drawingml/2006/main">
            <a:r>
              <a:t>測試缺陷率從百分之十一點零二上升到十七點七一，這會影響 Precision 與 AP，不能把兩者上升全部解讀成模型泛化改善。</a:t>
            </a:r>
          </a:p>
          <a:p xmlns:a="http://schemas.openxmlformats.org/drawingml/2006/main">
            <a:r>
              <a:t>ROC-AUC 由零點八八七升到零點九一二，提供排序判別的補充證據，仍需更多窗口與 lot-aware 不確定性估計。</a:t>
            </a:r>
          </a:p>
          <a:p xmlns:a="http://schemas.openxmlformats.org/drawingml/2006/main">
            <a:r>
              <a:t>來源：results/final_evaluation.csv。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置換重要性固定模型，將驗證集一個欄位打亂五次，以 AP 下降量衡量依賴程度。</a:t>
            </a:r>
          </a:p>
          <a:p xmlns:a="http://schemas.openxmlformats.org/drawingml/2006/main">
            <a:r>
              <a:t>對準誤差最大，平均溫度與加工時間其次，原本 AP 約零點五九三，打亂對準誤差後約降到零點二六九。</a:t>
            </a:r>
          </a:p>
          <a:p xmlns:a="http://schemas.openxmlformats.org/drawingml/2006/main">
            <a:r>
              <a:t>相關特徵可能共用資訊，所以低重要性不代表物理上不重要，數值也不能加總成因果貢獻，誤差線僅反映打亂重複的波動。</a:t>
            </a:r>
          </a:p>
          <a:p xmlns:a="http://schemas.openxmlformats.org/drawingml/2006/main">
            <a:r>
              <a:t>來源：results/permutation_importance.csv。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這張圖將每筆驗證紀錄的一個參數替換成指定值，再平均預測機率，範圍是第五到第九十五百分位。</a:t>
            </a:r>
          </a:p>
          <a:p xmlns:a="http://schemas.openxmlformats.org/drawingml/2006/main">
            <a:r>
              <a:t>對準誤差增加時模型風險上升，平均溫度與加工時間呈 U 形，這解釋了模型學到的形狀。</a:t>
            </a:r>
          </a:p>
          <a:p xmlns:a="http://schemas.openxmlformats.org/drawingml/2006/main">
            <a:r>
              <a:t>假設替換可能形成少見組合，輸出也未校準，因此低點不能當成最佳配方或工程規格。</a:t>
            </a:r>
          </a:p>
          <a:p xmlns:a="http://schemas.openxmlformats.org/drawingml/2006/main">
            <a:r>
              <a:t>來源：images/04_partial_dependence.png，notebooks/SoIC_Bonding_01_EDA.ipynb，原始分析圖保留為影像。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若高分紀錄集中在某台設備或某時段，我會先核對資料與量測，再分層產品、配方、腔體與維修事件，避免把資料異常當成物理故障。</a:t>
            </a:r>
          </a:p>
          <a:p xmlns:a="http://schemas.openxmlformats.org/drawingml/2006/main">
            <a:r>
              <a:t>對準誤差可以引導查核校正與量測，粒子數可引導查看量測面積與設備維護證據，具體原因仍依現場量測與設備紀錄確認。</a:t>
            </a:r>
          </a:p>
          <a:p xmlns:a="http://schemas.openxmlformats.org/drawingml/2006/main">
            <a:r>
              <a:t>Owner 記錄假設、證據、下一步與完成條件，設備、製程、良率與量測團隊各自提供脈絡，技術員依核准 SOP 執行，處置後用後續量測確認復歸。</a:t>
            </a:r>
          </a:p>
          <a:p xmlns:a="http://schemas.openxmlformats.org/drawingml/2006/main">
            <a:r>
              <a:t>來源：README.zh-TW.md 第十三節，應用規劃尚未導入。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目前筆記本只有描述性趨勢圖，沒有正式管制界限或 out-of-control 規則。</a:t>
            </a:r>
          </a:p>
          <a:p xmlns:a="http://schemas.openxmlformats.org/drawingml/2006/main">
            <a:r>
              <a:t>若要加上 SPC，我會先確認量測系統、穩定基準與合理子群，再依資料性質評估缺陷比例 p-chart 或連續量測管制圖，批次群聚、時間相依與過度離散也要檢查。</a:t>
            </a:r>
          </a:p>
          <a:p xmlns:a="http://schemas.openxmlformats.org/drawingml/2006/main">
            <a:r>
              <a:t>管制界限描述基準變異，規格界限來自工程要求，兩者不可混用，資料沒有規格與穩定性確認，因此沒有 Cpk 結論。</a:t>
            </a:r>
          </a:p>
          <a:p xmlns:a="http://schemas.openxmlformats.org/drawingml/2006/main">
            <a:r>
              <a:t>來源：NIST https://www.itl.nist.gov/div898/handbook/pmc/section3/pmc31.htm，README.zh-TW.md 第十四節，以下屬規劃。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DOE 的目標是驗證因素變化對品質的影響，模型只協助形成與排序假設。</a:t>
            </a:r>
          </a:p>
          <a:p xmlns:a="http://schemas.openxmlformats.org/drawingml/2006/main">
            <a:r>
              <a:t>溫度與時間可在實際步驟、單位與核准範圍確認後作為候選因素，設計應依目標估計交互作用與曲率，並考慮機台與批次的區集、隨機化、獨立重複及精度。</a:t>
            </a:r>
          </a:p>
          <a:p xmlns:a="http://schemas.openxmlformats.org/drawingml/2006/main">
            <a:r>
              <a:t>對準誤差是觀測量，若沒有定義可控制且安全的介入，不能當作任意可設的 treatment，同批多片也未必是獨立重複。</a:t>
            </a:r>
          </a:p>
          <a:p xmlns:a="http://schemas.openxmlformats.org/drawingml/2006/main">
            <a:r>
              <a:t>來源：NIST https://www.itl.nist.gov/div898/handbook/pri/section3/pri3.htm 及 https://www.itl.nist.gov/div898/handbook/pri/section3/pri332.htm，以下屬規劃。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職缺提供嘉義受訓後赴 AZ 的工作情境，跨廠交接需要將單位、品質定義與設備配方脈絡統一，再用當地資料確認模型適用性。</a:t>
            </a:r>
          </a:p>
          <a:p xmlns:a="http://schemas.openxmlformats.org/drawingml/2006/main">
            <a:r>
              <a:t>我會提供中英文欄位字典、版本、異常案例與復歸紀錄，跨時區交接明確標示目前狀態、待確認事項、Owner 與完成條件。</a:t>
            </a:r>
          </a:p>
          <a:p xmlns:a="http://schemas.openxmlformats.org/drawingml/2006/main">
            <a:r>
              <a:t>文件與方法能支持交接，赴美意願、時程與現場能力需本人據實說明，專題不預設承諾。</a:t>
            </a:r>
          </a:p>
          <a:p xmlns:a="http://schemas.openxmlformats.org/drawingml/2006/main">
            <a:r>
              <a:t>來源：使用者提供職缺，README.zh-TW.md 第十六節，跨廠工作流程為規劃。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目前已完成的是模擬資料分析、模型比較與解釋，尚未有量產導入或配方改善的證據。</a:t>
            </a:r>
          </a:p>
          <a:p xmlns:a="http://schemas.openxmlformats.org/drawingml/2006/main">
            <a:r>
              <a:t>我會先補齊單位與標籤定義，取得授權且具代表性的真實資料，再評估更多期間、機台與產品，確認分數校準和缺陷遺漏代價。</a:t>
            </a:r>
          </a:p>
          <a:p xmlns:a="http://schemas.openxmlformats.org/drawingml/2006/main">
            <a:r>
              <a:t>影子模式應維持原有品質規則，經證據與權責確認後再討論調整作業，SPC 與 DOE 的實作也是後續驗證的一部分。</a:t>
            </a:r>
          </a:p>
          <a:p xmlns:a="http://schemas.openxmlformats.org/drawingml/2006/main">
            <a:r>
              <a:t>來源：README.zh-TW.md 第十九節，results/final_evaluation.csv。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Precision 的分母是選中紀錄數，Recall 的分母是所有缺陷數，兩個百分比回答不同問題。</a:t>
            </a:r>
          </a:p>
          <a:p xmlns:a="http://schemas.openxmlformats.org/drawingml/2006/main">
            <a:r>
              <a:t>Lift 用選中紀錄的缺陷率除以整體缺陷率，描述相對隨機選取的濃度，AP 和 ROC-AUC 都不是答對比例。</a:t>
            </a:r>
          </a:p>
          <a:p xmlns:a="http://schemas.openxmlformats.org/drawingml/2006/main">
            <a:r>
              <a:t>來源：results/final_evaluation.csv，指標依程式實作定義。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如果主管問這是否改善良率，我會說目前證據是選取清單集中更多缺陷，良率需要處置後的獨立結果。</a:t>
            </a:r>
          </a:p>
          <a:p xmlns:a="http://schemas.openxmlformats.org/drawingml/2006/main">
            <a:r>
              <a:t>若問最大根因，我會說對準誤差是模型依賴度最高的參數，尚需量測與實驗確認。</a:t>
            </a:r>
          </a:p>
          <a:p xmlns:a="http://schemas.openxmlformats.org/drawingml/2006/main">
            <a:r>
              <a:t>若問能否停檢其他晶圓，我會說未選中仍有缺陷，品質政策需要按規範決定。</a:t>
            </a:r>
          </a:p>
          <a:p xmlns:a="http://schemas.openxmlformats.org/drawingml/2006/main">
            <a:r>
              <a:t>來源：README.zh-TW.md 第十七節。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主管可從 GitHub 首頁開啟 Colab，下載固定 CSV 後上傳，依序執行分析格，結果表、模型與圖都在儲存庫。</a:t>
            </a:r>
          </a:p>
          <a:p xmlns:a="http://schemas.openxmlformats.org/drawingml/2006/main">
            <a:r>
              <a:t>英文表述可以說：On a synthetic chronological test set, selecting the highest-risk twenty percent covered seventy-two point five percent of defects, with sixty-four point two percent precision. This supports inspection prioritization, with real-process qualification still required.</a:t>
            </a:r>
          </a:p>
          <a:p xmlns:a="http://schemas.openxmlformats.org/drawingml/2006/main">
            <a:r>
              <a:t>資料生成原始碼未保存，固定 CSV 能重現分析輸入，模型載入需要可信來源與版本相容。</a:t>
            </a:r>
          </a:p>
          <a:p xmlns:a="http://schemas.openxmlformats.org/drawingml/2006/main">
            <a:r>
              <a:t>來源：https://github.com/chelsietao/soic-bonding-quality-risk-prediction，models/model_metadata.json。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0c946a24cd44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f29ce658904d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cedb5d006e476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1d84d5f7d348f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9df00aec1743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c69cfa486747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4FF24D-0717-4D8D-A494-F736653742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997F1FC-8DA7-466B-B86F-24B94E4CCA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9595FB3-AAA2-4995-ACB1-82A8045477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A94BAE-9A43-4791-B70F-80DF601964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A96E83A-9C1E-4605-915E-5858870920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06282C6-2009-4317-948A-AD54700CD5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455443-62C9-49FD-8F17-4AF2807D52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E398592-7A30-4A7E-8193-6518A2BFAA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90172A-C465-44EE-8202-903D7B94E0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A10D06E-401C-4402-8621-6AB344B4E4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8b8ed1f0e744bd" /><Relationship Type="http://schemas.openxmlformats.org/officeDocument/2006/relationships/slideLayout" Target="/ppt/slideLayouts/slideLayout1.xml" Id="R96e2de84da5f4265" /><Relationship Type="http://schemas.openxmlformats.org/officeDocument/2006/relationships/slideLayout" Target="/ppt/slideLayouts/slideLayout2.xml" Id="Rfe404aad3fd04773" /><Relationship Type="http://schemas.openxmlformats.org/officeDocument/2006/relationships/slideLayout" Target="/ppt/slideLayouts/slideLayout3.xml" Id="R645b35f25e774382" /><Relationship Type="http://schemas.openxmlformats.org/officeDocument/2006/relationships/slideLayout" Target="/ppt/slideLayouts/slideLayout4.xml" Id="Rdb0346c89f224e3c" /><Relationship Type="http://schemas.openxmlformats.org/officeDocument/2006/relationships/slideLayout" Target="/ppt/slideLayouts/slideLayout5.xml" Id="R5b689e13683d4cc2" /><Relationship Type="http://schemas.openxmlformats.org/officeDocument/2006/relationships/slideLayout" Target="/ppt/slideLayouts/slideLayout6.xml" Id="Rf9dd1f94030449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e2de84da5f4265"/>
    <p:sldLayoutId xmlns:r="http://schemas.openxmlformats.org/officeDocument/2006/relationships" id="2147483650" r:id="Rfe404aad3fd04773"/>
    <p:sldLayoutId xmlns:r="http://schemas.openxmlformats.org/officeDocument/2006/relationships" id="2147483651" r:id="R645b35f25e774382"/>
    <p:sldLayoutId xmlns:r="http://schemas.openxmlformats.org/officeDocument/2006/relationships" id="2147483652" r:id="Rdb0346c89f224e3c"/>
    <p:sldLayoutId xmlns:r="http://schemas.openxmlformats.org/officeDocument/2006/relationships" id="2147483653" r:id="R5b689e13683d4cc2"/>
    <p:sldLayoutId xmlns:r="http://schemas.openxmlformats.org/officeDocument/2006/relationships" id="2147483654" r:id="Rf9dd1f94030449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f54ea39a5244b4" /><Relationship Type="http://schemas.openxmlformats.org/officeDocument/2006/relationships/notesSlide" Target="/ppt/notesSlides/notesSlide1.xml" Id="R46d9f78b30b142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8d898e37ed4db2" /><Relationship Type="http://schemas.openxmlformats.org/officeDocument/2006/relationships/notesSlide" Target="/ppt/notesSlides/notesSlide2.xml" Id="Raa658c8904bf4d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37db09611e4d76" /><Relationship Type="http://schemas.openxmlformats.org/officeDocument/2006/relationships/notesSlide" Target="/ppt/notesSlides/notesSlide3.xml" Id="Rfc596d6ad3914d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215878c0f1498c" /><Relationship Type="http://schemas.openxmlformats.org/officeDocument/2006/relationships/notesSlide" Target="/ppt/notesSlides/notesSlide4.xml" Id="Rd29557173d6941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4cce8afad44dd6" /><Relationship Type="http://schemas.openxmlformats.org/officeDocument/2006/relationships/notesSlide" Target="/ppt/notesSlides/notesSlide5.xml" Id="R3871d208b55c4d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ae8308f9e24528" /><Relationship Type="http://schemas.openxmlformats.org/officeDocument/2006/relationships/notesSlide" Target="/ppt/notesSlides/notesSlide6.xml" Id="R486fddb6dace4d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a83ff399da4abe" /><Relationship Type="http://schemas.openxmlformats.org/officeDocument/2006/relationships/chart" Target="/ppt/slides/charts/chart1.xml" Id="Rdcee0d478b464d94" /><Relationship Type="http://schemas.openxmlformats.org/officeDocument/2006/relationships/notesSlide" Target="/ppt/notesSlides/notesSlide7.xml" Id="R9076940bc82246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bc616c076444fd" /><Relationship Type="http://schemas.openxmlformats.org/officeDocument/2006/relationships/chart" Target="/ppt/slides/charts/chart2.xml" Id="R144695288040454d" /><Relationship Type="http://schemas.openxmlformats.org/officeDocument/2006/relationships/notesSlide" Target="/ppt/notesSlides/notesSlide8.xml" Id="R0da08680ad5541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3a336a8d524367" /><Relationship Type="http://schemas.openxmlformats.org/officeDocument/2006/relationships/notesSlide" Target="/ppt/notesSlides/notesSlide9.xml" Id="Rbc84125bf4a5465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3946bd6acc4862" /><Relationship Type="http://schemas.openxmlformats.org/officeDocument/2006/relationships/chart" Target="/ppt/slides/charts/chart3.xml" Id="Rc8e42c810b704356" /><Relationship Type="http://schemas.openxmlformats.org/officeDocument/2006/relationships/notesSlide" Target="/ppt/notesSlides/notesSlide10.xml" Id="Rb59ff4c589bf40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07853fa4e242e3" /><Relationship Type="http://schemas.openxmlformats.org/officeDocument/2006/relationships/chart" Target="/ppt/slides/charts/chart4.xml" Id="R60358e9d02f54cb2" /><Relationship Type="http://schemas.openxmlformats.org/officeDocument/2006/relationships/notesSlide" Target="/ppt/notesSlides/notesSlide11.xml" Id="R0cee7d4e834e472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586eeb51104d5d" /><Relationship Type="http://schemas.openxmlformats.org/officeDocument/2006/relationships/image" Target="/ppt/media/image.png" Id="Rc6388776d6424d93" /><Relationship Type="http://schemas.openxmlformats.org/officeDocument/2006/relationships/notesSlide" Target="/ppt/notesSlides/notesSlide12.xml" Id="R338cd401acb64f5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5303e7a9eb4de8" /><Relationship Type="http://schemas.openxmlformats.org/officeDocument/2006/relationships/notesSlide" Target="/ppt/notesSlides/notesSlide13.xml" Id="R890c910f9f7e4ec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fa79052f764390" /><Relationship Type="http://schemas.openxmlformats.org/officeDocument/2006/relationships/notesSlide" Target="/ppt/notesSlides/notesSlide14.xml" Id="Rcaabcd6933674a6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392d9866eb42b7" /><Relationship Type="http://schemas.openxmlformats.org/officeDocument/2006/relationships/notesSlide" Target="/ppt/notesSlides/notesSlide15.xml" Id="Rfb328e651f3043d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8a78a330ac4a3b" /><Relationship Type="http://schemas.openxmlformats.org/officeDocument/2006/relationships/notesSlide" Target="/ppt/notesSlides/notesSlide16.xml" Id="R3cb6fe5a802342c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c23135a6694e97" /><Relationship Type="http://schemas.openxmlformats.org/officeDocument/2006/relationships/notesSlide" Target="/ppt/notesSlides/notesSlide17.xml" Id="R9224ff50c36e42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bc1a6e1c174195" /><Relationship Type="http://schemas.openxmlformats.org/officeDocument/2006/relationships/notesSlide" Target="/ppt/notesSlides/notesSlide18.xml" Id="Rdfd422d95fbb482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eec4538e2c4062" /><Relationship Type="http://schemas.openxmlformats.org/officeDocument/2006/relationships/notesSlide" Target="/ppt/notesSlides/notesSlide19.xml" Id="R033d5c54f3c3463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4fde1ff5264187" /><Relationship Type="http://schemas.openxmlformats.org/officeDocument/2006/relationships/notesSlide" Target="/ppt/notesSlides/notesSlide20.xml" Id="R5a5f1a9db28c487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Precision</c:v>
          </c:tx>
          <c:spPr>
            <a:ln xmlns:a="http://schemas.openxmlformats.org/drawingml/2006/main" w="28575">
              <a:solidFill>
                <a:srgbClr val="087F8C"/>
              </a:solidFill>
            </a:ln>
          </c:spPr>
          <c:marker>
            <c:symbol val="none"/>
          </c:marker>
          <c:cat>
            <c:numRef>
              <c:f>'Chart Data'!$A$2:$A$8</c:f>
              <c:numCache>
                <c:formatCode>General</c:formatCode>
                <c:ptCount val="7"/>
                <c:pt idx="0">
                  <c:v>0.05</c:v>
                </c:pt>
                <c:pt idx="1">
                  <c:v>0.10</c:v>
                </c:pt>
                <c:pt idx="2">
                  <c:v>0.15</c:v>
                </c:pt>
                <c:pt idx="3">
                  <c:v>0.20</c:v>
                </c:pt>
                <c:pt idx="4">
                  <c:v>0.30</c:v>
                </c:pt>
                <c:pt idx="5">
                  <c:v>0.40</c:v>
                </c:pt>
                <c:pt idx="6">
                  <c:v>0.50</c:v>
                </c:pt>
              </c:numCache>
            </c:numRef>
          </c:cat>
          <c:val>
            <c:numRef>
              <c:f>'Chart Data'!$B$2:$B$8</c:f>
              <c:numCache>
                <c:formatCode>0%</c:formatCode>
                <c:ptCount val="7"/>
                <c:pt idx="0">
                  <c:v>0.1684489</c:v>
                </c:pt>
                <c:pt idx="1">
                  <c:v>0.2319063</c:v>
                </c:pt>
                <c:pt idx="2">
                  <c:v>0.302458</c:v>
                </c:pt>
                <c:pt idx="3">
                  <c:v>0.3783057</c:v>
                </c:pt>
                <c:pt idx="4">
                  <c:v>0.4982699</c:v>
                </c:pt>
                <c:pt idx="5">
                  <c:v>0.6219081</c:v>
                </c:pt>
                <c:pt idx="6">
                  <c:v>0.708</c:v>
                </c:pt>
              </c:numCache>
            </c:numRef>
          </c:val>
          <c:smooth val="0"/>
        </c:ser>
        <c:ser>
          <c:idx val="1"/>
          <c:order val="1"/>
          <c:tx>
            <c:v>Recall</c:v>
          </c:tx>
          <c:spPr>
            <a:ln xmlns:a="http://schemas.openxmlformats.org/drawingml/2006/main" w="28575">
              <a:solidFill>
                <a:srgbClr val="C54D4D"/>
              </a:solidFill>
            </a:ln>
          </c:spPr>
          <c:marker>
            <c:symbol val="none"/>
          </c:marker>
          <c:cat>
            <c:numRef>
              <c:f>'Chart Data'!$C$2:$C$8</c:f>
              <c:numCache>
                <c:formatCode>General</c:formatCode>
                <c:ptCount val="7"/>
                <c:pt idx="0">
                  <c:v>0.05</c:v>
                </c:pt>
                <c:pt idx="1">
                  <c:v>0.10</c:v>
                </c:pt>
                <c:pt idx="2">
                  <c:v>0.15</c:v>
                </c:pt>
                <c:pt idx="3">
                  <c:v>0.20</c:v>
                </c:pt>
                <c:pt idx="4">
                  <c:v>0.30</c:v>
                </c:pt>
                <c:pt idx="5">
                  <c:v>0.40</c:v>
                </c:pt>
                <c:pt idx="6">
                  <c:v>0.50</c:v>
                </c:pt>
              </c:numCache>
            </c:numRef>
          </c:cat>
          <c:val>
            <c:numRef>
              <c:f>'Chart Data'!$D$2:$D$8</c:f>
              <c:numCache>
                <c:formatCode>0%</c:formatCode>
                <c:ptCount val="7"/>
                <c:pt idx="0">
                  <c:v>0.8862674</c:v>
                </c:pt>
                <c:pt idx="1">
                  <c:v>0.7307925</c:v>
                </c:pt>
                <c:pt idx="2">
                  <c:v>0.6104053</c:v>
                </c:pt>
                <c:pt idx="3">
                  <c:v>0.5105868</c:v>
                </c:pt>
                <c:pt idx="4">
                  <c:v>0.3484574</c:v>
                </c:pt>
                <c:pt idx="5">
                  <c:v>0.2129462</c:v>
                </c:pt>
                <c:pt idx="6">
                  <c:v>0.107078</c:v>
                </c:pt>
              </c:numCache>
            </c:numRef>
          </c:val>
          <c:smooth val="0"/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42B43"/>
                  </a:solidFill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CE4E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A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Heiti TC"/>
              <a:ea typeface="Heiti TC"/>
              <a:cs typeface="Heiti T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涵蓋缺陷數</c:v>
          </c:tx>
          <c:spPr>
            <a:solidFill xmlns:a="http://schemas.openxmlformats.org/drawingml/2006/main">
              <a:srgbClr val="087F8C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Logistic Regression</c:v>
                </c:pt>
                <c:pt idx="1">
                  <c:v>Gradient Boosting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958</c:v>
                </c:pt>
                <c:pt idx="1">
                  <c:v>1226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42B43"/>
                  </a:solidFill>
                  <a:latin typeface="Heiti TC"/>
                  <a:ea typeface="Heiti TC"/>
                  <a:cs typeface="Heiti T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CE4E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</c:catAx>
      <c:valAx>
        <c:axId val="48672768"/>
        <c:scaling>
          <c:orientation val="minMax"/>
          <c:max val="1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A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Recall at top 20%</c:v>
          </c:tx>
          <c:spPr>
            <a:solidFill xmlns:a="http://schemas.openxmlformats.org/drawingml/2006/main">
              <a:srgbClr val="087F8C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Validation</c:v>
                </c:pt>
                <c:pt idx="1">
                  <c:v>Test</c:v>
                </c:pt>
              </c:strCache>
            </c:strRef>
          </c:cat>
          <c:val>
            <c:numRef>
              <c:f>'Chart Data'!$B$2:$B$3</c:f>
              <c:numCache>
                <c:formatCode>0%</c:formatCode>
                <c:ptCount val="2"/>
                <c:pt idx="0">
                  <c:v>0.74168179</c:v>
                </c:pt>
                <c:pt idx="1">
                  <c:v>0.72525405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42B43"/>
                  </a:solidFill>
                  <a:latin typeface="Heiti TC"/>
                  <a:ea typeface="Heiti TC"/>
                  <a:cs typeface="Heiti T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CE4E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A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AP decrease</c:v>
          </c:tx>
          <c:spPr>
            <a:solidFill xmlns:a="http://schemas.openxmlformats.org/drawingml/2006/main">
              <a:srgbClr val="087F8C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對準誤差</c:v>
                </c:pt>
                <c:pt idx="1">
                  <c:v>平均溫度</c:v>
                </c:pt>
                <c:pt idx="2">
                  <c:v>加工時間</c:v>
                </c:pt>
                <c:pt idx="3">
                  <c:v>平均壓力</c:v>
                </c:pt>
                <c:pt idx="4">
                  <c:v>粒子數</c:v>
                </c:pt>
                <c:pt idx="5">
                  <c:v>溫度波動</c:v>
                </c:pt>
                <c:pt idx="6">
                  <c:v>維修後次數</c:v>
                </c:pt>
              </c:strCache>
            </c:strRef>
          </c:cat>
          <c:val>
            <c:numRef>
              <c:f>'Chart Data'!$B$2:$B$8</c:f>
              <c:numCache>
                <c:formatCode>0.00</c:formatCode>
                <c:ptCount val="7"/>
                <c:pt idx="0">
                  <c:v>0.323663</c:v>
                </c:pt>
                <c:pt idx="1">
                  <c:v>0.208988</c:v>
                </c:pt>
                <c:pt idx="2">
                  <c:v>0.145942</c:v>
                </c:pt>
                <c:pt idx="3">
                  <c:v>0.076539</c:v>
                </c:pt>
                <c:pt idx="4">
                  <c:v>0.036939</c:v>
                </c:pt>
                <c:pt idx="5">
                  <c:v>0.004595</c:v>
                </c:pt>
                <c:pt idx="6">
                  <c:v>0.003604</c:v>
                </c:pt>
              </c:numCache>
            </c:numRef>
          </c:val>
        </c:ser>
        <c:dLbls>
          <c:numFmt formatCode="0.0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42B43"/>
                  </a:solidFill>
                  <a:latin typeface="Heiti TC"/>
                  <a:ea typeface="Heiti TC"/>
                  <a:cs typeface="Heiti T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CE4E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</c:catAx>
      <c:valAx>
        <c:axId val="48672768"/>
        <c:scaling>
          <c:orientation val="minMax"/>
          <c:max val="0.38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A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3E113D-87BC-4697-8661-36EFB30D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SoIC 鍵合品質風險預測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051A3-9287-4B4D-95FC-82650563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01AE14-BCC9-4856-B271-9654870A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236DC-35C1-4EF9-93D0-7429B01D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有限檢查容量下的缺陷涵蓋率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D6225-DCBD-4898-8E48-2917EA44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7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77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20% 檢查量，涵蓋 72.5% 測試缺陷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E0FBF-B523-4648-88E6-FCF53179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3DAS Process Engineer 技術專題說明</a:t>
            </a:r>
          </a:p>
          <a:p xmlns:a="http://schemas.openxmlformats.org/drawingml/2006/main">
            <a:pPr>
              <a:defRPr sz="21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嘉義受訓與 AZ 工作情境</a:t>
            </a:r>
          </a:p>
        </p:txBody>
      </p:sp>
    </p:spTree>
    <p:extLst>
      <p:ext uri="{BB962C8B-B14F-4D97-AF65-F5344CB8AC3E}">
        <p14:creationId xmlns:p14="http://schemas.microsoft.com/office/powerpoint/2010/main" val="5486945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FA47B-93F2-4307-A76A-5AD89F9D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工程問題與決策時點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8FB1D3-7FEB-466F-AA0E-9381D513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C265F0-051A-4129-837D-955B6668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D3115-3E31-4B21-98E8-4620E67E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加工後、品質檢查前，使用已取得的製程摘要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911166-BBF2-4162-A336-8339EC53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整批紀錄依風險排序，固定選取前 20%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24613-930D-48F5-A76D-A47933A4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以品質標籤評估清單，觀察缺陷涵蓋率與檢查命中率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9C296A-9AB9-460E-B9E2-116F713A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現場品質規則與負責人，決定後續處置</a:t>
            </a:r>
          </a:p>
        </p:txBody>
      </p:sp>
    </p:spTree>
    <p:extLst>
      <p:ext uri="{BB962C8B-B14F-4D97-AF65-F5344CB8AC3E}">
        <p14:creationId xmlns:p14="http://schemas.microsoft.com/office/powerpoint/2010/main" val="2625905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2543D-A24A-4151-817D-6EDAE5E6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與 3DAS Process Engineer 的連結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349B38-4E41-45F0-BAFB-BA841C59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1C048-E8B8-4A54-9B48-A828AC88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62A65-9E12-48A0-BC71-5EE5A006B683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000500"/>
                <a:gridCol w="4438650"/>
              </a:tblGrid>
              <a:tr h="8001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職務內容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專題證據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延伸工作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製程改善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區間與非線性風險分析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實驗驗證候選假設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設備與日常維持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機台、時間分層觀察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加入腔體、配方與維修紀錄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SPC／DOE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方法銜接規劃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管制圖與核准實驗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Python／溝通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模型、雙語文件與版本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跨團隊問題追蹤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85454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8F11E-46D1-470D-BC0B-88FD8944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資料範圍與工程定義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140DC-383C-4999-835B-3F446A14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A13703-FA17-4BB2-9163-97D04F2B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44955-A7F2-409D-A2A3-6A89CCDB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700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100,000 筆紀錄，4,000 批次，3 台機台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C587A0-02EC-400C-BCCE-CE6D829241F6}"/>
              </a:ext>
            </a:extLst>
          </p:cNvPr>
          <p:cNvGraphicFramePr/>
          <p:nvPr/>
        </p:nvGraphicFramePr>
        <p:xfrm>
          <a:off xmlns:a="http://schemas.openxmlformats.org/drawingml/2006/main" x="685800" y="2333625"/>
          <a:ext xmlns:a="http://schemas.openxmlformats.org/drawingml/2006/main" cx="108204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6191250"/>
                <a:gridCol w="224790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資料類型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內容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用途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製程摘要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溫度平均值、溫度標準差、壓力、時間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模型輸入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加工前與設備狀態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對準誤差、粒子數、維修後加工次數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模型輸入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追溯與品質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晶圓、批次、機台、時間與缺陷標籤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分層、切分與評估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BA03E2-B54F-4852-BA11-B52F0C3D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C54D4D"/>
                </a:solidFill>
                <a:latin typeface="Heiti TC"/>
                <a:ea typeface="Heiti TC"/>
                <a:cs typeface="Heiti TC"/>
              </a:rPr>
              <a:t>物理單位與缺陷判定未定義，真實製程解讀前需補齊</a:t>
            </a:r>
          </a:p>
        </p:txBody>
      </p:sp>
    </p:spTree>
    <p:extLst>
      <p:ext uri="{BB962C8B-B14F-4D97-AF65-F5344CB8AC3E}">
        <p14:creationId xmlns:p14="http://schemas.microsoft.com/office/powerpoint/2010/main" val="18212183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A6E90-3C64-4804-B8A2-ADCD76B0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時間與批次切分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505396-CEF2-45FC-AAD3-9FBE517E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A6A7F7-3847-4BE9-8D0B-5AD65940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259D1-E3B1-4DB0-B1BB-F2578D5BA4C3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2857500"/>
                <a:gridCol w="1905000"/>
                <a:gridCol w="4343400"/>
              </a:tblGrid>
              <a:tr h="7858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資料集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紀錄／批次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缺陷率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用途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訓練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70,000／2,800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8.19%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學習模型與前處理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驗證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15,000／600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11.02%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比較模型與政策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測試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15,000／600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17.71%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固定版本評估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AF414F-BD9E-49A2-96A3-BECAFCC3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較晚期間缺陷率上升，時間順序是評估的重要條件</a:t>
            </a:r>
          </a:p>
        </p:txBody>
      </p:sp>
    </p:spTree>
    <p:extLst>
      <p:ext uri="{BB962C8B-B14F-4D97-AF65-F5344CB8AC3E}">
        <p14:creationId xmlns:p14="http://schemas.microsoft.com/office/powerpoint/2010/main" val="5770040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6C2002-58FB-450E-A20E-56E900C2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探索性分析的工程線索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6A1DB-26BE-4D5C-954F-9778B604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364D7-6AA4-42EE-83BD-BCA025DA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06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DDB32-38A5-4638-8B23-DDCBACD04B82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3905250"/>
                <a:gridCol w="3486150"/>
              </a:tblGrid>
              <a:tr h="7810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觀察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可提出的問題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證據限制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溫度／壓力／時間呈 U 形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哪些區間值得查核？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需控制其他條件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對準誤差增加，缺陷率上升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量測與對位校正是否變化？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需要設備與量測證據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TOOL_C 缺陷率 13.46%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產品、配方或時段是否不同？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未隔離設備因果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後期缺陷率上升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維修、材料或製程條件是否改變？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趨勢圖尚非 SPC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45917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133FF1-AE57-434B-92C5-E5A29088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基準模型的門檻取捨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F8227-CDEB-48B5-8064-D94CF135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EE201-65A3-48DC-ABC5-DE23E5F7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07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56763932-3EDD-4FB7-A93F-411A1FF85553}"/>
              </a:ext>
            </a:extLst>
          </p:cNvPr>
          <p:cNvGraphicFramePr/>
          <p:nvPr/>
        </p:nvGraphicFramePr>
        <p:xfrm>
          <a:off xmlns:a="http://schemas.openxmlformats.org/drawingml/2006/main" x="685800" y="1428750"/>
          <a:ext xmlns:a="http://schemas.openxmlformats.org/drawingml/2006/main" cx="752475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ee0d478b464d9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65ABAC-8BA3-48B3-84F8-2720AAA6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14500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門檻 0.50</a:t>
            </a:r>
          </a:p>
          <a:p xmlns:a="http://schemas.openxmlformats.org/drawingml/2006/main">
            <a:pPr>
              <a:defRPr sz="21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250 次警報</a:t>
            </a:r>
          </a:p>
          <a:p xmlns:a="http://schemas.openxmlformats.org/drawingml/2006/main">
            <a:pPr>
              <a:defRPr sz="21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Recall 10.7%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F81A8-6CE0-4C61-A8CD-5CDDCC05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19500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門檻 0.10</a:t>
            </a:r>
          </a:p>
          <a:p xmlns:a="http://schemas.openxmlformats.org/drawingml/2006/main">
            <a:pPr>
              <a:defRPr sz="21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5,209 次警報</a:t>
            </a:r>
          </a:p>
          <a:p xmlns:a="http://schemas.openxmlformats.org/drawingml/2006/main">
            <a:pPr>
              <a:defRPr sz="21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Recall 73.1%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0596D-56CA-4298-B749-FB3C3A90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X 軸為機率門檻，這頁屬於 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7972251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30176-54A7-4619-B22C-8DF72BDA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同樣檢查 3,000 筆，多涵蓋 268 筆缺陷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6DED8-946F-4069-8168-0BA9935F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30F97-2A6A-4198-8CA5-836EC2E4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08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C5D8D143-900E-40DF-B037-4FDBAD9C0C53}"/>
              </a:ext>
            </a:extLst>
          </p:cNvPr>
          <p:cNvGraphicFramePr/>
          <p:nvPr/>
        </p:nvGraphicFramePr>
        <p:xfrm>
          <a:off xmlns:a="http://schemas.openxmlformats.org/drawingml/2006/main" x="685800" y="1428750"/>
          <a:ext xmlns:a="http://schemas.openxmlformats.org/drawingml/2006/main" cx="733425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4695288040454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8C366-2636-4FBB-BC53-26EFEA7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19250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Recall</a:t>
            </a:r>
          </a:p>
          <a:p xmlns:a="http://schemas.openxmlformats.org/drawingml/2006/main">
            <a:pPr>
              <a:defRPr sz="225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58.0%  提升至  74.2%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9EEBE-4C5F-4C08-B7A8-30767BC8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AP</a:t>
            </a:r>
          </a:p>
          <a:p xmlns:a="http://schemas.openxmlformats.org/drawingml/2006/main">
            <a:pPr>
              <a:defRPr sz="225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0.421  提升至  0.593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E45A3-97DA-487F-AA0B-F675564A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62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相同容量，衡量風險排序的改善</a:t>
            </a:r>
          </a:p>
        </p:txBody>
      </p:sp>
    </p:spTree>
    <p:extLst>
      <p:ext uri="{BB962C8B-B14F-4D97-AF65-F5344CB8AC3E}">
        <p14:creationId xmlns:p14="http://schemas.microsoft.com/office/powerpoint/2010/main" val="20799603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0A48B-5CB1-4C2C-933C-27EAB78B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測試集，20% 檢查量涵蓋 72.5% 缺陷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8C802-2C86-4B30-950C-8FD7E271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8EA5B-0A25-4F3B-B815-8BF2C455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09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92B77-EAEA-4A22-AF51-59F775F340CE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3838575"/>
                <a:gridCol w="3838575"/>
              </a:tblGrid>
              <a:tr h="85725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實際結果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未選入檢查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選入檢查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無缺陷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11,270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1,073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有缺陷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730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1,927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C1867-5C31-497F-AE2F-CE73A359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700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Precision 64.2%，Recall 72.5%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80FF8-3CDA-4D77-AE9B-9903E0E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C54D4D"/>
                </a:solidFill>
                <a:latin typeface="Heiti TC"/>
                <a:ea typeface="Heiti TC"/>
                <a:cs typeface="Heiti TC"/>
              </a:rPr>
              <a:t>未選中紀錄仍有 6.08% 缺陷，放行依既有品質規範</a:t>
            </a:r>
          </a:p>
        </p:txBody>
      </p:sp>
    </p:spTree>
    <p:extLst>
      <p:ext uri="{BB962C8B-B14F-4D97-AF65-F5344CB8AC3E}">
        <p14:creationId xmlns:p14="http://schemas.microsoft.com/office/powerpoint/2010/main" val="15692633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AD7D4A-9EF8-4987-B903-EF17CF62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跨期間評估與缺陷率變化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B47E6-F113-47A3-A44F-E6B6E7FF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594AB-7062-4789-9CE1-C67A5E13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10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449EC396-A574-45F8-88FF-29C13C3FAA14}"/>
              </a:ext>
            </a:extLst>
          </p:cNvPr>
          <p:cNvGraphicFramePr/>
          <p:nvPr/>
        </p:nvGraphicFramePr>
        <p:xfrm>
          <a:off xmlns:a="http://schemas.openxmlformats.org/drawingml/2006/main" x="685800" y="1428750"/>
          <a:ext xmlns:a="http://schemas.openxmlformats.org/drawingml/2006/main" cx="714375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e42c810b704356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3A3813-FD4E-49D7-99E4-47C63683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14500"/>
            <a:ext cx="3143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缺陷率</a:t>
            </a:r>
          </a:p>
          <a:p xmlns:a="http://schemas.openxmlformats.org/drawingml/2006/main">
            <a:pPr>
              <a:defRPr sz="225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11.02%  至  17.71%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BE552F-4D20-424D-8BC9-B7109FC3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2900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測試 AP 0.756</a:t>
            </a:r>
          </a:p>
          <a:p xmlns:a="http://schemas.openxmlformats.org/drawingml/2006/main">
            <a:pPr>
              <a:defRPr sz="21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測試 ROC-AUC 0.912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CC5D0-1C78-4EE2-B745-60EC10EC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4350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C54D4D"/>
                </a:solidFill>
                <a:latin typeface="Heiti TC"/>
                <a:ea typeface="Heiti TC"/>
                <a:cs typeface="Heiti TC"/>
              </a:rPr>
              <a:t>單一時間切分，尚未證明量產穩定性</a:t>
            </a:r>
          </a:p>
        </p:txBody>
      </p:sp>
    </p:spTree>
    <p:extLst>
      <p:ext uri="{BB962C8B-B14F-4D97-AF65-F5344CB8AC3E}">
        <p14:creationId xmlns:p14="http://schemas.microsoft.com/office/powerpoint/2010/main" val="7336883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84A3E1-F045-4389-8FFF-76FEBF4B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模型依賴的參數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67099-E4E1-48AC-BE03-65A14307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847D1-6E16-47CA-8399-B9739858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11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767E8A1F-F11C-427A-86FF-53C40DA3473F}"/>
              </a:ext>
            </a:extLst>
          </p:cNvPr>
          <p:cNvGraphicFramePr/>
          <p:nvPr/>
        </p:nvGraphicFramePr>
        <p:xfrm>
          <a:off xmlns:a="http://schemas.openxmlformats.org/drawingml/2006/main" x="685800" y="142875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358e9d02f54cb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62982-12CE-47F7-845D-56189DEB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C54D4D"/>
                </a:solidFill>
                <a:latin typeface="Heiti TC"/>
                <a:ea typeface="Heiti TC"/>
                <a:cs typeface="Heiti TC"/>
              </a:rPr>
              <a:t>Y 軸為 AP 下降量，代表模型依賴程度，因果仍需驗證</a:t>
            </a:r>
          </a:p>
        </p:txBody>
      </p:sp>
    </p:spTree>
    <p:extLst>
      <p:ext uri="{BB962C8B-B14F-4D97-AF65-F5344CB8AC3E}">
        <p14:creationId xmlns:p14="http://schemas.microsoft.com/office/powerpoint/2010/main" val="20762370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094BA-3274-4CED-A518-A36BFC1E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參數變化與模型預測反應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47BC7-B329-4026-9E9C-33DCD8F6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61A21-5EF3-44F4-BE61-BEAEB849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0C2248-F1BB-4119-B201-4B1F05522E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88776d6424d93"/>
          <a:stretch xmlns:a="http://schemas.openxmlformats.org/drawingml/2006/main"/>
        </p:blipFill>
        <p:spPr>
          <a:xfrm xmlns:a="http://schemas.openxmlformats.org/drawingml/2006/main">
            <a:off x="533400" y="1562100"/>
            <a:ext cx="11125200" cy="34766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BD54B-4055-4999-8DE6-7193F2F0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C54D4D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C54D4D"/>
                </a:solidFill>
                <a:latin typeface="Heiti TC"/>
                <a:ea typeface="Heiti TC"/>
                <a:cs typeface="Heiti TC"/>
              </a:rPr>
              <a:t>曲線描述模型反應，低點與轉折尚非製程窗口或失效門檻</a:t>
            </a:r>
          </a:p>
        </p:txBody>
      </p:sp>
    </p:spTree>
    <p:extLst>
      <p:ext uri="{BB962C8B-B14F-4D97-AF65-F5344CB8AC3E}">
        <p14:creationId xmlns:p14="http://schemas.microsoft.com/office/powerpoint/2010/main" val="18771672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F794C-6F96-4703-9C73-D5D4ABDA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設備異常的追查與復歸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9336DC-2FC3-4A10-BC84-DBDC0CDF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FADB8-0C4B-485A-8573-635723F8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27975-0441-4D95-8E91-2D0C5D9D1C96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5429250"/>
                <a:gridCol w="3057525"/>
              </a:tblGrid>
              <a:tr h="7905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工作階段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確認內容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交付物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資料與範圍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單位、標籤、機台、產品及配方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受影響範圍表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物理證據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校正、警報、粒子與維修歷史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候選原因與證據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處置與分工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現場 SOP、Owner 與升級條件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行動與完成條件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復歸確認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獨立量測及後續加工結果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復歸與追蹤紀錄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2392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3D53A9-DD1E-4A8B-A812-CEB35A0B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SPC 延伸規劃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88119-C2D4-485D-84AE-44B66EFB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986F75-AA28-4E77-8D39-56AF7C62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D2AEB-DB73-4346-86E3-047178C6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已完成描述性趨勢，正式 SPC 尚待實作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778D86-DFD7-4C81-9BAE-BC74E094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先確認量測、穩定基準與合理子群，再選擇管制圖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E7B93-CF6A-488F-9DB5-5EEC5072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缺陷比例可評估 p-chart，需檢查群聚與過度離散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0194F-9B07-4659-8FEF-58352C54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管制界限與規格用途不同，目前無 Cpk 合格結論</a:t>
            </a:r>
          </a:p>
        </p:txBody>
      </p:sp>
    </p:spTree>
    <p:extLst>
      <p:ext uri="{BB962C8B-B14F-4D97-AF65-F5344CB8AC3E}">
        <p14:creationId xmlns:p14="http://schemas.microsoft.com/office/powerpoint/2010/main" val="18782200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7C108-133A-49DC-84FE-AB1E38D7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DOE 延伸規劃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6B418-FAD6-460D-A14C-7F207A84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7F38D-5D72-4634-9781-24F2C4E9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7A42E-3668-429B-A01D-944C4918B40F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4286250"/>
                <a:gridCol w="4343400"/>
              </a:tblGrid>
              <a:tr h="8001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設計要素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候選方向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執行前確認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因素與反應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溫度／時間設定，明確品質量測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單位、可控性及核准範圍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效應估計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交互作用與曲率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設計能辨識所需效應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干擾與重複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機台／批次區集與執行順序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實驗單位、獨立重複及精度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工程接受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效果大小與復驗條件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量測系統與安全規範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05253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AF004-C516-441F-BE27-EB6BE898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嘉義與 AZ 的技術交接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87243D-4643-497B-8FC0-425943C1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2DE6D-2B88-4BEF-8301-71FEDC30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066F0-0C39-49AC-B167-3632B946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共同定義，對齊欄位單位、缺陷分類與量測流程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393C8-4C73-4D25-BA83-C5E57120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當地驗證，確認設備、配方與產品差異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45E9D2-F6B9-4CF4-9823-037CE63D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交接紀錄，保留版本、異常範圍與復歸證據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05269-DDD1-46B9-9B74-976546C5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跨時區協作，列明 Owner、待確認事項與完成條件</a:t>
            </a:r>
          </a:p>
        </p:txBody>
      </p:sp>
    </p:spTree>
    <p:extLst>
      <p:ext uri="{BB962C8B-B14F-4D97-AF65-F5344CB8AC3E}">
        <p14:creationId xmlns:p14="http://schemas.microsoft.com/office/powerpoint/2010/main" val="106501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2205D-9153-468B-B15A-2F471D5B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證據範圍與下一個驗證階段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83204-121F-4DC3-9972-E6667D65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46CE9-103B-4451-80FC-158BA502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537EA-256D-4AEC-AF7D-B57F5E19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目前證據，模擬資料上的排序成效與模型解釋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19529-80CE-4D96-8409-D6E5E863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先補定義，確認單位、步驟與品質標籤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9FAD7B-D068-4352-A5B4-89C2BC79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再做驗證，加入新期間、機台與產品資料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C2AAF-4E3C-453C-B095-19587271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後續導入，影子模式、責任分工與核准實驗</a:t>
            </a:r>
          </a:p>
        </p:txBody>
      </p:sp>
    </p:spTree>
    <p:extLst>
      <p:ext uri="{BB962C8B-B14F-4D97-AF65-F5344CB8AC3E}">
        <p14:creationId xmlns:p14="http://schemas.microsoft.com/office/powerpoint/2010/main" val="114484429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50C292-3C5D-4765-AB02-89037723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附錄，指標與分母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1ECE5-9D40-4720-9344-04FA188E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95265D-1F58-40DB-B36B-B2FC8632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618C5-2046-4FEF-8B63-937049EE1D0D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476750"/>
                <a:gridCol w="4057650"/>
              </a:tblGrid>
              <a:tr h="8001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指標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測試集計算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意義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Precision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1,927 ÷ 3,000＝64.2%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檢查命中率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Recall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1,927 ÷ 2,657＝72.5%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缺陷涵蓋率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Residual rate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730 ÷ 12,000＝6.08%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未選中群的缺陷率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Lift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64.2333% ÷ 17.7133%＝3.63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相對隨機選取的濃度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37744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5C93D-F818-4E24-B763-78B315A5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附錄，主管追問與回答範圍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180CF-32A5-4B2A-8A9A-709524A7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38651-9159-49F6-920F-EE2A4362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59C1AD-307B-4C54-B6D7-A1B4DA8050D9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7105650"/>
              </a:tblGrid>
              <a:tr h="8001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追問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回答依據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T w="9525">
                      <a:solidFill>
                        <a:srgbClr val="DCE4EA"/>
                      </a:solidFill>
                      <a:prstDash val="solid"/>
                    </a:lnT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142B43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能否宣稱良率提升？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目前是排序增益，需改善後量測才能驗證良率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對準誤差是否最大根因？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模型依賴度最高，物理因果需額外證據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能否放行未警報紀錄？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清單外仍有 730 筆缺陷，放行依品質規範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SPC／DOE 做到哪裡？</a:t>
                      </a:r>
                    </a:p>
                  </a:txBody>
                  <a:tcPr marL="133350" marR="133350" marT="95250" marB="95250" anchor="ctr">
                    <a:lnL w="9525">
                      <a:solidFill>
                        <a:srgbClr val="DCE4EA"/>
                      </a:solidFill>
                      <a:prstDash val="solid"/>
                    </a:lnL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42B43"/>
                          </a:solidFill>
                          <a:latin typeface="Heiti TC"/>
                          <a:ea typeface="Heiti TC"/>
                          <a:cs typeface="Heiti TC"/>
                        </a:rPr>
                        <a:t>已有銜接規劃，正式管制與實驗尚未執行</a:t>
                      </a:r>
                    </a:p>
                  </a:txBody>
                  <a:tcPr marL="133350" marR="133350" marT="95250" marB="95250" anchor="ctr">
                    <a:lnR w="9525">
                      <a:solidFill>
                        <a:srgbClr val="DCE4EA"/>
                      </a:solidFill>
                      <a:prstDash val="solid"/>
                    </a:lnR>
                    <a:lnB w="9525">
                      <a:solidFill>
                        <a:srgbClr val="DCE4EA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224770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A90E84-A44F-414B-8B00-38F72FA9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附錄，重現方式與英文說明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339FF-D04B-41DC-9809-CEAD5A57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模擬資料研究，尚未完成真實製程驗證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8B6B9-D626-4C80-901B-3DD1E305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677C"/>
                </a:solidFill>
                <a:latin typeface="Heiti TC"/>
                <a:ea typeface="Heiti TC"/>
                <a:cs typeface="Heiti TC"/>
              </a:defRPr>
            </a:pPr>
            <a:r>
              <a:rPr sz="1200" b="0">
                <a:solidFill>
                  <a:srgbClr val="50677C"/>
                </a:solidFill>
                <a:latin typeface="Heiti TC"/>
                <a:ea typeface="Heiti TC"/>
                <a:cs typeface="Heiti TC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6580D4-A253-47AA-B0B7-566D1B3B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GitHub 與 Colab，保存固定資料、模型及結果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864E4-BB8B-478A-8F8E-A1510917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8204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On a synthetic chronological test set, selecting the</a:t>
            </a:r>
          </a:p>
          <a:p xmlns:a="http://schemas.openxmlformats.org/drawingml/2006/main">
            <a:pPr>
              <a:defRPr sz="24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highest-risk 20% covered 72.5% of defects,</a:t>
            </a:r>
          </a:p>
          <a:p xmlns:a="http://schemas.openxmlformats.org/drawingml/2006/main">
            <a:pPr>
              <a:defRPr sz="247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with 64.2% precision.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912416-4094-4135-A308-70EB4C10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2B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42B43"/>
                </a:solidFill>
                <a:latin typeface="Heiti TC"/>
                <a:ea typeface="Heiti TC"/>
                <a:cs typeface="Heiti TC"/>
              </a:rPr>
              <a:t>結果表與模型版本可追溯，真實製程資格仍需驗證</a:t>
            </a:r>
          </a:p>
        </p:txBody>
      </p:sp>
    </p:spTree>
    <p:extLst>
      <p:ext uri="{BB962C8B-B14F-4D97-AF65-F5344CB8AC3E}">
        <p14:creationId xmlns:p14="http://schemas.microsoft.com/office/powerpoint/2010/main" val="18682041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2026-10-17T06:27:26.3880000Z</dcterms:created>
  <dcterms:modified xsi:type="dcterms:W3CDTF">2026-10-17T06:27:26.3880000Z</dcterms:modified>
</coreProperties>
</file>
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9fee4856374a2d" /><Relationship Type="http://schemas.openxmlformats.org/officeDocument/2006/relationships/extended-properties" Target="/docProps/app.xml" Id="Rad989e694f3b4fc9" /><Relationship Type="http://schemas.openxmlformats.org/officeDocument/2006/relationships/officeDocument" Target="/ppt/presentation.xml" Id="Re63395fa8eff4c86" /></Relationships>
</file>

<file path=ppt/presentation.xml><?xml version="1.0" encoding="utf-8"?>
<p:presentation xmlns:p="http://schemas.openxmlformats.org/presentationml/2006/main">
  <p:sldMasterIdLst>
    <p:sldMasterId xmlns:r="http://schemas.openxmlformats.org/officeDocument/2006/relationships" id="2147483648" r:id="R553c60c038c640a2"/>
  </p:sldMasterIdLst>
  <p:notesMasterIdLst>
    <p:notesMasterId xmlns:r="http://schemas.openxmlformats.org/officeDocument/2006/relationships" r:id="R9f126efc9f74459e"/>
  </p:notesMasterIdLst>
  <p:sldIdLst>
    <p:sldId xmlns:r="http://schemas.openxmlformats.org/officeDocument/2006/relationships" id="256" r:id="R11de1cb6168a47c5"/>
    <p:sldId xmlns:r="http://schemas.openxmlformats.org/officeDocument/2006/relationships" id="257" r:id="Rbc77109a280644cd"/>
    <p:sldId xmlns:r="http://schemas.openxmlformats.org/officeDocument/2006/relationships" id="258" r:id="Rab888932edb94329"/>
    <p:sldId xmlns:r="http://schemas.openxmlformats.org/officeDocument/2006/relationships" id="259" r:id="R14271777d9844a5b"/>
    <p:sldId xmlns:r="http://schemas.openxmlformats.org/officeDocument/2006/relationships" id="260" r:id="Raa8df444f870422f"/>
    <p:sldId xmlns:r="http://schemas.openxmlformats.org/officeDocument/2006/relationships" id="261" r:id="Rb1209b419c3d49f3"/>
    <p:sldId xmlns:r="http://schemas.openxmlformats.org/officeDocument/2006/relationships" id="262" r:id="R4864a8df530f4bd0"/>
    <p:sldId xmlns:r="http://schemas.openxmlformats.org/officeDocument/2006/relationships" id="263" r:id="R53c373398b534442"/>
    <p:sldId xmlns:r="http://schemas.openxmlformats.org/officeDocument/2006/relationships" id="264" r:id="R9b21920c3ba54dd2"/>
    <p:sldId xmlns:r="http://schemas.openxmlformats.org/officeDocument/2006/relationships" id="265" r:id="R2207f870d42740b0"/>
    <p:sldId xmlns:r="http://schemas.openxmlformats.org/officeDocument/2006/relationships" id="266" r:id="Ra462d4cf295b4f49"/>
    <p:sldId xmlns:r="http://schemas.openxmlformats.org/officeDocument/2006/relationships" id="267" r:id="R588aba0415f5496a"/>
    <p:sldId xmlns:r="http://schemas.openxmlformats.org/officeDocument/2006/relationships" id="268" r:id="R1a5d53be592e4078"/>
    <p:sldId xmlns:r="http://schemas.openxmlformats.org/officeDocument/2006/relationships" id="269" r:id="R99e82b1e17c14653"/>
    <p:sldId xmlns:r="http://schemas.openxmlformats.org/officeDocument/2006/relationships" id="270" r:id="Ra12e210c0ba24535"/>
    <p:sldId xmlns:r="http://schemas.openxmlformats.org/officeDocument/2006/relationships" id="271" r:id="R448218902fd04af1"/>
    <p:sldId xmlns:r="http://schemas.openxmlformats.org/officeDocument/2006/relationships" id="272" r:id="R1c0cc979fdfa4eaa"/>
    <p:sldId xmlns:r="http://schemas.openxmlformats.org/officeDocument/2006/relationships" id="273" r:id="R811a0395f50145a3"/>
    <p:sldId xmlns:r="http://schemas.openxmlformats.org/officeDocument/2006/relationships" id="274" r:id="Re815843489204598"/>
    <p:sldId xmlns:r="http://schemas.openxmlformats.org/officeDocument/2006/relationships" id="275" r:id="Rfae81ebc2e9244e3"/>
    <p:sldId xmlns:r="http://schemas.openxmlformats.org/officeDocument/2006/relationships" id="276" r:id="R7de1a5ae0e7e4d77"/>
    <p:sldId xmlns:r="http://schemas.openxmlformats.org/officeDocument/2006/relationships" id="277" r:id="Ree9a7991563b442d"/>
    <p:sldId xmlns:r="http://schemas.openxmlformats.org/officeDocument/2006/relationships" id="278" r:id="R9b27cab8866345a1"/>
    <p:sldId xmlns:r="http://schemas.openxmlformats.org/officeDocument/2006/relationships" id="279" r:id="Ra2642006946541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0ab2fffafa4f70" /><Relationship Type="http://schemas.openxmlformats.org/officeDocument/2006/relationships/slideMaster" Target="/ppt/slideMasters/slideMaster1.xml" Id="R553c60c038c640a2" /><Relationship Type="http://schemas.openxmlformats.org/officeDocument/2006/relationships/notesMaster" Target="/ppt/notesMasters/notesMaster1.xml" Id="R9f126efc9f74459e" /><Relationship Type="http://schemas.openxmlformats.org/officeDocument/2006/relationships/presProps" Target="/ppt/presProps.xml" Id="Rfc50d0336d7041f5" /><Relationship Type="http://schemas.openxmlformats.org/officeDocument/2006/relationships/tableStyles" Target="/ppt/tableStyles.xml" Id="R6dec3515b12445af" /><Relationship Type="http://schemas.openxmlformats.org/officeDocument/2006/relationships/slide" Target="/ppt/slides/slide1.xml" Id="R11de1cb6168a47c5" /><Relationship Type="http://schemas.openxmlformats.org/officeDocument/2006/relationships/slide" Target="/ppt/slides/slide2.xml" Id="Rbc77109a280644cd" /><Relationship Type="http://schemas.openxmlformats.org/officeDocument/2006/relationships/slide" Target="/ppt/slides/slide3.xml" Id="Rab888932edb94329" /><Relationship Type="http://schemas.openxmlformats.org/officeDocument/2006/relationships/slide" Target="/ppt/slides/slide4.xml" Id="R14271777d9844a5b" /><Relationship Type="http://schemas.openxmlformats.org/officeDocument/2006/relationships/slide" Target="/ppt/slides/slide5.xml" Id="Raa8df444f870422f" /><Relationship Type="http://schemas.openxmlformats.org/officeDocument/2006/relationships/slide" Target="/ppt/slides/slide6.xml" Id="Rb1209b419c3d49f3" /><Relationship Type="http://schemas.openxmlformats.org/officeDocument/2006/relationships/slide" Target="/ppt/slides/slide7.xml" Id="R4864a8df530f4bd0" /><Relationship Type="http://schemas.openxmlformats.org/officeDocument/2006/relationships/slide" Target="/ppt/slides/slide8.xml" Id="R53c373398b534442" /><Relationship Type="http://schemas.openxmlformats.org/officeDocument/2006/relationships/slide" Target="/ppt/slides/slide9.xml" Id="R9b21920c3ba54dd2" /><Relationship Type="http://schemas.openxmlformats.org/officeDocument/2006/relationships/slide" Target="/ppt/slides/slide10.xml" Id="R2207f870d42740b0" /><Relationship Type="http://schemas.openxmlformats.org/officeDocument/2006/relationships/slide" Target="/ppt/slides/slide11.xml" Id="Ra462d4cf295b4f49" /><Relationship Type="http://schemas.openxmlformats.org/officeDocument/2006/relationships/slide" Target="/ppt/slides/slide12.xml" Id="R588aba0415f5496a" /><Relationship Type="http://schemas.openxmlformats.org/officeDocument/2006/relationships/slide" Target="/ppt/slides/slide13.xml" Id="R1a5d53be592e4078" /><Relationship Type="http://schemas.openxmlformats.org/officeDocument/2006/relationships/slide" Target="/ppt/slides/slide14.xml" Id="R99e82b1e17c14653" /><Relationship Type="http://schemas.openxmlformats.org/officeDocument/2006/relationships/slide" Target="/ppt/slides/slide15.xml" Id="Ra12e210c0ba24535" /><Relationship Type="http://schemas.openxmlformats.org/officeDocument/2006/relationships/slide" Target="/ppt/slides/slide16.xml" Id="R448218902fd04af1" /><Relationship Type="http://schemas.openxmlformats.org/officeDocument/2006/relationships/slide" Target="/ppt/slides/slide17.xml" Id="R1c0cc979fdfa4eaa" /><Relationship Type="http://schemas.openxmlformats.org/officeDocument/2006/relationships/slide" Target="/ppt/slides/slide18.xml" Id="R811a0395f50145a3" /><Relationship Type="http://schemas.openxmlformats.org/officeDocument/2006/relationships/slide" Target="/ppt/slides/slide19.xml" Id="Re815843489204598" /><Relationship Type="http://schemas.openxmlformats.org/officeDocument/2006/relationships/slide" Target="/ppt/slides/slide20.xml" Id="Rfae81ebc2e9244e3" /><Relationship Type="http://schemas.openxmlformats.org/officeDocument/2006/relationships/slide" Target="/ppt/slides/slide21.xml" Id="R7de1a5ae0e7e4d77" /><Relationship Type="http://schemas.openxmlformats.org/officeDocument/2006/relationships/slide" Target="/ppt/slides/slide22.xml" Id="Ree9a7991563b442d" /><Relationship Type="http://schemas.openxmlformats.org/officeDocument/2006/relationships/slide" Target="/ppt/slides/slide23.xml" Id="R9b27cab8866345a1" /><Relationship Type="http://schemas.openxmlformats.org/officeDocument/2006/relationships/slide" Target="/ppt/slides/slide24.xml" Id="Ra2642006946541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8bda8388994e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4b01e7b68d43fe" /><Relationship Type="http://schemas.openxmlformats.org/officeDocument/2006/relationships/notesMaster" Target="/ppt/notesMasters/notesMaster1.xml" Id="R41d8dd7732d54c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3314d2bd9a4de1" /><Relationship Type="http://schemas.openxmlformats.org/officeDocument/2006/relationships/notesMaster" Target="/ppt/notesMasters/notesMaster1.xml" Id="Rc03598aa537e47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15a9ba36684e77" /><Relationship Type="http://schemas.openxmlformats.org/officeDocument/2006/relationships/notesMaster" Target="/ppt/notesMasters/notesMaster1.xml" Id="R0f9dc901b3624e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8f876b0a914bdd" /><Relationship Type="http://schemas.openxmlformats.org/officeDocument/2006/relationships/notesMaster" Target="/ppt/notesMasters/notesMaster1.xml" Id="Rfe64f66f70a94c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ecd95a155d4745" /><Relationship Type="http://schemas.openxmlformats.org/officeDocument/2006/relationships/notesMaster" Target="/ppt/notesMasters/notesMaster1.xml" Id="Rcc47cdccf04e4f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1409ca3b094668" /><Relationship Type="http://schemas.openxmlformats.org/officeDocument/2006/relationships/notesMaster" Target="/ppt/notesMasters/notesMaster1.xml" Id="Rf72e23435d8a4d6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9be7da2104b43" /><Relationship Type="http://schemas.openxmlformats.org/officeDocument/2006/relationships/notesMaster" Target="/ppt/notesMasters/notesMaster1.xml" Id="R992f0a22e8fe4e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9c92bcb67d4877" /><Relationship Type="http://schemas.openxmlformats.org/officeDocument/2006/relationships/notesMaster" Target="/ppt/notesMasters/notesMaster1.xml" Id="R92cc44aafb2944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c72363c8e54e72" /><Relationship Type="http://schemas.openxmlformats.org/officeDocument/2006/relationships/notesMaster" Target="/ppt/notesMasters/notesMaster1.xml" Id="R6d77f95539f945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fa5ad10ba5442a" /><Relationship Type="http://schemas.openxmlformats.org/officeDocument/2006/relationships/notesMaster" Target="/ppt/notesMasters/notesMaster1.xml" Id="R89887b4cca604e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149ab4891d473a" /><Relationship Type="http://schemas.openxmlformats.org/officeDocument/2006/relationships/notesMaster" Target="/ppt/notesMasters/notesMaster1.xml" Id="R9e195a82272d4aa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e00e5f309144102" /><Relationship Type="http://schemas.openxmlformats.org/officeDocument/2006/relationships/notesMaster" Target="/ppt/notesMasters/notesMaster1.xml" Id="R6455178f6821491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308c7f925c49ef" /><Relationship Type="http://schemas.openxmlformats.org/officeDocument/2006/relationships/notesMaster" Target="/ppt/notesMasters/notesMaster1.xml" Id="Rb9a7999c503541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7cf1238ff4e4493" /><Relationship Type="http://schemas.openxmlformats.org/officeDocument/2006/relationships/notesMaster" Target="/ppt/notesMasters/notesMaster1.xml" Id="Rf5a4060f89354e5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c1c40e92d74f81" /><Relationship Type="http://schemas.openxmlformats.org/officeDocument/2006/relationships/notesMaster" Target="/ppt/notesMasters/notesMaster1.xml" Id="R267ee84c8a4e437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7fa05f86fe4e25" /><Relationship Type="http://schemas.openxmlformats.org/officeDocument/2006/relationships/notesMaster" Target="/ppt/notesMasters/notesMaster1.xml" Id="R09930c341f2f48e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ee980de47a4077" /><Relationship Type="http://schemas.openxmlformats.org/officeDocument/2006/relationships/notesMaster" Target="/ppt/notesMasters/notesMaster1.xml" Id="R513a494a543f4a9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ff838c488e5483e" /><Relationship Type="http://schemas.openxmlformats.org/officeDocument/2006/relationships/notesMaster" Target="/ppt/notesMasters/notesMaster1.xml" Id="R988dae7c805a49f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0c361fa99a4340" /><Relationship Type="http://schemas.openxmlformats.org/officeDocument/2006/relationships/notesMaster" Target="/ppt/notesMasters/notesMaster1.xml" Id="Rd130a8a2de86478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e2b4d9c6531446d" /><Relationship Type="http://schemas.openxmlformats.org/officeDocument/2006/relationships/notesMaster" Target="/ppt/notesMasters/notesMaster1.xml" Id="Ra1ba27535a1f402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1caaf58daf747a6" /><Relationship Type="http://schemas.openxmlformats.org/officeDocument/2006/relationships/notesMaster" Target="/ppt/notesMasters/notesMaster1.xml" Id="R5451f6e3102f4f8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d715b6a6bd644ad" /><Relationship Type="http://schemas.openxmlformats.org/officeDocument/2006/relationships/notesMaster" Target="/ppt/notesMasters/notesMaster1.xml" Id="R8843bc8dbe614a5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ba417079c974702" /><Relationship Type="http://schemas.openxmlformats.org/officeDocument/2006/relationships/notesMaster" Target="/ppt/notesMasters/notesMaster1.xml" Id="Rf7929d4fa9e34dc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88c5962198a4ee2" /><Relationship Type="http://schemas.openxmlformats.org/officeDocument/2006/relationships/notesMaster" Target="/ppt/notesMasters/notesMaster1.xml" Id="Rf0dcf11412a5482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本專題使用十萬筆模擬鍵合紀錄，分析在固定檢查容量下的缺陷涵蓋率，流程包含資料探索、模型比較、時間保留評估及模型解釋。</a:t>
            </a:r>
          </a:p>
          <a:p xmlns:a="http://schemas.openxmlformats.org/drawingml/2006/main">
            <a:r>
              <a:t>測試集一萬五千筆，取風險最高的三千筆，涵蓋一千九百二十七筆缺陷，Recall 為百分之七十二點五，Precision 為百分之六十四點二。</a:t>
            </a:r>
          </a:p>
          <a:p xmlns:a="http://schemas.openxmlformats.org/drawingml/2006/main">
            <a:r>
              <a:t>圖表來源：資料檔、測試結果表，數值依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每列為一片晶圓的一次模擬加工紀錄，資料有四千批次、三台機台與一萬零四十六筆缺陷。</a:t>
            </a:r>
          </a:p>
          <a:p xmlns:a="http://schemas.openxmlformats.org/drawingml/2006/main">
            <a:r>
              <a:t>預測時點位於加工步驟完成與品質檢查之間，七個數值參數用於模型輸入，編號與時間用於追溯及切分。</a:t>
            </a:r>
          </a:p>
          <a:p xmlns:a="http://schemas.openxmlformats.org/drawingml/2006/main">
            <a:r>
              <a:t>圖中參數保留 CSV 的數值尺度，這樣每個座標都能對回原始資料，欄位定義與特徵順序記錄於模型 metadata。</a:t>
            </a:r>
          </a:p>
          <a:p xmlns:a="http://schemas.openxmlformats.org/drawingml/2006/main">
            <a:r>
              <a:t>圖表來源：data/synthetic_bonding_data.csv，數值依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先依各批次最早時間排序，再分配七成、一成五與一成五的批次，保留同批次紀錄在同一集合。</a:t>
            </a:r>
          </a:p>
          <a:p xmlns:a="http://schemas.openxmlformats.org/drawingml/2006/main">
            <a:r>
              <a:t>程式以斷言確認時間範圍沒有重疊，模型學習較早資料，之後評估較晚期間。</a:t>
            </a:r>
          </a:p>
          <a:p xmlns:a="http://schemas.openxmlformats.org/drawingml/2006/main">
            <a:r>
              <a:t>訓練缺陷率百分之八點一九，驗證為十一點零二，測試為十七點七一，這個差異會在後續指標解讀中一起呈現。</a:t>
            </a:r>
          </a:p>
          <a:p xmlns:a="http://schemas.openxmlformats.org/drawingml/2006/main">
            <a:r>
              <a:t>圖表來源：Colab 時間切分程式格，數值依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這三個子圖使用參數的組內中位數作為 X 軸，組內缺陷比例作為 Y 軸，每個紅點是約一萬筆紀錄的摘要。</a:t>
            </a:r>
          </a:p>
          <a:p xmlns:a="http://schemas.openxmlformats.org/drawingml/2006/main">
            <a:r>
              <a:t>最低溫組中位數約二百四十五點零七，缺陷一千五百三十筆除以一萬筆，得到百分之十五點三。</a:t>
            </a:r>
          </a:p>
          <a:p xmlns:a="http://schemas.openxmlformats.org/drawingml/2006/main">
            <a:r>
              <a:t>平均溫度呈 U 形，中間約百分之六，最高組約二十七，溫度標準差在多數區間上升，平均壓力也呈 U 形，中間約百分之七，兩端約十七。</a:t>
            </a:r>
          </a:p>
          <a:p xmlns:a="http://schemas.openxmlformats.org/drawingml/2006/main">
            <a:r>
              <a:t>灰色虛線為整體百分之十點零五，便於判斷各區間相對位置。</a:t>
            </a:r>
          </a:p>
          <a:p xmlns:a="http://schemas.openxmlformats.org/drawingml/2006/main">
            <a:r>
              <a:t>圖表來源：01_parameter_defect_rates，數值依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加工時間圖中間區間約百分之七，較短與較長組約十六到十七，對準誤差圖最低組約百分之二，最高組約四十，粒子數從組中位數一到六時，缺陷率約從六升到二十三。</a:t>
            </a:r>
          </a:p>
          <a:p xmlns:a="http://schemas.openxmlformats.org/drawingml/2006/main">
            <a:r>
              <a:t>粒子數有許多重複整數，qcut 使用 duplicates drop 合併重複邊界，因此這個子圖只有六組，與其他十組圖的差異來自資料分布。</a:t>
            </a:r>
          </a:p>
          <a:p xmlns:a="http://schemas.openxmlformats.org/drawingml/2006/main">
            <a:r>
              <a:t>圖表來源：01_parameter_defect_rates，數值依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維修後累積加工次數的圖形隨數值上升，最前段約百分之六點八，最後一組為百分之十三點八四。</a:t>
            </a:r>
          </a:p>
          <a:p xmlns:a="http://schemas.openxmlformats.org/drawingml/2006/main">
            <a:r>
              <a:t>最後一組中位數為一千四百二十四，有九千九百六十六筆，其中一千三百七十九筆有缺陷，所以缺陷率為一千三百七十九除以九千九百六十六。</a:t>
            </a:r>
          </a:p>
          <a:p xmlns:a="http://schemas.openxmlformats.org/drawingml/2006/main">
            <a:r>
              <a:t>這張圖將設備使用歷程與品質比例放在同一個分組視角，後面的重要性分析再觀察這個欄位對模型的資訊貢獻。</a:t>
            </a:r>
          </a:p>
          <a:p xmlns:a="http://schemas.openxmlformats.org/drawingml/2006/main">
            <a:r>
              <a:t>圖表來源：01_parameter_defect_rates，數值依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熱圖每一格比較兩個欄位的排名方向，對角線為一，紅色為正相關，藍色為負相關。</a:t>
            </a:r>
          </a:p>
          <a:p xmlns:a="http://schemas.openxmlformats.org/drawingml/2006/main">
            <a:r>
              <a:t>讀取 defect_flag 這一列，對準誤差約零點三零，粒子數約零點一三，平均壓力約零。</a:t>
            </a:r>
          </a:p>
          <a:p xmlns:a="http://schemas.openxmlformats.org/drawingml/2006/main">
            <a:r>
              <a:t>壓力的分組圖呈 U 形，先下降再上升，所以方向性的排名係數與區間圖需要一起看，這也是樹模型比較的動機。</a:t>
            </a:r>
          </a:p>
          <a:p xmlns:a="http://schemas.openxmlformats.org/drawingml/2006/main">
            <a:r>
              <a:t>圖表來源：02_correlation_tool_time，數值依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各機台紀錄數都約三萬三千筆，長條標示的 n 是分母。</a:t>
            </a:r>
          </a:p>
          <a:p xmlns:a="http://schemas.openxmlformats.org/drawingml/2006/main">
            <a:r>
              <a:t>TOOL_C 的缺陷率百分之十三點四六，TOOL_A 為八點五，TOOL_B 為八點一八，C 比 A 高四點九六個百分點。</a:t>
            </a:r>
          </a:p>
          <a:p xmlns:a="http://schemas.openxmlformats.org/drawingml/2006/main">
            <a:r>
              <a:t>分層結果使設備間差異具體化，後續可按相同產品、配方與時段篩選紀錄，再進行資料比對。</a:t>
            </a:r>
          </a:p>
          <a:p xmlns:a="http://schemas.openxmlformats.org/drawingml/2006/main">
            <a:r>
              <a:t>圖表來源：02_correlation_tool_time，數值依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淡藍線為每天的缺陷比例，紅線是連續七天缺陷數加總，除以七天總紀錄數。</a:t>
            </a:r>
          </a:p>
          <a:p xmlns:a="http://schemas.openxmlformats.org/drawingml/2006/main">
            <a:r>
              <a:t>這個計算以各天紀錄數為權重，一月至二月紅線約百分之八到九，三月後期上升到月底約百分之二十。</a:t>
            </a:r>
          </a:p>
          <a:p xmlns:a="http://schemas.openxmlformats.org/drawingml/2006/main">
            <a:r>
              <a:t>圖上時間變化提供使用 chronological split 的依據，訓練、驗證與測試的缺陷率也反映這個分布變化。</a:t>
            </a:r>
          </a:p>
          <a:p xmlns:a="http://schemas.openxmlformats.org/drawingml/2006/main">
            <a:r>
              <a:t>圖表來源：02_correlation_tool_time，數值依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兩個模型使用相同七個數值特徵與相同時間切分，Logistic Regression 經由訓練集中位數補值與標準化後擬合，樹模型透過範圍切分學習非線性。</a:t>
            </a:r>
          </a:p>
          <a:p xmlns:a="http://schemas.openxmlformats.org/drawingml/2006/main">
            <a:r>
              <a:t>梯度提升樹學習率零點零五，迭代兩百次，葉節點上限十五，最少樣本五十，L2 為一，early stopping 關閉，random state 四十二。</a:t>
            </a:r>
          </a:p>
          <a:p xmlns:a="http://schemas.openxmlformats.org/drawingml/2006/main">
            <a:r>
              <a:t>驗證比較固定三千筆選取量，讓模型差異對應到排序能力。</a:t>
            </a:r>
          </a:p>
          <a:p xmlns:a="http://schemas.openxmlformats.org/drawingml/2006/main">
            <a:r>
              <a:t>圖表來源：Colab 模型訓練程式格，數值依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這張圖的橫軸為預測，縱軸為實際，門檻固定零點五。</a:t>
            </a:r>
          </a:p>
          <a:p xmlns:a="http://schemas.openxmlformats.org/drawingml/2006/main">
            <a:r>
              <a:t>右下角一百七十七筆為找出的缺陷，右上角七十三筆為誤報，左下角一千四百七十六筆為漏判，左上角一萬三千兩百七十四筆為正確無缺陷。</a:t>
            </a:r>
          </a:p>
          <a:p xmlns:a="http://schemas.openxmlformats.org/drawingml/2006/main">
            <a:r>
              <a:t>警報兩百五十筆，因此 Precision 為一百七十七除以兩百五十，Recall 為一百七十七除以一千六百五十三。</a:t>
            </a:r>
          </a:p>
          <a:p xmlns:a="http://schemas.openxmlformats.org/drawingml/2006/main">
            <a:r>
              <a:t>圖表來源：03_logistic_validation，數值依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Precision-Recall 曲線的 X 軸是所有缺陷的涵蓋比例，Y 軸是警報中的缺陷比例，每個位置對應一個門檻。</a:t>
            </a:r>
          </a:p>
          <a:p xmlns:a="http://schemas.openxmlformats.org/drawingml/2006/main">
            <a:r>
              <a:t>灰線為驗證缺陷率百分之十一點零二，基準模型 AP 約零點四二一。</a:t>
            </a:r>
          </a:p>
          <a:p xmlns:a="http://schemas.openxmlformats.org/drawingml/2006/main">
            <a:r>
              <a:t>左側選取少量高分紀錄，往右擴大清單能涵蓋更多缺陷，圖中 Recall 約零點四時 Precision 約零點四五，這是圖上近似讀值。</a:t>
            </a:r>
          </a:p>
          <a:p xmlns:a="http://schemas.openxmlformats.org/drawingml/2006/main">
            <a:r>
              <a:t>圖表來源：03_logistic_validation，數值依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左側圖比較 Precision 與 Recall，右側圖把相同門檻換成漏判與誤報筆數。</a:t>
            </a:r>
          </a:p>
          <a:p xmlns:a="http://schemas.openxmlformats.org/drawingml/2006/main">
            <a:r>
              <a:t>從零點五改為零點一時，Recall 從百分之十點七提高到七十三點一，漏判從一千四百七十六降到四百四十五，誤報從七十三增加到四千零一。</a:t>
            </a:r>
          </a:p>
          <a:p xmlns:a="http://schemas.openxmlformats.org/drawingml/2006/main">
            <a:r>
              <a:t>這些點使用相同預測分數，圖形量化警報規則帶來的工作量。</a:t>
            </a:r>
          </a:p>
          <a:p xmlns:a="http://schemas.openxmlformats.org/drawingml/2006/main">
            <a:r>
              <a:t>圖表來源：04_threshold_tradeoffs，數值依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每一列是一個 Logistic Regression 機率門檻，警報總數等於找出缺陷加上誤報。</a:t>
            </a:r>
          </a:p>
          <a:p xmlns:a="http://schemas.openxmlformats.org/drawingml/2006/main">
            <a:r>
              <a:t>零點一門檻有五千兩百零九次警報，約占一萬五千筆的百分之三十四點七。</a:t>
            </a:r>
          </a:p>
          <a:p xmlns:a="http://schemas.openxmlformats.org/drawingml/2006/main">
            <a:r>
              <a:t>相對零點五，多找出一千零三十一筆缺陷，多三千九百二十八次誤報，因此總警報增加四千九百五十九筆。</a:t>
            </a:r>
          </a:p>
          <a:p xmlns:a="http://schemas.openxmlformats.org/drawingml/2006/main">
            <a:r>
              <a:t>圖表來源：results/threshold_comparison_logistic.csv，數值依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每個模型都選驗證集分數最高的三千筆，基準涵蓋九百五十八筆，樹模型涵蓋一千兩百二十六筆，增加兩百六十八筆。</a:t>
            </a:r>
          </a:p>
          <a:p xmlns:a="http://schemas.openxmlformats.org/drawingml/2006/main">
            <a:r>
              <a:t>清單外缺陷由六百九十五降到四百二十七，相對下降百分之三十八點六。</a:t>
            </a:r>
          </a:p>
          <a:p xmlns:a="http://schemas.openxmlformats.org/drawingml/2006/main">
            <a:r>
              <a:t>左側橘色 PR 曲線在多數區間高於藍色基準，AP 從零點四二一升到零點五九三，右側長條把排序效果轉成固定檢查量下的缺陷筆數。</a:t>
            </a:r>
          </a:p>
          <a:p xmlns:a="http://schemas.openxmlformats.org/drawingml/2006/main">
            <a:r>
              <a:t>圖表來源：05_model_comparison，數值依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測試一萬五千筆紀錄中有兩千六百五十七筆缺陷，選中三千筆後，右下角一千九百二十七筆為清單中的缺陷，右上角一千零七十三筆為清單中的無缺陷紀錄。</a:t>
            </a:r>
          </a:p>
          <a:p xmlns:a="http://schemas.openxmlformats.org/drawingml/2006/main">
            <a:r>
              <a:t>清單外一萬兩千筆包含七百三十筆缺陷，右側 Recall 比較為驗證百分之七十四點二與測試七十二點五，相差一點七個百分點。</a:t>
            </a:r>
          </a:p>
          <a:p xmlns:a="http://schemas.openxmlformats.org/drawingml/2006/main">
            <a:r>
              <a:t>圖表來源：06_test_evaluation，數值依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分母是選中三千筆，Recall 分母是兩千六百五十七筆缺陷，清單外缺陷率分母是一萬兩千筆。</a:t>
            </a:r>
          </a:p>
          <a:p xmlns:a="http://schemas.openxmlformats.org/drawingml/2006/main">
            <a:r>
              <a:t>隨機選三千筆的預期缺陷數為三千乘上兩千六百五十七除以一萬五千，等於五百三十一點四。</a:t>
            </a:r>
          </a:p>
          <a:p xmlns:a="http://schemas.openxmlformats.org/drawingml/2006/main">
            <a:r>
              <a:t>模型一千九百二十七除以隨機預期五百三十一點四，得到三點六三倍，這個數值表示選取群的缺陷濃度。</a:t>
            </a:r>
          </a:p>
          <a:p xmlns:a="http://schemas.openxmlformats.org/drawingml/2006/main">
            <a:r>
              <a:t>圖表來源：results/final_evaluation.csv，數值依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置換分析固定樹模型，每次打亂一個驗證特徵，重複五次，X 軸是 AP 平均下降量。</a:t>
            </a:r>
          </a:p>
          <a:p xmlns:a="http://schemas.openxmlformats.org/drawingml/2006/main">
            <a:r>
              <a:t>對準誤差下降零點三二三七，平均溫度零點二零九零，加工時間零點一四五九，原本 AP 約零點五九三，打亂對準誤差後約零點二六九。</a:t>
            </a:r>
          </a:p>
          <a:p xmlns:a="http://schemas.openxmlformats.org/drawingml/2006/main">
            <a:r>
              <a:t>橫向誤差線是五次打亂的標準差，對準誤差為零點零零六五，圖表呈現固定模型對欄位的依賴程度。</a:t>
            </a:r>
          </a:p>
          <a:p xmlns:a="http://schemas.openxmlformats.org/drawingml/2006/main">
            <a:r>
              <a:t>圖表來源：07_permutation_importance，數值依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PDP 將每筆驗證紀錄的對準誤差替換成指定值，保留其餘欄位，再平均模型預測。</a:t>
            </a:r>
          </a:p>
          <a:p xmlns:a="http://schemas.openxmlformats.org/drawingml/2006/main">
            <a:r>
              <a:t>X 軸為指定誤差值，Y 軸為平均預測反應，約零點零五時百分之三，零點一五時約九，零點二零時約二十四，零點二二時約三十六。</a:t>
            </a:r>
          </a:p>
          <a:p xmlns:a="http://schemas.openxmlformats.org/drawingml/2006/main">
            <a:r>
              <a:t>這個圖形說明模型在高誤差範圍的反應更陡，底部短線是原始特徵十分位位置。</a:t>
            </a:r>
          </a:p>
          <a:p xmlns:a="http://schemas.openxmlformats.org/drawingml/2006/main">
            <a:r>
              <a:t>圖表來源：08_partial_dependence，數值依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這張 PDP 的 X 軸為指定平均溫度值，Y 軸是特徵替換後的平均預測反應。</a:t>
            </a:r>
          </a:p>
          <a:p xmlns:a="http://schemas.openxmlformats.org/drawingml/2006/main">
            <a:r>
              <a:t>數值二百四十九到二百五十附近約百分之七，低端二百四十五附近約十五，高端二百五十五點七附近約十九，這呈現模型對中間與兩端的不同反應。</a:t>
            </a:r>
          </a:p>
          <a:p xmlns:a="http://schemas.openxmlformats.org/drawingml/2006/main">
            <a:r>
              <a:t>圖表使用 CSV 的數值尺度，與前面觀察缺陷率圖相比，PDP 描述的是模型對替換值的反應。</a:t>
            </a:r>
          </a:p>
          <a:p xmlns:a="http://schemas.openxmlformats.org/drawingml/2006/main">
            <a:r>
              <a:t>圖表來源：08_partial_dependence，數值依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指定加工時間約四十八點五時，平均預測反應約百分之十四，五十七到六十附近約八，七十一點五附近約十六。</a:t>
            </a:r>
          </a:p>
          <a:p xmlns:a="http://schemas.openxmlformats.org/drawingml/2006/main">
            <a:r>
              <a:t>這與加工時間分組圖的 U 形模式相呼應，前者描述模型反應，後者是原始紀錄分組後的觀察比例。</a:t>
            </a:r>
          </a:p>
          <a:p xmlns:a="http://schemas.openxmlformats.org/drawingml/2006/main">
            <a:r>
              <a:t>三張 PDP 都使用第五到第九十五百分位的四十個網格值，統一計算方式方便比較。</a:t>
            </a:r>
          </a:p>
          <a:p xmlns:a="http://schemas.openxmlformats.org/drawingml/2006/main">
            <a:r>
              <a:t>圖表來源：08_partial_dependence，數值依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程式先讀取與檢查資料，再做分組、機台與時間分析，之後建立批次時間切分。</a:t>
            </a:r>
          </a:p>
          <a:p xmlns:a="http://schemas.openxmlformats.org/drawingml/2006/main">
            <a:r>
              <a:t>fit 學習模型，predict_proba 產生分數，argsort 決定清單，最後由標籤計算成效，permutation 與 PDP 補充模型解釋。</a:t>
            </a:r>
          </a:p>
          <a:p xmlns:a="http://schemas.openxmlformats.org/drawingml/2006/main">
            <a:r>
              <a:t>結果表、原始圖與模型 metadata 都保存在儲存庫，構成可追溯的分析鏈。</a:t>
            </a:r>
          </a:p>
          <a:p xmlns:a="http://schemas.openxmlformats.org/drawingml/2006/main">
            <a:r>
              <a:t>圖表來源：notebooks/SoIC_Bonding_01_EDA.ipynb，數值依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相同驗證檢查量下，樹模型多涵蓋兩百六十八筆缺陷，測試結果為三千筆涵蓋一千九百二十七筆缺陷，Recall 百分之七十二點五。</a:t>
            </a:r>
          </a:p>
          <a:p xmlns:a="http://schemas.openxmlformats.org/drawingml/2006/main">
            <a:r>
              <a:t>置換重要性顯示對準誤差、平均溫度與加工時間是前三個模型依賴欄位，PDP 則呈現其反應形狀。</a:t>
            </a:r>
          </a:p>
          <a:p xmlns:a="http://schemas.openxmlformats.org/drawingml/2006/main">
            <a:r>
              <a:t>八組來源圖涵蓋二十二個子圖，將資料關聯、門檻政策、模型增益與預測行為放在同一套分析紀錄中。</a:t>
            </a:r>
          </a:p>
          <a:p xmlns:a="http://schemas.openxmlformats.org/drawingml/2006/main">
            <a:r>
              <a:t>圖表來源：模型比較表、測試表與重要性表，數值依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這個索引對應八組 Colab 執行輸出，參數缺陷率七個子圖，相關性與機台時間三個，基準、門檻、模型比較與測試各兩個，重要性一個，PDP 三個，合計二十二個。</a:t>
            </a:r>
          </a:p>
          <a:p xmlns:a="http://schemas.openxmlformats.org/drawingml/2006/main">
            <a:r>
              <a:t>來源圖保存在 images/colab，README 逐組解讀，簡報使用原始圖的完整視圖或放大裁切，保留座標與資料標示。</a:t>
            </a:r>
          </a:p>
          <a:p xmlns:a="http://schemas.openxmlformats.org/drawingml/2006/main">
            <a:r>
              <a:t>圖表來源：images/colab/index.json，數值依 results/ 評估表及 Colab 輸出。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5d81e2b854472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d93ac8ad1948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02248eedc3f46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aae4bbc6f38432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c7cbe7818646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a944f3f0d584ed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63B0E7-944E-46AE-AC8F-B4E917F64B9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1736B73-87A9-4DE4-8C01-3B28DA91BF6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48A259-2E51-4968-BD39-90A53BC916E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DC15B3-C73C-425A-8087-49FF52E00A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51FBECD-EEC2-49FF-9906-D210F80ED3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3C902E3-723B-47FE-82D8-00661C3E2F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267EF7-AB3E-48D2-88A2-61884FF5D1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3A8FD36-A646-4A9A-B90C-0BACEA7F11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85C4CA-2777-4118-B309-FB8DC7DC03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5B4728-FC90-40F9-8D0B-B3797F13AE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af3a1d5c9940a1" /><Relationship Type="http://schemas.openxmlformats.org/officeDocument/2006/relationships/slideLayout" Target="/ppt/slideLayouts/slideLayout1.xml" Id="R6b02d43bfafe4b23" /><Relationship Type="http://schemas.openxmlformats.org/officeDocument/2006/relationships/slideLayout" Target="/ppt/slideLayouts/slideLayout2.xml" Id="Ra78fff4e35f04c92" /><Relationship Type="http://schemas.openxmlformats.org/officeDocument/2006/relationships/slideLayout" Target="/ppt/slideLayouts/slideLayout3.xml" Id="R132897ff5b644e11" /><Relationship Type="http://schemas.openxmlformats.org/officeDocument/2006/relationships/slideLayout" Target="/ppt/slideLayouts/slideLayout4.xml" Id="R86972c5ddfee4679" /><Relationship Type="http://schemas.openxmlformats.org/officeDocument/2006/relationships/slideLayout" Target="/ppt/slideLayouts/slideLayout5.xml" Id="R950567b2782c4d41" /><Relationship Type="http://schemas.openxmlformats.org/officeDocument/2006/relationships/slideLayout" Target="/ppt/slideLayouts/slideLayout6.xml" Id="R51263a8c38e7461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02d43bfafe4b23"/>
    <p:sldLayoutId xmlns:r="http://schemas.openxmlformats.org/officeDocument/2006/relationships" id="2147483650" r:id="Ra78fff4e35f04c92"/>
    <p:sldLayoutId xmlns:r="http://schemas.openxmlformats.org/officeDocument/2006/relationships" id="2147483651" r:id="R132897ff5b644e11"/>
    <p:sldLayoutId xmlns:r="http://schemas.openxmlformats.org/officeDocument/2006/relationships" id="2147483652" r:id="R86972c5ddfee4679"/>
    <p:sldLayoutId xmlns:r="http://schemas.openxmlformats.org/officeDocument/2006/relationships" id="2147483653" r:id="R950567b2782c4d41"/>
    <p:sldLayoutId xmlns:r="http://schemas.openxmlformats.org/officeDocument/2006/relationships" id="2147483654" r:id="R51263a8c38e7461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640fb94b73a4956" /><Relationship Type="http://schemas.openxmlformats.org/officeDocument/2006/relationships/notesSlide" Target="/ppt/notesSlides/notesSlide1.xml" Id="R7b1611d67cd14f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156e4d6597640c5" /><Relationship Type="http://schemas.openxmlformats.org/officeDocument/2006/relationships/notesSlide" Target="/ppt/notesSlides/notesSlide2.xml" Id="R0503e0985bcb4f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5addc6b6c524709" /><Relationship Type="http://schemas.openxmlformats.org/officeDocument/2006/relationships/notesSlide" Target="/ppt/notesSlides/notesSlide3.xml" Id="R426d0722c7164c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21d7278b536477b" /><Relationship Type="http://schemas.openxmlformats.org/officeDocument/2006/relationships/image" Target="/ppt/media/image.png" Id="R9c07548682824446" /><Relationship Type="http://schemas.openxmlformats.org/officeDocument/2006/relationships/image" Target="/ppt/media/image2.png" Id="R7a126a4d7e6b4c56" /><Relationship Type="http://schemas.openxmlformats.org/officeDocument/2006/relationships/image" Target="/ppt/media/image3.png" Id="R85ddd837b1f0473f" /><Relationship Type="http://schemas.openxmlformats.org/officeDocument/2006/relationships/notesSlide" Target="/ppt/notesSlides/notesSlide4.xml" Id="Re0332562e97b46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cd9f99be9c84eb2" /><Relationship Type="http://schemas.openxmlformats.org/officeDocument/2006/relationships/image" Target="/ppt/media/image4.png" Id="R901178d2e4104e34" /><Relationship Type="http://schemas.openxmlformats.org/officeDocument/2006/relationships/image" Target="/ppt/media/image5.png" Id="R5726881bc29c4351" /><Relationship Type="http://schemas.openxmlformats.org/officeDocument/2006/relationships/image" Target="/ppt/media/image6.png" Id="Re6ed11a60b454cca" /><Relationship Type="http://schemas.openxmlformats.org/officeDocument/2006/relationships/notesSlide" Target="/ppt/notesSlides/notesSlide5.xml" Id="R194b6e5b04f4425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285b428466a4a0e" /><Relationship Type="http://schemas.openxmlformats.org/officeDocument/2006/relationships/image" Target="/ppt/media/image7.png" Id="Rb55a5c4025814d30" /><Relationship Type="http://schemas.openxmlformats.org/officeDocument/2006/relationships/notesSlide" Target="/ppt/notesSlides/notesSlide6.xml" Id="R70055bf938ea40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9e258be8a114750" /><Relationship Type="http://schemas.openxmlformats.org/officeDocument/2006/relationships/image" Target="/ppt/media/image8.png" Id="R9f2c9108902c4be2" /><Relationship Type="http://schemas.openxmlformats.org/officeDocument/2006/relationships/notesSlide" Target="/ppt/notesSlides/notesSlide7.xml" Id="Rf1eac0b4fc7044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efb8e924674e47" /><Relationship Type="http://schemas.openxmlformats.org/officeDocument/2006/relationships/image" Target="/ppt/media/image9.png" Id="Re3ef402a6ada46a8" /><Relationship Type="http://schemas.openxmlformats.org/officeDocument/2006/relationships/notesSlide" Target="/ppt/notesSlides/notesSlide8.xml" Id="R61e77d95225646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11b1f843596479b" /><Relationship Type="http://schemas.openxmlformats.org/officeDocument/2006/relationships/image" Target="/ppt/media/image10.png" Id="Ra75950eb3ed34648" /><Relationship Type="http://schemas.openxmlformats.org/officeDocument/2006/relationships/notesSlide" Target="/ppt/notesSlides/notesSlide9.xml" Id="R34a9da06151444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212bd4c71c4431b" /><Relationship Type="http://schemas.openxmlformats.org/officeDocument/2006/relationships/notesSlide" Target="/ppt/notesSlides/notesSlide10.xml" Id="R0f6238f2afd847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84316da78e54673" /><Relationship Type="http://schemas.openxmlformats.org/officeDocument/2006/relationships/image" Target="/ppt/media/image11.png" Id="R270dc089eac64adc" /><Relationship Type="http://schemas.openxmlformats.org/officeDocument/2006/relationships/notesSlide" Target="/ppt/notesSlides/notesSlide11.xml" Id="R3d073a5e7dbd471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ae2228b54eb4496" /><Relationship Type="http://schemas.openxmlformats.org/officeDocument/2006/relationships/image" Target="/ppt/media/image12.png" Id="R0780666ae2594eb1" /><Relationship Type="http://schemas.openxmlformats.org/officeDocument/2006/relationships/notesSlide" Target="/ppt/notesSlides/notesSlide12.xml" Id="Rda8e1e33011f4f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1eb1f6bf308430f" /><Relationship Type="http://schemas.openxmlformats.org/officeDocument/2006/relationships/image" Target="/ppt/media/image13.png" Id="R2a5e94958807435b" /><Relationship Type="http://schemas.openxmlformats.org/officeDocument/2006/relationships/notesSlide" Target="/ppt/notesSlides/notesSlide13.xml" Id="Rf9f727f352e54b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e126b5c41ae4692" /><Relationship Type="http://schemas.openxmlformats.org/officeDocument/2006/relationships/notesSlide" Target="/ppt/notesSlides/notesSlide14.xml" Id="R4da9cb385c05497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690bc279f024a9e" /><Relationship Type="http://schemas.openxmlformats.org/officeDocument/2006/relationships/image" Target="/ppt/media/image14.png" Id="R64a783fd073942d2" /><Relationship Type="http://schemas.openxmlformats.org/officeDocument/2006/relationships/notesSlide" Target="/ppt/notesSlides/notesSlide15.xml" Id="Re7b8720280b5475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ddaae3a1e964d34" /><Relationship Type="http://schemas.openxmlformats.org/officeDocument/2006/relationships/image" Target="/ppt/media/image15.png" Id="R170d55addfbd43e9" /><Relationship Type="http://schemas.openxmlformats.org/officeDocument/2006/relationships/notesSlide" Target="/ppt/notesSlides/notesSlide16.xml" Id="Rcf70a9480e76406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49117833f8f43d4" /><Relationship Type="http://schemas.openxmlformats.org/officeDocument/2006/relationships/notesSlide" Target="/ppt/notesSlides/notesSlide17.xml" Id="R8badf5f85f854d4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832bebf46684e9a" /><Relationship Type="http://schemas.openxmlformats.org/officeDocument/2006/relationships/image" Target="/ppt/media/image16.png" Id="R1417ecde26684c35" /><Relationship Type="http://schemas.openxmlformats.org/officeDocument/2006/relationships/notesSlide" Target="/ppt/notesSlides/notesSlide18.xml" Id="R0274119f872647e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55ef39a50984a73" /><Relationship Type="http://schemas.openxmlformats.org/officeDocument/2006/relationships/image" Target="/ppt/media/image17.png" Id="R505e87f942d440a6" /><Relationship Type="http://schemas.openxmlformats.org/officeDocument/2006/relationships/notesSlide" Target="/ppt/notesSlides/notesSlide19.xml" Id="Rb556fa9048894e5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2960bcc4e7f40be" /><Relationship Type="http://schemas.openxmlformats.org/officeDocument/2006/relationships/image" Target="/ppt/media/image18.png" Id="Rcf214e6d547543a2" /><Relationship Type="http://schemas.openxmlformats.org/officeDocument/2006/relationships/notesSlide" Target="/ppt/notesSlides/notesSlide20.xml" Id="Rbe5c01a141d54d3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c999c0093644b6d" /><Relationship Type="http://schemas.openxmlformats.org/officeDocument/2006/relationships/image" Target="/ppt/media/image19.png" Id="R684a996356c44b05" /><Relationship Type="http://schemas.openxmlformats.org/officeDocument/2006/relationships/notesSlide" Target="/ppt/notesSlides/notesSlide21.xml" Id="R2bd3dae295e04ef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64486d987b84f97" /><Relationship Type="http://schemas.openxmlformats.org/officeDocument/2006/relationships/notesSlide" Target="/ppt/notesSlides/notesSlide22.xml" Id="Re20ce7513209485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3eaa4712e3d4830" /><Relationship Type="http://schemas.openxmlformats.org/officeDocument/2006/relationships/notesSlide" Target="/ppt/notesSlides/notesSlide23.xml" Id="R233bf02b31bd423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06417930a814682" /><Relationship Type="http://schemas.openxmlformats.org/officeDocument/2006/relationships/notesSlide" Target="/ppt/notesSlides/notesSlide24.xml" Id="R0a01eaaaafa9464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083336-27A1-4A55-AC01-9D23A8BF6F1E}"/>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SoIC 鍵合品質風險預測</a:t>
            </a:r>
          </a:p>
        </p:txBody>
      </p:sp>
      <p:sp>
        <p:nvSpPr>
          <p:cNvPr id="2" name="">
            <a:extLst xmlns:a="http://schemas.openxmlformats.org/drawingml/2006/main">
              <a:ext uri="{FF2B5EF4-FFF2-40B4-BE49-F238E27FC236}">
                <a16:creationId xmlns:a16="http://schemas.microsoft.com/office/drawing/2014/main" id="{5AAE18C8-6CCA-4405-A951-21AC237943E8}"/>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8EAE3AC4-6518-46ED-9D04-9581CE5D2315}"/>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01</a:t>
            </a:r>
          </a:p>
        </p:txBody>
      </p:sp>
      <p:sp>
        <p:nvSpPr>
          <p:cNvPr id="4" name="">
            <a:extLst xmlns:a="http://schemas.openxmlformats.org/drawingml/2006/main">
              <a:ext uri="{FF2B5EF4-FFF2-40B4-BE49-F238E27FC236}">
                <a16:creationId xmlns:a16="http://schemas.microsoft.com/office/drawing/2014/main" id="{0329FFE4-2D75-42E4-AD0F-41DC70F262B2}"/>
              </a:ext>
            </a:extLst>
          </p:cNvPr>
          <p:cNvSpPr>
            <a:spLocks xmlns:a="http://schemas.openxmlformats.org/drawingml/2006/main" noGrp="1"/>
          </p:cNvSpPr>
          <p:nvPr/>
        </p:nvSpPr>
        <p:spPr>
          <a:xfrm xmlns:a="http://schemas.openxmlformats.org/drawingml/2006/main">
            <a:off x="685800" y="2095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00" b="1">
                <a:solidFill>
                  <a:srgbClr val="087F8C"/>
                </a:solidFill>
                <a:latin typeface="Heiti TC"/>
                <a:ea typeface="Heiti TC"/>
                <a:cs typeface="Heiti TC"/>
              </a:defRPr>
            </a:defPPr>
          </a:lstStyle>
          <a:p xmlns:a="http://schemas.openxmlformats.org/drawingml/2006/main">
            <a:pPr>
              <a:defRPr sz="3600" b="1">
                <a:solidFill>
                  <a:srgbClr val="087F8C"/>
                </a:solidFill>
                <a:latin typeface="Heiti TC"/>
                <a:ea typeface="Heiti TC"/>
                <a:cs typeface="Heiti TC"/>
              </a:defRPr>
            </a:pPr>
            <a:r>
              <a:rPr sz="3600" b="1">
                <a:solidFill>
                  <a:srgbClr val="087F8C"/>
                </a:solidFill>
                <a:latin typeface="Heiti TC"/>
                <a:ea typeface="Heiti TC"/>
                <a:cs typeface="Heiti TC"/>
              </a:rPr>
              <a:t>20% 檢查量，涵蓋 72.5% 缺陷</a:t>
            </a:r>
          </a:p>
        </p:txBody>
      </p:sp>
      <p:sp>
        <p:nvSpPr>
          <p:cNvPr id="5" name="">
            <a:extLst xmlns:a="http://schemas.openxmlformats.org/drawingml/2006/main">
              <a:ext uri="{FF2B5EF4-FFF2-40B4-BE49-F238E27FC236}">
                <a16:creationId xmlns:a16="http://schemas.microsoft.com/office/drawing/2014/main" id="{732E3B3C-266A-4ADD-A30D-684D53DA4454}"/>
              </a:ext>
            </a:extLst>
          </p:cNvPr>
          <p:cNvSpPr>
            <a:spLocks xmlns:a="http://schemas.openxmlformats.org/drawingml/2006/main" noGrp="1"/>
          </p:cNvSpPr>
          <p:nvPr/>
        </p:nvSpPr>
        <p:spPr>
          <a:xfrm xmlns:a="http://schemas.openxmlformats.org/drawingml/2006/main">
            <a:off x="685800" y="3476625"/>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42B43"/>
                </a:solidFill>
                <a:latin typeface="Heiti TC"/>
                <a:ea typeface="Heiti TC"/>
                <a:cs typeface="Heiti TC"/>
              </a:defRPr>
            </a:defPPr>
          </a:lstStyle>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100,000 筆模擬紀錄，8 組圖表，22 個分析子圖</a:t>
            </a:r>
          </a:p>
        </p:txBody>
      </p:sp>
      <p:sp>
        <p:nvSpPr>
          <p:cNvPr id="6" name="">
            <a:extLst xmlns:a="http://schemas.openxmlformats.org/drawingml/2006/main">
              <a:ext uri="{FF2B5EF4-FFF2-40B4-BE49-F238E27FC236}">
                <a16:creationId xmlns:a16="http://schemas.microsoft.com/office/drawing/2014/main" id="{D9860236-8631-460E-9364-0946C53860C9}"/>
              </a:ext>
            </a:extLst>
          </p:cNvPr>
          <p:cNvSpPr>
            <a:spLocks xmlns:a="http://schemas.openxmlformats.org/drawingml/2006/main" noGrp="1"/>
          </p:cNvSpPr>
          <p:nvPr/>
        </p:nvSpPr>
        <p:spPr>
          <a:xfrm xmlns:a="http://schemas.openxmlformats.org/drawingml/2006/main">
            <a:off x="685800" y="48577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50677C"/>
                </a:solidFill>
                <a:latin typeface="Heiti TC"/>
                <a:ea typeface="Heiti TC"/>
                <a:cs typeface="Heiti TC"/>
              </a:defRPr>
            </a:defPPr>
          </a:lstStyle>
          <a:p xmlns:a="http://schemas.openxmlformats.org/drawingml/2006/main">
            <a:pPr>
              <a:defRPr sz="2250" b="0">
                <a:solidFill>
                  <a:srgbClr val="50677C"/>
                </a:solidFill>
                <a:latin typeface="Heiti TC"/>
                <a:ea typeface="Heiti TC"/>
                <a:cs typeface="Heiti TC"/>
              </a:defRPr>
            </a:pPr>
            <a:r>
              <a:rPr sz="2250" b="0">
                <a:solidFill>
                  <a:srgbClr val="50677C"/>
                </a:solidFill>
                <a:latin typeface="Heiti TC"/>
                <a:ea typeface="Heiti TC"/>
                <a:cs typeface="Heiti TC"/>
              </a:rPr>
              <a:t>資料探索、模型評估與預測行為分析</a:t>
            </a:r>
          </a:p>
        </p:txBody>
      </p:sp>
    </p:spTree>
    <p:extLst>
      <p:ext uri="{BB962C8B-B14F-4D97-AF65-F5344CB8AC3E}">
        <p14:creationId xmlns:p14="http://schemas.microsoft.com/office/powerpoint/2010/main" val="15668256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42FC686-4FA8-43BA-95CC-9B432AC769BA}"/>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資料內容與預測時點</a:t>
            </a:r>
          </a:p>
        </p:txBody>
      </p:sp>
      <p:sp>
        <p:nvSpPr>
          <p:cNvPr id="2" name="">
            <a:extLst xmlns:a="http://schemas.openxmlformats.org/drawingml/2006/main">
              <a:ext uri="{FF2B5EF4-FFF2-40B4-BE49-F238E27FC236}">
                <a16:creationId xmlns:a16="http://schemas.microsoft.com/office/drawing/2014/main" id="{3335D611-0DA3-4F66-AB58-5D5A818935F3}"/>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CFB7BFD6-10BF-4593-B3EB-370F6CE33FD2}"/>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02</a:t>
            </a:r>
          </a:p>
        </p:txBody>
      </p:sp>
      <p:graphicFrame>
        <p:nvGraphicFramePr>
          <p:cNvPr id="4" name="">
            <a:extLst xmlns:a="http://schemas.openxmlformats.org/drawingml/2006/main">
              <a:ext uri="{FF2B5EF4-FFF2-40B4-BE49-F238E27FC236}">
                <a16:creationId xmlns:a16="http://schemas.microsoft.com/office/drawing/2014/main" id="{45EDEFC5-E1FC-4227-9EE9-1810FFB63C0C}"/>
              </a:ext>
            </a:extLst>
          </p:cNvPr>
          <p:cNvGraphicFramePr/>
          <p:nvPr/>
        </p:nvGraphicFramePr>
        <p:xfrm>
          <a:off xmlns:a="http://schemas.openxmlformats.org/drawingml/2006/main" x="685800" y="1524000"/>
          <a:ext xmlns:a="http://schemas.openxmlformats.org/drawingml/2006/main" cx="10820400" cy="3143250"/>
        </p:xfrm>
        <a:graphic xmlns:a="http://schemas.openxmlformats.org/drawingml/2006/main">
          <a:graphicData uri="http://schemas.openxmlformats.org/drawingml/2006/table">
            <a:tbl>
              <a:tblPr/>
              <a:tblGrid>
                <a:gridCol w="2476500"/>
                <a:gridCol w="5905500"/>
                <a:gridCol w="2438400"/>
              </a:tblGrid>
              <a:tr h="785813">
                <a:tc>
                  <a:txBody>
                    <a:bodyPr/>
                    <a:lstStyle/>
                    <a:p>
                      <a:r>
                        <a:rPr sz="1875" b="1">
                          <a:solidFill>
                            <a:srgbClr val="FFFFFF"/>
                          </a:solidFill>
                          <a:latin typeface="Heiti TC"/>
                          <a:ea typeface="Heiti TC"/>
                          <a:cs typeface="Heiti TC"/>
                        </a:rPr>
                        <a:t>資料類別</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內容</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用途</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785813">
                <a:tc>
                  <a:txBody>
                    <a:bodyPr/>
                    <a:lstStyle/>
                    <a:p>
                      <a:r>
                        <a:rPr sz="1875" b="0">
                          <a:solidFill>
                            <a:srgbClr val="142B43"/>
                          </a:solidFill>
                          <a:latin typeface="Heiti TC"/>
                          <a:ea typeface="Heiti TC"/>
                          <a:cs typeface="Heiti TC"/>
                        </a:rPr>
                        <a:t>製程摘要</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平均溫度、溫度波動、平均壓力、時間</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模型輸入</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785813">
                <a:tc>
                  <a:txBody>
                    <a:bodyPr/>
                    <a:lstStyle/>
                    <a:p>
                      <a:r>
                        <a:rPr sz="1875" b="0">
                          <a:solidFill>
                            <a:srgbClr val="142B43"/>
                          </a:solidFill>
                          <a:latin typeface="Heiti TC"/>
                          <a:ea typeface="Heiti TC"/>
                          <a:cs typeface="Heiti TC"/>
                        </a:rPr>
                        <a:t>加工前與設備狀態</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對準誤差、粒子數、維修後加工次數</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模型輸入</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785813">
                <a:tc>
                  <a:txBody>
                    <a:bodyPr/>
                    <a:lstStyle/>
                    <a:p>
                      <a:r>
                        <a:rPr sz="1875" b="0">
                          <a:solidFill>
                            <a:srgbClr val="142B43"/>
                          </a:solidFill>
                          <a:latin typeface="Heiti TC"/>
                          <a:ea typeface="Heiti TC"/>
                          <a:cs typeface="Heiti TC"/>
                        </a:rPr>
                        <a:t>追溯與品質</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晶圓、批次、機台、時間、缺陷標籤</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切分與評估</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7C7A86-C5CD-4EC3-86BF-78AB26573FE0}"/>
              </a:ext>
            </a:extLst>
          </p:cNvPr>
          <p:cNvSpPr>
            <a:spLocks xmlns:a="http://schemas.openxmlformats.org/drawingml/2006/main" noGrp="1"/>
          </p:cNvSpPr>
          <p:nvPr/>
        </p:nvSpPr>
        <p:spPr>
          <a:xfrm xmlns:a="http://schemas.openxmlformats.org/drawingml/2006/main">
            <a:off x="685800" y="52387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087F8C"/>
                </a:solidFill>
                <a:latin typeface="Heiti TC"/>
                <a:ea typeface="Heiti TC"/>
                <a:cs typeface="Heiti TC"/>
              </a:defRPr>
            </a:defPPr>
          </a:lstStyle>
          <a:p xmlns:a="http://schemas.openxmlformats.org/drawingml/2006/main">
            <a:pPr>
              <a:defRPr sz="2325" b="0">
                <a:solidFill>
                  <a:srgbClr val="087F8C"/>
                </a:solidFill>
                <a:latin typeface="Heiti TC"/>
                <a:ea typeface="Heiti TC"/>
                <a:cs typeface="Heiti TC"/>
              </a:defRPr>
            </a:pPr>
            <a:r>
              <a:rPr sz="2325" b="0">
                <a:solidFill>
                  <a:srgbClr val="087F8C"/>
                </a:solidFill>
                <a:latin typeface="Heiti TC"/>
                <a:ea typeface="Heiti TC"/>
                <a:cs typeface="Heiti TC"/>
              </a:rPr>
              <a:t>100,000 筆，4,000 批次，3 台機台，缺陷率 10.046%</a:t>
            </a:r>
          </a:p>
        </p:txBody>
      </p:sp>
    </p:spTree>
    <p:extLst>
      <p:ext uri="{BB962C8B-B14F-4D97-AF65-F5344CB8AC3E}">
        <p14:creationId xmlns:p14="http://schemas.microsoft.com/office/powerpoint/2010/main" val="1939118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1FE7108-CFB6-4CCD-8DE2-B0B8222F1B3B}"/>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時間與批次切分</a:t>
            </a:r>
          </a:p>
        </p:txBody>
      </p:sp>
      <p:sp>
        <p:nvSpPr>
          <p:cNvPr id="2" name="">
            <a:extLst xmlns:a="http://schemas.openxmlformats.org/drawingml/2006/main">
              <a:ext uri="{FF2B5EF4-FFF2-40B4-BE49-F238E27FC236}">
                <a16:creationId xmlns:a16="http://schemas.microsoft.com/office/drawing/2014/main" id="{3B59DB9C-7B84-44C4-8A35-DC0C29D68226}"/>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A1C4B394-93B8-4850-89CB-071FE7AC9206}"/>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03</a:t>
            </a:r>
          </a:p>
        </p:txBody>
      </p:sp>
      <p:graphicFrame>
        <p:nvGraphicFramePr>
          <p:cNvPr id="4" name="">
            <a:extLst xmlns:a="http://schemas.openxmlformats.org/drawingml/2006/main">
              <a:ext uri="{FF2B5EF4-FFF2-40B4-BE49-F238E27FC236}">
                <a16:creationId xmlns:a16="http://schemas.microsoft.com/office/drawing/2014/main" id="{A24FD5D9-1C0A-40B7-9447-F84BBC433BC8}"/>
              </a:ext>
            </a:extLst>
          </p:cNvPr>
          <p:cNvGraphicFramePr/>
          <p:nvPr/>
        </p:nvGraphicFramePr>
        <p:xfrm>
          <a:off xmlns:a="http://schemas.openxmlformats.org/drawingml/2006/main" x="685800" y="1524000"/>
          <a:ext xmlns:a="http://schemas.openxmlformats.org/drawingml/2006/main" cx="10820400" cy="3238500"/>
        </p:xfrm>
        <a:graphic xmlns:a="http://schemas.openxmlformats.org/drawingml/2006/main">
          <a:graphicData uri="http://schemas.openxmlformats.org/drawingml/2006/table">
            <a:tbl>
              <a:tblPr/>
              <a:tblGrid>
                <a:gridCol w="1714500"/>
                <a:gridCol w="2857500"/>
                <a:gridCol w="1905000"/>
                <a:gridCol w="4343400"/>
              </a:tblGrid>
              <a:tr h="809625">
                <a:tc>
                  <a:txBody>
                    <a:bodyPr/>
                    <a:lstStyle/>
                    <a:p>
                      <a:r>
                        <a:rPr sz="1875" b="1">
                          <a:solidFill>
                            <a:srgbClr val="FFFFFF"/>
                          </a:solidFill>
                          <a:latin typeface="Heiti TC"/>
                          <a:ea typeface="Heiti TC"/>
                          <a:cs typeface="Heiti TC"/>
                        </a:rPr>
                        <a:t>資料集</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紀錄／批次</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缺陷率</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用途</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809625">
                <a:tc>
                  <a:txBody>
                    <a:bodyPr/>
                    <a:lstStyle/>
                    <a:p>
                      <a:r>
                        <a:rPr sz="1875" b="0">
                          <a:solidFill>
                            <a:srgbClr val="142B43"/>
                          </a:solidFill>
                          <a:latin typeface="Heiti TC"/>
                          <a:ea typeface="Heiti TC"/>
                          <a:cs typeface="Heiti TC"/>
                        </a:rPr>
                        <a:t>訓練</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70,000／2,800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8.19%</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學習模型及前處理</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809625">
                <a:tc>
                  <a:txBody>
                    <a:bodyPr/>
                    <a:lstStyle/>
                    <a:p>
                      <a:r>
                        <a:rPr sz="1875" b="0">
                          <a:solidFill>
                            <a:srgbClr val="142B43"/>
                          </a:solidFill>
                          <a:latin typeface="Heiti TC"/>
                          <a:ea typeface="Heiti TC"/>
                          <a:cs typeface="Heiti TC"/>
                        </a:rPr>
                        <a:t>驗證</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15,000／600</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11.02%</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比較模型與選取規則</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809625">
                <a:tc>
                  <a:txBody>
                    <a:bodyPr/>
                    <a:lstStyle/>
                    <a:p>
                      <a:r>
                        <a:rPr sz="1875" b="0">
                          <a:solidFill>
                            <a:srgbClr val="142B43"/>
                          </a:solidFill>
                          <a:latin typeface="Heiti TC"/>
                          <a:ea typeface="Heiti TC"/>
                          <a:cs typeface="Heiti TC"/>
                        </a:rPr>
                        <a:t>測試</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15,000／600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17.71%</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固定模型與 20% 規則評估</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CD06FB3-36D9-43A1-BDF8-D88C64B41E09}"/>
              </a:ext>
            </a:extLst>
          </p:cNvPr>
          <p:cNvSpPr>
            <a:spLocks xmlns:a="http://schemas.openxmlformats.org/drawingml/2006/main" noGrp="1"/>
          </p:cNvSpPr>
          <p:nvPr/>
        </p:nvSpPr>
        <p:spPr>
          <a:xfrm xmlns:a="http://schemas.openxmlformats.org/drawingml/2006/main">
            <a:off x="685800" y="53340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087F8C"/>
                </a:solidFill>
                <a:latin typeface="Heiti TC"/>
                <a:ea typeface="Heiti TC"/>
                <a:cs typeface="Heiti TC"/>
              </a:defRPr>
            </a:defPPr>
          </a:lstStyle>
          <a:p xmlns:a="http://schemas.openxmlformats.org/drawingml/2006/main">
            <a:pPr>
              <a:defRPr sz="2325" b="0">
                <a:solidFill>
                  <a:srgbClr val="087F8C"/>
                </a:solidFill>
                <a:latin typeface="Heiti TC"/>
                <a:ea typeface="Heiti TC"/>
                <a:cs typeface="Heiti TC"/>
              </a:defRPr>
            </a:pPr>
            <a:r>
              <a:rPr sz="2325" b="0">
                <a:solidFill>
                  <a:srgbClr val="087F8C"/>
                </a:solidFill>
                <a:latin typeface="Heiti TC"/>
                <a:ea typeface="Heiti TC"/>
                <a:cs typeface="Heiti TC"/>
              </a:rPr>
              <a:t>同批次留在同一集合，各集合保留時間順序</a:t>
            </a:r>
          </a:p>
        </p:txBody>
      </p:sp>
    </p:spTree>
    <p:extLst>
      <p:ext uri="{BB962C8B-B14F-4D97-AF65-F5344CB8AC3E}">
        <p14:creationId xmlns:p14="http://schemas.microsoft.com/office/powerpoint/2010/main" val="9212723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5B5925-922F-4E55-8045-D6B3400CB0E2}"/>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溫度與壓力，分組缺陷率</a:t>
            </a:r>
          </a:p>
        </p:txBody>
      </p:sp>
      <p:sp>
        <p:nvSpPr>
          <p:cNvPr id="2" name="">
            <a:extLst xmlns:a="http://schemas.openxmlformats.org/drawingml/2006/main">
              <a:ext uri="{FF2B5EF4-FFF2-40B4-BE49-F238E27FC236}">
                <a16:creationId xmlns:a16="http://schemas.microsoft.com/office/drawing/2014/main" id="{5102D84C-A8E5-414F-8AC7-9B9FD1FF2F30}"/>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6DFAF050-7AEE-4188-9F03-50BD5DD8952E}"/>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04</a:t>
            </a:r>
          </a:p>
        </p:txBody>
      </p:sp>
      <p:pic>
        <p:nvPicPr>
          <p:cNvPr id="4" name="">
            <a:extLst xmlns:a="http://schemas.openxmlformats.org/drawingml/2006/main">
              <a:ext uri="{FF2B5EF4-FFF2-40B4-BE49-F238E27FC236}">
                <a16:creationId xmlns:a16="http://schemas.microsoft.com/office/drawing/2014/main" id="{1346C5BC-8142-4CE2-B2A9-C82F6574ABBE}"/>
              </a:ext>
            </a:extLst>
          </p:cNvPr>
          <p:cNvPicPr>
            <a:picLocks xmlns:a="http://schemas.openxmlformats.org/drawingml/2006/main" noChangeAspect="1"/>
          </p:cNvPicPr>
          <p:nvPr/>
        </p:nvPicPr>
        <p:blipFill>
          <a:blip xmlns:r="http://schemas.openxmlformats.org/officeDocument/2006/relationships" xmlns:a="http://schemas.openxmlformats.org/drawingml/2006/main" r:embed="R9c07548682824446"/>
          <a:srcRect xmlns:a="http://schemas.openxmlformats.org/drawingml/2006/main" l="0" t="6511" r="66634" b="61996"/>
          <a:stretch xmlns:a="http://schemas.openxmlformats.org/drawingml/2006/main"/>
        </p:blipFill>
        <p:spPr>
          <a:xfrm xmlns:a="http://schemas.openxmlformats.org/drawingml/2006/main">
            <a:off x="495300" y="1710260"/>
            <a:ext cx="3619500" cy="2389729"/>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7C68EED-1384-4EC8-A2F2-4B20A804A654}"/>
              </a:ext>
            </a:extLst>
          </p:cNvPr>
          <p:cNvPicPr>
            <a:picLocks xmlns:a="http://schemas.openxmlformats.org/drawingml/2006/main" noChangeAspect="1"/>
          </p:cNvPicPr>
          <p:nvPr/>
        </p:nvPicPr>
        <p:blipFill>
          <a:blip xmlns:r="http://schemas.openxmlformats.org/officeDocument/2006/relationships" xmlns:a="http://schemas.openxmlformats.org/drawingml/2006/main" r:embed="R7a126a4d7e6b4c56"/>
          <a:srcRect xmlns:a="http://schemas.openxmlformats.org/drawingml/2006/main" l="33366" t="6511" r="33267" b="61996"/>
          <a:stretch xmlns:a="http://schemas.openxmlformats.org/drawingml/2006/main"/>
        </p:blipFill>
        <p:spPr>
          <a:xfrm xmlns:a="http://schemas.openxmlformats.org/drawingml/2006/main">
            <a:off x="4295775" y="1710260"/>
            <a:ext cx="3619500" cy="2389729"/>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A0F6476-FC8F-4610-AEA9-3E07A87C2A66}"/>
              </a:ext>
            </a:extLst>
          </p:cNvPr>
          <p:cNvPicPr>
            <a:picLocks xmlns:a="http://schemas.openxmlformats.org/drawingml/2006/main" noChangeAspect="1"/>
          </p:cNvPicPr>
          <p:nvPr/>
        </p:nvPicPr>
        <p:blipFill>
          <a:blip xmlns:r="http://schemas.openxmlformats.org/officeDocument/2006/relationships" xmlns:a="http://schemas.openxmlformats.org/drawingml/2006/main" r:embed="R85ddd837b1f0473f"/>
          <a:srcRect xmlns:a="http://schemas.openxmlformats.org/drawingml/2006/main" l="66733" t="6511" r="0" b="61996"/>
          <a:stretch xmlns:a="http://schemas.openxmlformats.org/drawingml/2006/main"/>
        </p:blipFill>
        <p:spPr>
          <a:xfrm xmlns:a="http://schemas.openxmlformats.org/drawingml/2006/main">
            <a:off x="8096250" y="1710260"/>
            <a:ext cx="3619500" cy="238972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549A335-CA85-4F68-91D3-EA7A5024CC78}"/>
              </a:ext>
            </a:extLst>
          </p:cNvPr>
          <p:cNvSpPr>
            <a:spLocks xmlns:a="http://schemas.openxmlformats.org/drawingml/2006/main" noGrp="1"/>
          </p:cNvSpPr>
          <p:nvPr/>
        </p:nvSpPr>
        <p:spPr>
          <a:xfrm xmlns:a="http://schemas.openxmlformats.org/drawingml/2006/main">
            <a:off x="685800" y="4667250"/>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B43"/>
                </a:solidFill>
                <a:latin typeface="Heiti TC"/>
                <a:ea typeface="Heiti TC"/>
                <a:cs typeface="Heiti TC"/>
              </a:defRPr>
            </a:defPPr>
          </a:lstStyle>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平均溫度呈 U 形</a:t>
            </a:r>
          </a:p>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中間約 6%，高端約 27%</a:t>
            </a:r>
          </a:p>
        </p:txBody>
      </p:sp>
      <p:sp>
        <p:nvSpPr>
          <p:cNvPr id="8" name="">
            <a:extLst xmlns:a="http://schemas.openxmlformats.org/drawingml/2006/main">
              <a:ext uri="{FF2B5EF4-FFF2-40B4-BE49-F238E27FC236}">
                <a16:creationId xmlns:a16="http://schemas.microsoft.com/office/drawing/2014/main" id="{6D916EF7-DD62-467F-A0B9-76F062A50A87}"/>
              </a:ext>
            </a:extLst>
          </p:cNvPr>
          <p:cNvSpPr>
            <a:spLocks xmlns:a="http://schemas.openxmlformats.org/drawingml/2006/main" noGrp="1"/>
          </p:cNvSpPr>
          <p:nvPr/>
        </p:nvSpPr>
        <p:spPr>
          <a:xfrm xmlns:a="http://schemas.openxmlformats.org/drawingml/2006/main">
            <a:off x="4486275" y="4667250"/>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B43"/>
                </a:solidFill>
                <a:latin typeface="Heiti TC"/>
                <a:ea typeface="Heiti TC"/>
                <a:cs typeface="Heiti TC"/>
              </a:defRPr>
            </a:defPPr>
          </a:lstStyle>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溫度波動增加</a:t>
            </a:r>
          </a:p>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多數組約 7.5% 至 13%</a:t>
            </a:r>
          </a:p>
        </p:txBody>
      </p:sp>
      <p:sp>
        <p:nvSpPr>
          <p:cNvPr id="9" name="">
            <a:extLst xmlns:a="http://schemas.openxmlformats.org/drawingml/2006/main">
              <a:ext uri="{FF2B5EF4-FFF2-40B4-BE49-F238E27FC236}">
                <a16:creationId xmlns:a16="http://schemas.microsoft.com/office/drawing/2014/main" id="{C14C73BF-26DB-4A74-BEAE-D300618AC82C}"/>
              </a:ext>
            </a:extLst>
          </p:cNvPr>
          <p:cNvSpPr>
            <a:spLocks xmlns:a="http://schemas.openxmlformats.org/drawingml/2006/main" noGrp="1"/>
          </p:cNvSpPr>
          <p:nvPr/>
        </p:nvSpPr>
        <p:spPr>
          <a:xfrm xmlns:a="http://schemas.openxmlformats.org/drawingml/2006/main">
            <a:off x="8286750" y="4667250"/>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B43"/>
                </a:solidFill>
                <a:latin typeface="Heiti TC"/>
                <a:ea typeface="Heiti TC"/>
                <a:cs typeface="Heiti TC"/>
              </a:defRPr>
            </a:defPPr>
          </a:lstStyle>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平均壓力呈 U 形</a:t>
            </a:r>
          </a:p>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中間約 7%，兩端約 17%</a:t>
            </a:r>
          </a:p>
        </p:txBody>
      </p:sp>
      <p:sp>
        <p:nvSpPr>
          <p:cNvPr id="10" name="">
            <a:extLst xmlns:a="http://schemas.openxmlformats.org/drawingml/2006/main">
              <a:ext uri="{FF2B5EF4-FFF2-40B4-BE49-F238E27FC236}">
                <a16:creationId xmlns:a16="http://schemas.microsoft.com/office/drawing/2014/main" id="{0D4169EF-4039-4E4B-8669-0E33F24994C1}"/>
              </a:ext>
            </a:extLst>
          </p:cNvPr>
          <p:cNvSpPr>
            <a:spLocks xmlns:a="http://schemas.openxmlformats.org/drawingml/2006/main" noGrp="1"/>
          </p:cNvSpPr>
          <p:nvPr/>
        </p:nvSpPr>
        <p:spPr>
          <a:xfrm xmlns:a="http://schemas.openxmlformats.org/drawingml/2006/main">
            <a:off x="685800" y="5810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087F8C"/>
                </a:solidFill>
                <a:latin typeface="Heiti TC"/>
                <a:ea typeface="Heiti TC"/>
                <a:cs typeface="Heiti TC"/>
              </a:defRPr>
            </a:defPPr>
          </a:lstStyle>
          <a:p xmlns:a="http://schemas.openxmlformats.org/drawingml/2006/main">
            <a:pPr>
              <a:defRPr sz="2025" b="0">
                <a:solidFill>
                  <a:srgbClr val="087F8C"/>
                </a:solidFill>
                <a:latin typeface="Heiti TC"/>
                <a:ea typeface="Heiti TC"/>
                <a:cs typeface="Heiti TC"/>
              </a:defRPr>
            </a:pPr>
            <a:r>
              <a:rPr sz="2025" b="0">
                <a:solidFill>
                  <a:srgbClr val="087F8C"/>
                </a:solidFill>
                <a:latin typeface="Heiti TC"/>
                <a:ea typeface="Heiti TC"/>
                <a:cs typeface="Heiti TC"/>
              </a:rPr>
              <a:t>X 軸：組內中位數，Y 軸：組內缺陷率</a:t>
            </a:r>
          </a:p>
        </p:txBody>
      </p:sp>
    </p:spTree>
    <p:extLst>
      <p:ext uri="{BB962C8B-B14F-4D97-AF65-F5344CB8AC3E}">
        <p14:creationId xmlns:p14="http://schemas.microsoft.com/office/powerpoint/2010/main" val="14588559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30A616-B9CE-46C4-95F5-6437928917D6}"/>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時間、對準與粒子，分組缺陷率</a:t>
            </a:r>
          </a:p>
        </p:txBody>
      </p:sp>
      <p:sp>
        <p:nvSpPr>
          <p:cNvPr id="2" name="">
            <a:extLst xmlns:a="http://schemas.openxmlformats.org/drawingml/2006/main">
              <a:ext uri="{FF2B5EF4-FFF2-40B4-BE49-F238E27FC236}">
                <a16:creationId xmlns:a16="http://schemas.microsoft.com/office/drawing/2014/main" id="{D36513BD-1C9F-4FB2-AE46-0A0B4E0084A8}"/>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5258234E-DCE9-4EDC-8C2A-DDBC0F060C7D}"/>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05</a:t>
            </a:r>
          </a:p>
        </p:txBody>
      </p:sp>
      <p:pic>
        <p:nvPicPr>
          <p:cNvPr id="4" name="">
            <a:extLst xmlns:a="http://schemas.openxmlformats.org/drawingml/2006/main">
              <a:ext uri="{FF2B5EF4-FFF2-40B4-BE49-F238E27FC236}">
                <a16:creationId xmlns:a16="http://schemas.microsoft.com/office/drawing/2014/main" id="{B2E6A4A8-A291-454F-96FA-6221CA386261}"/>
              </a:ext>
            </a:extLst>
          </p:cNvPr>
          <p:cNvPicPr>
            <a:picLocks xmlns:a="http://schemas.openxmlformats.org/drawingml/2006/main" noChangeAspect="1"/>
          </p:cNvPicPr>
          <p:nvPr/>
        </p:nvPicPr>
        <p:blipFill>
          <a:blip xmlns:r="http://schemas.openxmlformats.org/officeDocument/2006/relationships" xmlns:a="http://schemas.openxmlformats.org/drawingml/2006/main" r:embed="R901178d2e4104e34"/>
          <a:srcRect xmlns:a="http://schemas.openxmlformats.org/drawingml/2006/main" l="0" t="38217" r="66634" b="31706"/>
          <a:stretch xmlns:a="http://schemas.openxmlformats.org/drawingml/2006/main"/>
        </p:blipFill>
        <p:spPr>
          <a:xfrm xmlns:a="http://schemas.openxmlformats.org/drawingml/2006/main">
            <a:off x="495300" y="1763962"/>
            <a:ext cx="3619500" cy="2282326"/>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F367EBBB-DC81-4162-B46B-364138192973}"/>
              </a:ext>
            </a:extLst>
          </p:cNvPr>
          <p:cNvPicPr>
            <a:picLocks xmlns:a="http://schemas.openxmlformats.org/drawingml/2006/main" noChangeAspect="1"/>
          </p:cNvPicPr>
          <p:nvPr/>
        </p:nvPicPr>
        <p:blipFill>
          <a:blip xmlns:r="http://schemas.openxmlformats.org/officeDocument/2006/relationships" xmlns:a="http://schemas.openxmlformats.org/drawingml/2006/main" r:embed="R5726881bc29c4351"/>
          <a:srcRect xmlns:a="http://schemas.openxmlformats.org/drawingml/2006/main" l="33366" t="38217" r="33267" b="31706"/>
          <a:stretch xmlns:a="http://schemas.openxmlformats.org/drawingml/2006/main"/>
        </p:blipFill>
        <p:spPr>
          <a:xfrm xmlns:a="http://schemas.openxmlformats.org/drawingml/2006/main">
            <a:off x="4295775" y="1763962"/>
            <a:ext cx="3619500" cy="2282326"/>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B1A8E94-8058-4FC6-8790-228B1BA197E9}"/>
              </a:ext>
            </a:extLst>
          </p:cNvPr>
          <p:cNvPicPr>
            <a:picLocks xmlns:a="http://schemas.openxmlformats.org/drawingml/2006/main" noChangeAspect="1"/>
          </p:cNvPicPr>
          <p:nvPr/>
        </p:nvPicPr>
        <p:blipFill>
          <a:blip xmlns:r="http://schemas.openxmlformats.org/officeDocument/2006/relationships" xmlns:a="http://schemas.openxmlformats.org/drawingml/2006/main" r:embed="Re6ed11a60b454cca"/>
          <a:srcRect xmlns:a="http://schemas.openxmlformats.org/drawingml/2006/main" l="66733" t="38217" r="0" b="31706"/>
          <a:stretch xmlns:a="http://schemas.openxmlformats.org/drawingml/2006/main"/>
        </p:blipFill>
        <p:spPr>
          <a:xfrm xmlns:a="http://schemas.openxmlformats.org/drawingml/2006/main">
            <a:off x="8096250" y="1763962"/>
            <a:ext cx="3619500" cy="228232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472F74B-CA4C-4B94-8167-5BE0A45E391C}"/>
              </a:ext>
            </a:extLst>
          </p:cNvPr>
          <p:cNvSpPr>
            <a:spLocks xmlns:a="http://schemas.openxmlformats.org/drawingml/2006/main" noGrp="1"/>
          </p:cNvSpPr>
          <p:nvPr/>
        </p:nvSpPr>
        <p:spPr>
          <a:xfrm xmlns:a="http://schemas.openxmlformats.org/drawingml/2006/main">
            <a:off x="685800" y="4667250"/>
            <a:ext cx="3476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42B43"/>
                </a:solidFill>
                <a:latin typeface="Heiti TC"/>
                <a:ea typeface="Heiti TC"/>
                <a:cs typeface="Heiti TC"/>
              </a:defRPr>
            </a:defPPr>
          </a:lstStyle>
          <a:p xmlns:a="http://schemas.openxmlformats.org/drawingml/2006/main">
            <a:pPr>
              <a:defRPr sz="1950" b="0">
                <a:solidFill>
                  <a:srgbClr val="142B43"/>
                </a:solidFill>
                <a:latin typeface="Heiti TC"/>
                <a:ea typeface="Heiti TC"/>
                <a:cs typeface="Heiti TC"/>
              </a:defRPr>
            </a:pPr>
            <a:r>
              <a:rPr sz="1950" b="0">
                <a:solidFill>
                  <a:srgbClr val="142B43"/>
                </a:solidFill>
                <a:latin typeface="Heiti TC"/>
                <a:ea typeface="Heiti TC"/>
                <a:cs typeface="Heiti TC"/>
              </a:rPr>
              <a:t>加工時間呈 U 形</a:t>
            </a:r>
          </a:p>
          <a:p xmlns:a="http://schemas.openxmlformats.org/drawingml/2006/main">
            <a:pPr>
              <a:defRPr sz="1950" b="0">
                <a:solidFill>
                  <a:srgbClr val="142B43"/>
                </a:solidFill>
                <a:latin typeface="Heiti TC"/>
                <a:ea typeface="Heiti TC"/>
                <a:cs typeface="Heiti TC"/>
              </a:defRPr>
            </a:pPr>
            <a:r>
              <a:rPr sz="1950" b="0">
                <a:solidFill>
                  <a:srgbClr val="142B43"/>
                </a:solidFill>
                <a:latin typeface="Heiti TC"/>
                <a:ea typeface="Heiti TC"/>
                <a:cs typeface="Heiti TC"/>
              </a:rPr>
              <a:t>中間約 7%，兩端約 16–17%</a:t>
            </a:r>
          </a:p>
        </p:txBody>
      </p:sp>
      <p:sp>
        <p:nvSpPr>
          <p:cNvPr id="8" name="">
            <a:extLst xmlns:a="http://schemas.openxmlformats.org/drawingml/2006/main">
              <a:ext uri="{FF2B5EF4-FFF2-40B4-BE49-F238E27FC236}">
                <a16:creationId xmlns:a16="http://schemas.microsoft.com/office/drawing/2014/main" id="{E00A2216-0322-4E2A-9B95-A91D34E7A5F2}"/>
              </a:ext>
            </a:extLst>
          </p:cNvPr>
          <p:cNvSpPr>
            <a:spLocks xmlns:a="http://schemas.openxmlformats.org/drawingml/2006/main" noGrp="1"/>
          </p:cNvSpPr>
          <p:nvPr/>
        </p:nvSpPr>
        <p:spPr>
          <a:xfrm xmlns:a="http://schemas.openxmlformats.org/drawingml/2006/main">
            <a:off x="4486275" y="4667250"/>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B43"/>
                </a:solidFill>
                <a:latin typeface="Heiti TC"/>
                <a:ea typeface="Heiti TC"/>
                <a:cs typeface="Heiti TC"/>
              </a:defRPr>
            </a:defPPr>
          </a:lstStyle>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對準誤差高值端上升</a:t>
            </a:r>
          </a:p>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最高組約 40%</a:t>
            </a:r>
          </a:p>
        </p:txBody>
      </p:sp>
      <p:sp>
        <p:nvSpPr>
          <p:cNvPr id="9" name="">
            <a:extLst xmlns:a="http://schemas.openxmlformats.org/drawingml/2006/main">
              <a:ext uri="{FF2B5EF4-FFF2-40B4-BE49-F238E27FC236}">
                <a16:creationId xmlns:a16="http://schemas.microsoft.com/office/drawing/2014/main" id="{22579AA9-0670-4663-B479-EB0A6CD8D980}"/>
              </a:ext>
            </a:extLst>
          </p:cNvPr>
          <p:cNvSpPr>
            <a:spLocks xmlns:a="http://schemas.openxmlformats.org/drawingml/2006/main" noGrp="1"/>
          </p:cNvSpPr>
          <p:nvPr/>
        </p:nvSpPr>
        <p:spPr>
          <a:xfrm xmlns:a="http://schemas.openxmlformats.org/drawingml/2006/main">
            <a:off x="8286750" y="4667250"/>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42B43"/>
                </a:solidFill>
                <a:latin typeface="Heiti TC"/>
                <a:ea typeface="Heiti TC"/>
                <a:cs typeface="Heiti TC"/>
              </a:defRPr>
            </a:defPPr>
          </a:lstStyle>
          <a:p xmlns:a="http://schemas.openxmlformats.org/drawingml/2006/main">
            <a:pPr>
              <a:defRPr sz="1950" b="0">
                <a:solidFill>
                  <a:srgbClr val="142B43"/>
                </a:solidFill>
                <a:latin typeface="Heiti TC"/>
                <a:ea typeface="Heiti TC"/>
                <a:cs typeface="Heiti TC"/>
              </a:defRPr>
            </a:pPr>
            <a:r>
              <a:rPr sz="1950" b="0">
                <a:solidFill>
                  <a:srgbClr val="142B43"/>
                </a:solidFill>
                <a:latin typeface="Heiti TC"/>
                <a:ea typeface="Heiti TC"/>
                <a:cs typeface="Heiti TC"/>
              </a:rPr>
              <a:t>粒子數分為六組</a:t>
            </a:r>
          </a:p>
          <a:p xmlns:a="http://schemas.openxmlformats.org/drawingml/2006/main">
            <a:pPr>
              <a:defRPr sz="1950" b="0">
                <a:solidFill>
                  <a:srgbClr val="142B43"/>
                </a:solidFill>
                <a:latin typeface="Heiti TC"/>
                <a:ea typeface="Heiti TC"/>
                <a:cs typeface="Heiti TC"/>
              </a:defRPr>
            </a:pPr>
            <a:r>
              <a:rPr sz="1950" b="0">
                <a:solidFill>
                  <a:srgbClr val="142B43"/>
                </a:solidFill>
                <a:latin typeface="Heiti TC"/>
                <a:ea typeface="Heiti TC"/>
                <a:cs typeface="Heiti TC"/>
              </a:rPr>
              <a:t>組中位數 1 至 6，約 6–23%</a:t>
            </a:r>
          </a:p>
        </p:txBody>
      </p:sp>
      <p:sp>
        <p:nvSpPr>
          <p:cNvPr id="10" name="">
            <a:extLst xmlns:a="http://schemas.openxmlformats.org/drawingml/2006/main">
              <a:ext uri="{FF2B5EF4-FFF2-40B4-BE49-F238E27FC236}">
                <a16:creationId xmlns:a16="http://schemas.microsoft.com/office/drawing/2014/main" id="{3FC1E80F-B860-4AC7-AF80-A4589A1BEBAD}"/>
              </a:ext>
            </a:extLst>
          </p:cNvPr>
          <p:cNvSpPr>
            <a:spLocks xmlns:a="http://schemas.openxmlformats.org/drawingml/2006/main" noGrp="1"/>
          </p:cNvSpPr>
          <p:nvPr/>
        </p:nvSpPr>
        <p:spPr>
          <a:xfrm xmlns:a="http://schemas.openxmlformats.org/drawingml/2006/main">
            <a:off x="685800" y="5810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087F8C"/>
                </a:solidFill>
                <a:latin typeface="Heiti TC"/>
                <a:ea typeface="Heiti TC"/>
                <a:cs typeface="Heiti TC"/>
              </a:defRPr>
            </a:defPPr>
          </a:lstStyle>
          <a:p xmlns:a="http://schemas.openxmlformats.org/drawingml/2006/main">
            <a:pPr>
              <a:defRPr sz="2025" b="0">
                <a:solidFill>
                  <a:srgbClr val="087F8C"/>
                </a:solidFill>
                <a:latin typeface="Heiti TC"/>
                <a:ea typeface="Heiti TC"/>
                <a:cs typeface="Heiti TC"/>
              </a:defRPr>
            </a:pPr>
            <a:r>
              <a:rPr sz="2025" b="0">
                <a:solidFill>
                  <a:srgbClr val="087F8C"/>
                </a:solidFill>
                <a:latin typeface="Heiti TC"/>
                <a:ea typeface="Heiti TC"/>
                <a:cs typeface="Heiti TC"/>
              </a:rPr>
              <a:t>每個紅點代表一組紀錄，灰線為整體缺陷率</a:t>
            </a:r>
          </a:p>
        </p:txBody>
      </p:sp>
    </p:spTree>
    <p:extLst>
      <p:ext uri="{BB962C8B-B14F-4D97-AF65-F5344CB8AC3E}">
        <p14:creationId xmlns:p14="http://schemas.microsoft.com/office/powerpoint/2010/main" val="10749271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8B9ECA-8B9C-4D57-8DA4-EE2C370CBD78}"/>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維修後加工次數與觀察缺陷率</a:t>
            </a:r>
          </a:p>
        </p:txBody>
      </p:sp>
      <p:sp>
        <p:nvSpPr>
          <p:cNvPr id="2" name="">
            <a:extLst xmlns:a="http://schemas.openxmlformats.org/drawingml/2006/main">
              <a:ext uri="{FF2B5EF4-FFF2-40B4-BE49-F238E27FC236}">
                <a16:creationId xmlns:a16="http://schemas.microsoft.com/office/drawing/2014/main" id="{0E49CC0B-0645-42EE-8988-C7B43FD57215}"/>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69069331-6F34-45FC-B7C5-C547218F2FDD}"/>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06</a:t>
            </a:r>
          </a:p>
        </p:txBody>
      </p:sp>
      <p:pic>
        <p:nvPicPr>
          <p:cNvPr id="4" name="">
            <a:extLst xmlns:a="http://schemas.openxmlformats.org/drawingml/2006/main">
              <a:ext uri="{FF2B5EF4-FFF2-40B4-BE49-F238E27FC236}">
                <a16:creationId xmlns:a16="http://schemas.microsoft.com/office/drawing/2014/main" id="{85EAE5F9-53F8-4E53-A4F1-604A4DC7B0FF}"/>
              </a:ext>
            </a:extLst>
          </p:cNvPr>
          <p:cNvPicPr>
            <a:picLocks xmlns:a="http://schemas.openxmlformats.org/drawingml/2006/main" noChangeAspect="1"/>
          </p:cNvPicPr>
          <p:nvPr/>
        </p:nvPicPr>
        <p:blipFill>
          <a:blip xmlns:r="http://schemas.openxmlformats.org/officeDocument/2006/relationships" xmlns:a="http://schemas.openxmlformats.org/drawingml/2006/main" r:embed="Rb55a5c4025814d30"/>
          <a:srcRect xmlns:a="http://schemas.openxmlformats.org/drawingml/2006/main" l="0" t="68648" r="66337" b="0"/>
          <a:stretch xmlns:a="http://schemas.openxmlformats.org/drawingml/2006/main"/>
        </p:blipFill>
        <p:spPr>
          <a:xfrm xmlns:a="http://schemas.openxmlformats.org/drawingml/2006/main">
            <a:off x="763333" y="1571625"/>
            <a:ext cx="6360034" cy="4143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88ADDE3-47BC-4CD8-BA6B-473824352EF9}"/>
              </a:ext>
            </a:extLst>
          </p:cNvPr>
          <p:cNvSpPr>
            <a:spLocks xmlns:a="http://schemas.openxmlformats.org/drawingml/2006/main" noGrp="1"/>
          </p:cNvSpPr>
          <p:nvPr/>
        </p:nvSpPr>
        <p:spPr>
          <a:xfrm xmlns:a="http://schemas.openxmlformats.org/drawingml/2006/main">
            <a:off x="7715250" y="1666875"/>
            <a:ext cx="3714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142B43"/>
                </a:solidFill>
                <a:latin typeface="Heiti TC"/>
                <a:ea typeface="Heiti TC"/>
                <a:cs typeface="Heiti TC"/>
              </a:defRPr>
            </a:defPPr>
          </a:lstStyle>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最後一組</a:t>
            </a:r>
          </a:p>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中位數 1,424 次</a:t>
            </a:r>
          </a:p>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紀錄 9,966 筆</a:t>
            </a:r>
          </a:p>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缺陷 1,379 筆</a:t>
            </a:r>
          </a:p>
        </p:txBody>
      </p:sp>
      <p:sp>
        <p:nvSpPr>
          <p:cNvPr id="6" name="">
            <a:extLst xmlns:a="http://schemas.openxmlformats.org/drawingml/2006/main">
              <a:ext uri="{FF2B5EF4-FFF2-40B4-BE49-F238E27FC236}">
                <a16:creationId xmlns:a16="http://schemas.microsoft.com/office/drawing/2014/main" id="{AFF08D73-FA1E-4F91-A2FE-D59EAB94BABC}"/>
              </a:ext>
            </a:extLst>
          </p:cNvPr>
          <p:cNvSpPr>
            <a:spLocks xmlns:a="http://schemas.openxmlformats.org/drawingml/2006/main" noGrp="1"/>
          </p:cNvSpPr>
          <p:nvPr/>
        </p:nvSpPr>
        <p:spPr>
          <a:xfrm xmlns:a="http://schemas.openxmlformats.org/drawingml/2006/main">
            <a:off x="7715250" y="4191000"/>
            <a:ext cx="3714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087F8C"/>
                </a:solidFill>
                <a:latin typeface="Heiti TC"/>
                <a:ea typeface="Heiti TC"/>
                <a:cs typeface="Heiti TC"/>
              </a:defRPr>
            </a:defPPr>
          </a:lstStyle>
          <a:p xmlns:a="http://schemas.openxmlformats.org/drawingml/2006/main">
            <a:pPr>
              <a:defRPr sz="2775" b="1">
                <a:solidFill>
                  <a:srgbClr val="087F8C"/>
                </a:solidFill>
                <a:latin typeface="Heiti TC"/>
                <a:ea typeface="Heiti TC"/>
                <a:cs typeface="Heiti TC"/>
              </a:defRPr>
            </a:pPr>
            <a:r>
              <a:rPr sz="2775" b="1">
                <a:solidFill>
                  <a:srgbClr val="087F8C"/>
                </a:solidFill>
                <a:latin typeface="Heiti TC"/>
                <a:ea typeface="Heiti TC"/>
                <a:cs typeface="Heiti TC"/>
              </a:rPr>
              <a:t>1,379 ÷ 9,966</a:t>
            </a:r>
          </a:p>
          <a:p xmlns:a="http://schemas.openxmlformats.org/drawingml/2006/main">
            <a:pPr>
              <a:defRPr sz="2775" b="1">
                <a:solidFill>
                  <a:srgbClr val="087F8C"/>
                </a:solidFill>
                <a:latin typeface="Heiti TC"/>
                <a:ea typeface="Heiti TC"/>
                <a:cs typeface="Heiti TC"/>
              </a:defRPr>
            </a:pPr>
            <a:r>
              <a:rPr sz="2775" b="1">
                <a:solidFill>
                  <a:srgbClr val="087F8C"/>
                </a:solidFill>
                <a:latin typeface="Heiti TC"/>
                <a:ea typeface="Heiti TC"/>
                <a:cs typeface="Heiti TC"/>
              </a:rPr>
              <a:t>＝13.84%</a:t>
            </a:r>
          </a:p>
        </p:txBody>
      </p:sp>
    </p:spTree>
    <p:extLst>
      <p:ext uri="{BB962C8B-B14F-4D97-AF65-F5344CB8AC3E}">
        <p14:creationId xmlns:p14="http://schemas.microsoft.com/office/powerpoint/2010/main" val="4536486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5086F7-C81B-45F6-A545-AC5262F6F3A8}"/>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Spearman，辨識單調排名關聯</a:t>
            </a:r>
          </a:p>
        </p:txBody>
      </p:sp>
      <p:sp>
        <p:nvSpPr>
          <p:cNvPr id="2" name="">
            <a:extLst xmlns:a="http://schemas.openxmlformats.org/drawingml/2006/main">
              <a:ext uri="{FF2B5EF4-FFF2-40B4-BE49-F238E27FC236}">
                <a16:creationId xmlns:a16="http://schemas.microsoft.com/office/drawing/2014/main" id="{6BF72F0F-4D4F-4DD5-81A6-5ED1033C658C}"/>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214204E0-980B-4847-B886-9B1659E510A5}"/>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07</a:t>
            </a:r>
          </a:p>
        </p:txBody>
      </p:sp>
      <p:pic>
        <p:nvPicPr>
          <p:cNvPr id="4" name="">
            <a:extLst xmlns:a="http://schemas.openxmlformats.org/drawingml/2006/main">
              <a:ext uri="{FF2B5EF4-FFF2-40B4-BE49-F238E27FC236}">
                <a16:creationId xmlns:a16="http://schemas.microsoft.com/office/drawing/2014/main" id="{D7F8E3E3-E08E-476B-92D0-E4A9E2348BFD}"/>
              </a:ext>
            </a:extLst>
          </p:cNvPr>
          <p:cNvPicPr>
            <a:picLocks xmlns:a="http://schemas.openxmlformats.org/drawingml/2006/main" noChangeAspect="1"/>
          </p:cNvPicPr>
          <p:nvPr/>
        </p:nvPicPr>
        <p:blipFill>
          <a:blip xmlns:r="http://schemas.openxmlformats.org/officeDocument/2006/relationships" xmlns:a="http://schemas.openxmlformats.org/drawingml/2006/main" r:embed="R9f2c9108902c4be2"/>
          <a:srcRect xmlns:a="http://schemas.openxmlformats.org/drawingml/2006/main" l="0" t="0" r="63812" b="0"/>
          <a:stretch xmlns:a="http://schemas.openxmlformats.org/drawingml/2006/main"/>
        </p:blipFill>
        <p:spPr>
          <a:xfrm xmlns:a="http://schemas.openxmlformats.org/drawingml/2006/main">
            <a:off x="799345" y="1257300"/>
            <a:ext cx="5678409" cy="4953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4DEA135-5E87-4A32-8503-55E15A89C6B1}"/>
              </a:ext>
            </a:extLst>
          </p:cNvPr>
          <p:cNvSpPr>
            <a:spLocks xmlns:a="http://schemas.openxmlformats.org/drawingml/2006/main" noGrp="1"/>
          </p:cNvSpPr>
          <p:nvPr/>
        </p:nvSpPr>
        <p:spPr>
          <a:xfrm xmlns:a="http://schemas.openxmlformats.org/drawingml/2006/main">
            <a:off x="7429500" y="1809750"/>
            <a:ext cx="4000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42B43"/>
                </a:solidFill>
                <a:latin typeface="Heiti TC"/>
                <a:ea typeface="Heiti TC"/>
                <a:cs typeface="Heiti TC"/>
              </a:defRPr>
            </a:defPPr>
          </a:lstStyle>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與缺陷標籤的係數</a:t>
            </a:r>
          </a:p>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對準誤差  0.30</a:t>
            </a:r>
          </a:p>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粒子數      0.13</a:t>
            </a:r>
          </a:p>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平均壓力  0.00</a:t>
            </a:r>
          </a:p>
        </p:txBody>
      </p:sp>
      <p:sp>
        <p:nvSpPr>
          <p:cNvPr id="6" name="">
            <a:extLst xmlns:a="http://schemas.openxmlformats.org/drawingml/2006/main">
              <a:ext uri="{FF2B5EF4-FFF2-40B4-BE49-F238E27FC236}">
                <a16:creationId xmlns:a16="http://schemas.microsoft.com/office/drawing/2014/main" id="{45A18574-4EE9-4ABC-8465-62CF7D50378F}"/>
              </a:ext>
            </a:extLst>
          </p:cNvPr>
          <p:cNvSpPr>
            <a:spLocks xmlns:a="http://schemas.openxmlformats.org/drawingml/2006/main" noGrp="1"/>
          </p:cNvSpPr>
          <p:nvPr/>
        </p:nvSpPr>
        <p:spPr>
          <a:xfrm xmlns:a="http://schemas.openxmlformats.org/drawingml/2006/main">
            <a:off x="7429500" y="4333875"/>
            <a:ext cx="400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7F8C"/>
                </a:solidFill>
                <a:latin typeface="Heiti TC"/>
                <a:ea typeface="Heiti TC"/>
                <a:cs typeface="Heiti TC"/>
              </a:defRPr>
            </a:defPPr>
          </a:lstStyle>
          <a:p xmlns:a="http://schemas.openxmlformats.org/drawingml/2006/main">
            <a:pPr>
              <a:defRPr sz="2250" b="0">
                <a:solidFill>
                  <a:srgbClr val="087F8C"/>
                </a:solidFill>
                <a:latin typeface="Heiti TC"/>
                <a:ea typeface="Heiti TC"/>
                <a:cs typeface="Heiti TC"/>
              </a:defRPr>
            </a:pPr>
            <a:r>
              <a:rPr sz="2250" b="0">
                <a:solidFill>
                  <a:srgbClr val="087F8C"/>
                </a:solidFill>
                <a:latin typeface="Heiti TC"/>
                <a:ea typeface="Heiti TC"/>
                <a:cs typeface="Heiti TC"/>
              </a:rPr>
              <a:t>U 形包含下降與上升，</a:t>
            </a:r>
          </a:p>
          <a:p xmlns:a="http://schemas.openxmlformats.org/drawingml/2006/main">
            <a:pPr>
              <a:defRPr sz="2250" b="0">
                <a:solidFill>
                  <a:srgbClr val="087F8C"/>
                </a:solidFill>
                <a:latin typeface="Heiti TC"/>
                <a:ea typeface="Heiti TC"/>
                <a:cs typeface="Heiti TC"/>
              </a:defRPr>
            </a:pPr>
            <a:r>
              <a:rPr sz="2250" b="0">
                <a:solidFill>
                  <a:srgbClr val="087F8C"/>
                </a:solidFill>
                <a:latin typeface="Heiti TC"/>
                <a:ea typeface="Heiti TC"/>
                <a:cs typeface="Heiti TC"/>
              </a:rPr>
              <a:t>區間圖補充排名係數</a:t>
            </a:r>
          </a:p>
        </p:txBody>
      </p:sp>
    </p:spTree>
    <p:extLst>
      <p:ext uri="{BB962C8B-B14F-4D97-AF65-F5344CB8AC3E}">
        <p14:creationId xmlns:p14="http://schemas.microsoft.com/office/powerpoint/2010/main" val="72131811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6895E1-5B75-4A09-8976-6155568339D7}"/>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機台分層，TOOL_C 觀察缺陷率最高</a:t>
            </a:r>
          </a:p>
        </p:txBody>
      </p:sp>
      <p:sp>
        <p:nvSpPr>
          <p:cNvPr id="2" name="">
            <a:extLst xmlns:a="http://schemas.openxmlformats.org/drawingml/2006/main">
              <a:ext uri="{FF2B5EF4-FFF2-40B4-BE49-F238E27FC236}">
                <a16:creationId xmlns:a16="http://schemas.microsoft.com/office/drawing/2014/main" id="{22E68123-B726-4332-960F-3F9A76D8008A}"/>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0154D0E5-D1A4-4BFF-A9FD-22E19A56B6A8}"/>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08</a:t>
            </a:r>
          </a:p>
        </p:txBody>
      </p:sp>
      <p:pic>
        <p:nvPicPr>
          <p:cNvPr id="4" name="">
            <a:extLst xmlns:a="http://schemas.openxmlformats.org/drawingml/2006/main">
              <a:ext uri="{FF2B5EF4-FFF2-40B4-BE49-F238E27FC236}">
                <a16:creationId xmlns:a16="http://schemas.microsoft.com/office/drawing/2014/main" id="{BB71F832-2E18-4F54-9EE4-FF0C86BDAEBC}"/>
              </a:ext>
            </a:extLst>
          </p:cNvPr>
          <p:cNvPicPr>
            <a:picLocks xmlns:a="http://schemas.openxmlformats.org/drawingml/2006/main" noChangeAspect="1"/>
          </p:cNvPicPr>
          <p:nvPr/>
        </p:nvPicPr>
        <p:blipFill>
          <a:blip xmlns:r="http://schemas.openxmlformats.org/officeDocument/2006/relationships" xmlns:a="http://schemas.openxmlformats.org/drawingml/2006/main" r:embed="Re3ef402a6ada46a8"/>
          <a:srcRect xmlns:a="http://schemas.openxmlformats.org/drawingml/2006/main" l="37325" t="0" r="35051" b="11765"/>
          <a:stretch xmlns:a="http://schemas.openxmlformats.org/drawingml/2006/main"/>
        </p:blipFill>
        <p:spPr>
          <a:xfrm xmlns:a="http://schemas.openxmlformats.org/drawingml/2006/main">
            <a:off x="914400" y="1381125"/>
            <a:ext cx="4629150" cy="4667250"/>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65EEC122-99D8-4591-BD19-B3A1FB6C4156}"/>
              </a:ext>
            </a:extLst>
          </p:cNvPr>
          <p:cNvGraphicFramePr/>
          <p:nvPr/>
        </p:nvGraphicFramePr>
        <p:xfrm>
          <a:off xmlns:a="http://schemas.openxmlformats.org/drawingml/2006/main" x="6381750" y="1714500"/>
          <a:ext xmlns:a="http://schemas.openxmlformats.org/drawingml/2006/main" cx="5048250" cy="2667000"/>
        </p:xfrm>
        <a:graphic xmlns:a="http://schemas.openxmlformats.org/drawingml/2006/main">
          <a:graphicData uri="http://schemas.openxmlformats.org/drawingml/2006/table">
            <a:tbl>
              <a:tblPr/>
              <a:tblGrid>
                <a:gridCol w="1524000"/>
                <a:gridCol w="1714500"/>
                <a:gridCol w="1809750"/>
              </a:tblGrid>
              <a:tr h="666750">
                <a:tc>
                  <a:txBody>
                    <a:bodyPr/>
                    <a:lstStyle/>
                    <a:p>
                      <a:r>
                        <a:rPr sz="1875" b="1">
                          <a:solidFill>
                            <a:srgbClr val="FFFFFF"/>
                          </a:solidFill>
                          <a:latin typeface="Heiti TC"/>
                          <a:ea typeface="Heiti TC"/>
                          <a:cs typeface="Heiti TC"/>
                        </a:rPr>
                        <a:t>機台</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紀錄數</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75" b="1">
                          <a:solidFill>
                            <a:srgbClr val="FFFFFF"/>
                          </a:solidFill>
                          <a:latin typeface="Heiti TC"/>
                          <a:ea typeface="Heiti TC"/>
                          <a:cs typeface="Heiti TC"/>
                        </a:rPr>
                        <a:t>缺陷率</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66750">
                <a:tc>
                  <a:txBody>
                    <a:bodyPr/>
                    <a:lstStyle/>
                    <a:p>
                      <a:r>
                        <a:rPr sz="1875" b="0">
                          <a:solidFill>
                            <a:srgbClr val="142B43"/>
                          </a:solidFill>
                          <a:latin typeface="Heiti TC"/>
                          <a:ea typeface="Heiti TC"/>
                          <a:cs typeface="Heiti TC"/>
                        </a:rPr>
                        <a:t>TOOL_C</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33,325</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13.46%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66750">
                <a:tc>
                  <a:txBody>
                    <a:bodyPr/>
                    <a:lstStyle/>
                    <a:p>
                      <a:r>
                        <a:rPr sz="1875" b="0">
                          <a:solidFill>
                            <a:srgbClr val="142B43"/>
                          </a:solidFill>
                          <a:latin typeface="Heiti TC"/>
                          <a:ea typeface="Heiti TC"/>
                          <a:cs typeface="Heiti TC"/>
                        </a:rPr>
                        <a:t>TOOL_A</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33,375</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75" b="0">
                          <a:solidFill>
                            <a:srgbClr val="142B43"/>
                          </a:solidFill>
                          <a:latin typeface="Heiti TC"/>
                          <a:ea typeface="Heiti TC"/>
                          <a:cs typeface="Heiti TC"/>
                        </a:rPr>
                        <a:t>8.50%</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66750">
                <a:tc>
                  <a:txBody>
                    <a:bodyPr/>
                    <a:lstStyle/>
                    <a:p>
                      <a:r>
                        <a:rPr sz="1875" b="0">
                          <a:solidFill>
                            <a:srgbClr val="142B43"/>
                          </a:solidFill>
                          <a:latin typeface="Heiti TC"/>
                          <a:ea typeface="Heiti TC"/>
                          <a:cs typeface="Heiti TC"/>
                        </a:rPr>
                        <a:t>TOOL_B</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33,300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75" b="0">
                          <a:solidFill>
                            <a:srgbClr val="142B43"/>
                          </a:solidFill>
                          <a:latin typeface="Heiti TC"/>
                          <a:ea typeface="Heiti TC"/>
                          <a:cs typeface="Heiti TC"/>
                        </a:rPr>
                        <a:t>8.18%</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C19A0AC-C492-445E-A382-0B190F6E9F6B}"/>
              </a:ext>
            </a:extLst>
          </p:cNvPr>
          <p:cNvSpPr>
            <a:spLocks xmlns:a="http://schemas.openxmlformats.org/drawingml/2006/main" noGrp="1"/>
          </p:cNvSpPr>
          <p:nvPr/>
        </p:nvSpPr>
        <p:spPr>
          <a:xfrm xmlns:a="http://schemas.openxmlformats.org/drawingml/2006/main">
            <a:off x="6572250" y="4953000"/>
            <a:ext cx="4857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87F8C"/>
                </a:solidFill>
                <a:latin typeface="Heiti TC"/>
                <a:ea typeface="Heiti TC"/>
                <a:cs typeface="Heiti TC"/>
              </a:defRPr>
            </a:defPPr>
          </a:lstStyle>
          <a:p xmlns:a="http://schemas.openxmlformats.org/drawingml/2006/main">
            <a:pPr>
              <a:defRPr sz="2325" b="1">
                <a:solidFill>
                  <a:srgbClr val="087F8C"/>
                </a:solidFill>
                <a:latin typeface="Heiti TC"/>
                <a:ea typeface="Heiti TC"/>
                <a:cs typeface="Heiti TC"/>
              </a:defRPr>
            </a:pPr>
            <a:r>
              <a:rPr sz="2325" b="1">
                <a:solidFill>
                  <a:srgbClr val="087F8C"/>
                </a:solidFill>
                <a:latin typeface="Heiti TC"/>
                <a:ea typeface="Heiti TC"/>
                <a:cs typeface="Heiti TC"/>
              </a:rPr>
              <a:t>TOOL_C 比 TOOL_A</a:t>
            </a:r>
          </a:p>
          <a:p xmlns:a="http://schemas.openxmlformats.org/drawingml/2006/main">
            <a:pPr>
              <a:defRPr sz="2325" b="1">
                <a:solidFill>
                  <a:srgbClr val="087F8C"/>
                </a:solidFill>
                <a:latin typeface="Heiti TC"/>
                <a:ea typeface="Heiti TC"/>
                <a:cs typeface="Heiti TC"/>
              </a:defRPr>
            </a:pPr>
            <a:r>
              <a:rPr sz="2325" b="1">
                <a:solidFill>
                  <a:srgbClr val="087F8C"/>
                </a:solidFill>
                <a:latin typeface="Heiti TC"/>
                <a:ea typeface="Heiti TC"/>
                <a:cs typeface="Heiti TC"/>
              </a:rPr>
              <a:t>高 4.96 個百分點</a:t>
            </a:r>
          </a:p>
        </p:txBody>
      </p:sp>
    </p:spTree>
    <p:extLst>
      <p:ext uri="{BB962C8B-B14F-4D97-AF65-F5344CB8AC3E}">
        <p14:creationId xmlns:p14="http://schemas.microsoft.com/office/powerpoint/2010/main" val="102265320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50BD3E-A8C7-4F3C-AB1F-A4A89A2AA450}"/>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時間趨勢，三月後期缺陷率上升</a:t>
            </a:r>
          </a:p>
        </p:txBody>
      </p:sp>
      <p:sp>
        <p:nvSpPr>
          <p:cNvPr id="2" name="">
            <a:extLst xmlns:a="http://schemas.openxmlformats.org/drawingml/2006/main">
              <a:ext uri="{FF2B5EF4-FFF2-40B4-BE49-F238E27FC236}">
                <a16:creationId xmlns:a16="http://schemas.microsoft.com/office/drawing/2014/main" id="{4DA41C94-1ED2-4EED-A366-4EABBFC93276}"/>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DFDD6CED-0DE4-451A-A9FB-64749955DBCF}"/>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09</a:t>
            </a:r>
          </a:p>
        </p:txBody>
      </p:sp>
      <p:pic>
        <p:nvPicPr>
          <p:cNvPr id="4" name="">
            <a:extLst xmlns:a="http://schemas.openxmlformats.org/drawingml/2006/main">
              <a:ext uri="{FF2B5EF4-FFF2-40B4-BE49-F238E27FC236}">
                <a16:creationId xmlns:a16="http://schemas.microsoft.com/office/drawing/2014/main" id="{461D7BFE-03E3-454E-B192-887CBD6AE6EC}"/>
              </a:ext>
            </a:extLst>
          </p:cNvPr>
          <p:cNvPicPr>
            <a:picLocks xmlns:a="http://schemas.openxmlformats.org/drawingml/2006/main" noChangeAspect="1"/>
          </p:cNvPicPr>
          <p:nvPr/>
        </p:nvPicPr>
        <p:blipFill>
          <a:blip xmlns:r="http://schemas.openxmlformats.org/officeDocument/2006/relationships" xmlns:a="http://schemas.openxmlformats.org/drawingml/2006/main" r:embed="Ra75950eb3ed34648"/>
          <a:srcRect xmlns:a="http://schemas.openxmlformats.org/drawingml/2006/main" l="64949" t="0" r="0" b="11765"/>
          <a:stretch xmlns:a="http://schemas.openxmlformats.org/drawingml/2006/main"/>
        </p:blipFill>
        <p:spPr>
          <a:xfrm xmlns:a="http://schemas.openxmlformats.org/drawingml/2006/main">
            <a:off x="1459722" y="1381125"/>
            <a:ext cx="5634005" cy="4476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0FC5FD9-A198-4D8F-AEF1-FCA191B041F9}"/>
              </a:ext>
            </a:extLst>
          </p:cNvPr>
          <p:cNvSpPr>
            <a:spLocks xmlns:a="http://schemas.openxmlformats.org/drawingml/2006/main" noGrp="1"/>
          </p:cNvSpPr>
          <p:nvPr/>
        </p:nvSpPr>
        <p:spPr>
          <a:xfrm xmlns:a="http://schemas.openxmlformats.org/drawingml/2006/main">
            <a:off x="8286750" y="18097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B43"/>
                </a:solidFill>
                <a:latin typeface="Heiti TC"/>
                <a:ea typeface="Heiti TC"/>
                <a:cs typeface="Heiti TC"/>
              </a:defRPr>
            </a:defPPr>
          </a:lstStyle>
          <a:p xmlns:a="http://schemas.openxmlformats.org/drawingml/2006/main">
            <a:pPr>
              <a:defRPr sz="2100" b="0">
                <a:solidFill>
                  <a:srgbClr val="142B43"/>
                </a:solidFill>
                <a:latin typeface="Heiti TC"/>
                <a:ea typeface="Heiti TC"/>
                <a:cs typeface="Heiti TC"/>
              </a:defRPr>
            </a:pPr>
            <a:r>
              <a:rPr sz="2100" b="0">
                <a:solidFill>
                  <a:srgbClr val="142B43"/>
                </a:solidFill>
                <a:latin typeface="Heiti TC"/>
                <a:ea typeface="Heiti TC"/>
                <a:cs typeface="Heiti TC"/>
              </a:rPr>
              <a:t>每日率</a:t>
            </a:r>
          </a:p>
          <a:p xmlns:a="http://schemas.openxmlformats.org/drawingml/2006/main">
            <a:pPr>
              <a:defRPr sz="2100" b="0">
                <a:solidFill>
                  <a:srgbClr val="142B43"/>
                </a:solidFill>
                <a:latin typeface="Heiti TC"/>
                <a:ea typeface="Heiti TC"/>
                <a:cs typeface="Heiti TC"/>
              </a:defRPr>
            </a:pPr>
            <a:r>
              <a:rPr sz="2100" b="0">
                <a:solidFill>
                  <a:srgbClr val="142B43"/>
                </a:solidFill>
                <a:latin typeface="Heiti TC"/>
                <a:ea typeface="Heiti TC"/>
                <a:cs typeface="Heiti TC"/>
              </a:rPr>
              <a:t>當日缺陷數 ÷ 紀錄數</a:t>
            </a:r>
          </a:p>
        </p:txBody>
      </p:sp>
      <p:sp>
        <p:nvSpPr>
          <p:cNvPr id="6" name="">
            <a:extLst xmlns:a="http://schemas.openxmlformats.org/drawingml/2006/main">
              <a:ext uri="{FF2B5EF4-FFF2-40B4-BE49-F238E27FC236}">
                <a16:creationId xmlns:a16="http://schemas.microsoft.com/office/drawing/2014/main" id="{AD17FEC4-0C83-47B0-8F37-E4740299584B}"/>
              </a:ext>
            </a:extLst>
          </p:cNvPr>
          <p:cNvSpPr>
            <a:spLocks xmlns:a="http://schemas.openxmlformats.org/drawingml/2006/main" noGrp="1"/>
          </p:cNvSpPr>
          <p:nvPr/>
        </p:nvSpPr>
        <p:spPr>
          <a:xfrm xmlns:a="http://schemas.openxmlformats.org/drawingml/2006/main">
            <a:off x="8286750" y="3333750"/>
            <a:ext cx="323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087F8C"/>
                </a:solidFill>
                <a:latin typeface="Heiti TC"/>
                <a:ea typeface="Heiti TC"/>
                <a:cs typeface="Heiti TC"/>
              </a:defRPr>
            </a:defPPr>
          </a:lstStyle>
          <a:p xmlns:a="http://schemas.openxmlformats.org/drawingml/2006/main">
            <a:pPr>
              <a:defRPr sz="2100" b="0">
                <a:solidFill>
                  <a:srgbClr val="087F8C"/>
                </a:solidFill>
                <a:latin typeface="Heiti TC"/>
                <a:ea typeface="Heiti TC"/>
                <a:cs typeface="Heiti TC"/>
              </a:defRPr>
            </a:pPr>
            <a:r>
              <a:rPr sz="2100" b="0">
                <a:solidFill>
                  <a:srgbClr val="087F8C"/>
                </a:solidFill>
                <a:latin typeface="Heiti TC"/>
                <a:ea typeface="Heiti TC"/>
                <a:cs typeface="Heiti TC"/>
              </a:rPr>
              <a:t>七天合併率</a:t>
            </a:r>
          </a:p>
          <a:p xmlns:a="http://schemas.openxmlformats.org/drawingml/2006/main">
            <a:pPr>
              <a:defRPr sz="2100" b="0">
                <a:solidFill>
                  <a:srgbClr val="087F8C"/>
                </a:solidFill>
                <a:latin typeface="Heiti TC"/>
                <a:ea typeface="Heiti TC"/>
                <a:cs typeface="Heiti TC"/>
              </a:defRPr>
            </a:pPr>
            <a:r>
              <a:rPr sz="2100" b="0">
                <a:solidFill>
                  <a:srgbClr val="087F8C"/>
                </a:solidFill>
                <a:latin typeface="Heiti TC"/>
                <a:ea typeface="Heiti TC"/>
                <a:cs typeface="Heiti TC"/>
              </a:rPr>
              <a:t>七天缺陷總數</a:t>
            </a:r>
          </a:p>
          <a:p xmlns:a="http://schemas.openxmlformats.org/drawingml/2006/main">
            <a:pPr>
              <a:defRPr sz="2100" b="0">
                <a:solidFill>
                  <a:srgbClr val="087F8C"/>
                </a:solidFill>
                <a:latin typeface="Heiti TC"/>
                <a:ea typeface="Heiti TC"/>
                <a:cs typeface="Heiti TC"/>
              </a:defRPr>
            </a:pPr>
            <a:r>
              <a:rPr sz="2100" b="0">
                <a:solidFill>
                  <a:srgbClr val="087F8C"/>
                </a:solidFill>
                <a:latin typeface="Heiti TC"/>
                <a:ea typeface="Heiti TC"/>
                <a:cs typeface="Heiti TC"/>
              </a:rPr>
              <a:t>÷ 七天紀錄總數</a:t>
            </a:r>
          </a:p>
        </p:txBody>
      </p:sp>
      <p:sp>
        <p:nvSpPr>
          <p:cNvPr id="7" name="">
            <a:extLst xmlns:a="http://schemas.openxmlformats.org/drawingml/2006/main">
              <a:ext uri="{FF2B5EF4-FFF2-40B4-BE49-F238E27FC236}">
                <a16:creationId xmlns:a16="http://schemas.microsoft.com/office/drawing/2014/main" id="{5D8581ED-DDDA-4E1E-9472-10C62FC143FA}"/>
              </a:ext>
            </a:extLst>
          </p:cNvPr>
          <p:cNvSpPr>
            <a:spLocks xmlns:a="http://schemas.openxmlformats.org/drawingml/2006/main" noGrp="1"/>
          </p:cNvSpPr>
          <p:nvPr/>
        </p:nvSpPr>
        <p:spPr>
          <a:xfrm xmlns:a="http://schemas.openxmlformats.org/drawingml/2006/main">
            <a:off x="8286750" y="5286375"/>
            <a:ext cx="323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B43"/>
                </a:solidFill>
                <a:latin typeface="Heiti TC"/>
                <a:ea typeface="Heiti TC"/>
                <a:cs typeface="Heiti TC"/>
              </a:defRPr>
            </a:defPPr>
          </a:lstStyle>
          <a:p xmlns:a="http://schemas.openxmlformats.org/drawingml/2006/main">
            <a:pPr>
              <a:defRPr sz="2025" b="0">
                <a:solidFill>
                  <a:srgbClr val="142B43"/>
                </a:solidFill>
                <a:latin typeface="Heiti TC"/>
                <a:ea typeface="Heiti TC"/>
                <a:cs typeface="Heiti TC"/>
              </a:defRPr>
            </a:pPr>
            <a:r>
              <a:rPr sz="2025" b="0">
                <a:solidFill>
                  <a:srgbClr val="142B43"/>
                </a:solidFill>
                <a:latin typeface="Heiti TC"/>
                <a:ea typeface="Heiti TC"/>
                <a:cs typeface="Heiti TC"/>
              </a:rPr>
              <a:t>紅線約 8–9% 至 20%</a:t>
            </a:r>
          </a:p>
        </p:txBody>
      </p:sp>
    </p:spTree>
    <p:extLst>
      <p:ext uri="{BB962C8B-B14F-4D97-AF65-F5344CB8AC3E}">
        <p14:creationId xmlns:p14="http://schemas.microsoft.com/office/powerpoint/2010/main" val="8187930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2AA71AA-CCF6-4061-839F-24598041E897}"/>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模型設定與共同比較條件</a:t>
            </a:r>
          </a:p>
        </p:txBody>
      </p:sp>
      <p:sp>
        <p:nvSpPr>
          <p:cNvPr id="2" name="">
            <a:extLst xmlns:a="http://schemas.openxmlformats.org/drawingml/2006/main">
              <a:ext uri="{FF2B5EF4-FFF2-40B4-BE49-F238E27FC236}">
                <a16:creationId xmlns:a16="http://schemas.microsoft.com/office/drawing/2014/main" id="{BB1FCC5D-D3E9-4E6E-980F-FC669512AFA8}"/>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FB2BBF65-DA83-470C-B700-24B43B64DC2B}"/>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10</a:t>
            </a:r>
          </a:p>
        </p:txBody>
      </p:sp>
      <p:graphicFrame>
        <p:nvGraphicFramePr>
          <p:cNvPr id="4" name="">
            <a:extLst xmlns:a="http://schemas.openxmlformats.org/drawingml/2006/main">
              <a:ext uri="{FF2B5EF4-FFF2-40B4-BE49-F238E27FC236}">
                <a16:creationId xmlns:a16="http://schemas.microsoft.com/office/drawing/2014/main" id="{8CEAA4F7-1EE6-48E0-B95F-20AF937E2FD6}"/>
              </a:ext>
            </a:extLst>
          </p:cNvPr>
          <p:cNvGraphicFramePr/>
          <p:nvPr/>
        </p:nvGraphicFramePr>
        <p:xfrm>
          <a:off xmlns:a="http://schemas.openxmlformats.org/drawingml/2006/main" x="685800" y="1524000"/>
          <a:ext xmlns:a="http://schemas.openxmlformats.org/drawingml/2006/main" cx="10820400" cy="3905250"/>
        </p:xfrm>
        <a:graphic xmlns:a="http://schemas.openxmlformats.org/drawingml/2006/main">
          <a:graphicData uri="http://schemas.openxmlformats.org/drawingml/2006/table">
            <a:tbl>
              <a:tblPr/>
              <a:tblGrid>
                <a:gridCol w="2000250"/>
                <a:gridCol w="4095750"/>
                <a:gridCol w="4724400"/>
              </a:tblGrid>
              <a:tr h="650875">
                <a:tc>
                  <a:txBody>
                    <a:bodyPr/>
                    <a:lstStyle/>
                    <a:p>
                      <a:r>
                        <a:rPr sz="1800" b="1">
                          <a:solidFill>
                            <a:srgbClr val="FFFFFF"/>
                          </a:solidFill>
                          <a:latin typeface="Heiti TC"/>
                          <a:ea typeface="Heiti TC"/>
                          <a:cs typeface="Heiti TC"/>
                        </a:rPr>
                        <a:t>項目</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Logistic Regression</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Gradient Boosting</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50875">
                <a:tc>
                  <a:txBody>
                    <a:bodyPr/>
                    <a:lstStyle/>
                    <a:p>
                      <a:r>
                        <a:rPr sz="1800" b="0">
                          <a:solidFill>
                            <a:srgbClr val="142B43"/>
                          </a:solidFill>
                          <a:latin typeface="Heiti TC"/>
                          <a:ea typeface="Heiti TC"/>
                          <a:cs typeface="Heiti TC"/>
                        </a:rPr>
                        <a:t>輸入</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相同七個數值特徵</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相同七個數值特徵</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50875">
                <a:tc>
                  <a:txBody>
                    <a:bodyPr/>
                    <a:lstStyle/>
                    <a:p>
                      <a:r>
                        <a:rPr sz="1800" b="0">
                          <a:solidFill>
                            <a:srgbClr val="142B43"/>
                          </a:solidFill>
                          <a:latin typeface="Heiti TC"/>
                          <a:ea typeface="Heiti TC"/>
                          <a:cs typeface="Heiti TC"/>
                        </a:rPr>
                        <a:t>前處理</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訓練集中位數補值與標準化</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原始數值輸入</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50875">
                <a:tc>
                  <a:txBody>
                    <a:bodyPr/>
                    <a:lstStyle/>
                    <a:p>
                      <a:r>
                        <a:rPr sz="1800" b="0">
                          <a:solidFill>
                            <a:srgbClr val="142B43"/>
                          </a:solidFill>
                          <a:latin typeface="Heiti TC"/>
                          <a:ea typeface="Heiti TC"/>
                          <a:cs typeface="Heiti TC"/>
                        </a:rPr>
                        <a:t>模型設定</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max_iter＝1,000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learning_rate＝0.05，迭代 200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50875">
                <a:tc>
                  <a:txBody>
                    <a:bodyPr/>
                    <a:lstStyle/>
                    <a:p>
                      <a:r>
                        <a:rPr sz="1800" b="0">
                          <a:solidFill>
                            <a:srgbClr val="142B43"/>
                          </a:solidFill>
                          <a:latin typeface="Heiti TC"/>
                          <a:ea typeface="Heiti TC"/>
                          <a:cs typeface="Heiti TC"/>
                        </a:rPr>
                        <a:t>複雜度</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線性 log-odds 組合</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葉節點上限 15，最少樣本 50</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50875">
                <a:tc>
                  <a:txBody>
                    <a:bodyPr/>
                    <a:lstStyle/>
                    <a:p>
                      <a:r>
                        <a:rPr sz="1800" b="0">
                          <a:solidFill>
                            <a:srgbClr val="142B43"/>
                          </a:solidFill>
                          <a:latin typeface="Heiti TC"/>
                          <a:ea typeface="Heiti TC"/>
                          <a:cs typeface="Heiti TC"/>
                        </a:rPr>
                        <a:t>比較規則</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驗證集取前 3,000 筆</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驗證集取前 3,000 筆</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Tree>
    <p:extLst>
      <p:ext uri="{BB962C8B-B14F-4D97-AF65-F5344CB8AC3E}">
        <p14:creationId xmlns:p14="http://schemas.microsoft.com/office/powerpoint/2010/main" val="8272239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4EFF48-228B-454E-8B9F-FD6C07C70044}"/>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基準混淆矩陣，177 筆缺陷觸發警報</a:t>
            </a:r>
          </a:p>
        </p:txBody>
      </p:sp>
      <p:sp>
        <p:nvSpPr>
          <p:cNvPr id="2" name="">
            <a:extLst xmlns:a="http://schemas.openxmlformats.org/drawingml/2006/main">
              <a:ext uri="{FF2B5EF4-FFF2-40B4-BE49-F238E27FC236}">
                <a16:creationId xmlns:a16="http://schemas.microsoft.com/office/drawing/2014/main" id="{E18D274B-0FD7-4AC7-B896-F0E083CF5A39}"/>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9EC61879-77B7-4603-8EB9-23E5F4BAE2F7}"/>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11</a:t>
            </a:r>
          </a:p>
        </p:txBody>
      </p:sp>
      <p:pic>
        <p:nvPicPr>
          <p:cNvPr id="4" name="">
            <a:extLst xmlns:a="http://schemas.openxmlformats.org/drawingml/2006/main">
              <a:ext uri="{FF2B5EF4-FFF2-40B4-BE49-F238E27FC236}">
                <a16:creationId xmlns:a16="http://schemas.microsoft.com/office/drawing/2014/main" id="{9C939E27-960F-4B87-9196-408B0E1BA24C}"/>
              </a:ext>
            </a:extLst>
          </p:cNvPr>
          <p:cNvPicPr>
            <a:picLocks xmlns:a="http://schemas.openxmlformats.org/drawingml/2006/main" noChangeAspect="1"/>
          </p:cNvPicPr>
          <p:nvPr/>
        </p:nvPicPr>
        <p:blipFill>
          <a:blip xmlns:r="http://schemas.openxmlformats.org/officeDocument/2006/relationships" xmlns:a="http://schemas.openxmlformats.org/drawingml/2006/main" r:embed="R270dc089eac64adc"/>
          <a:srcRect xmlns:a="http://schemas.openxmlformats.org/drawingml/2006/main" l="0" t="0" r="51256" b="0"/>
          <a:stretch xmlns:a="http://schemas.openxmlformats.org/drawingml/2006/main"/>
        </p:blipFill>
        <p:spPr>
          <a:xfrm xmlns:a="http://schemas.openxmlformats.org/drawingml/2006/main">
            <a:off x="1076818" y="1381125"/>
            <a:ext cx="5256815"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93433E7-2573-4AF3-BD3C-CF02248B7C96}"/>
              </a:ext>
            </a:extLst>
          </p:cNvPr>
          <p:cNvSpPr>
            <a:spLocks xmlns:a="http://schemas.openxmlformats.org/drawingml/2006/main" noGrp="1"/>
          </p:cNvSpPr>
          <p:nvPr/>
        </p:nvSpPr>
        <p:spPr>
          <a:xfrm xmlns:a="http://schemas.openxmlformats.org/drawingml/2006/main">
            <a:off x="7239000" y="18097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142B43"/>
                </a:solidFill>
                <a:latin typeface="Heiti TC"/>
                <a:ea typeface="Heiti TC"/>
                <a:cs typeface="Heiti TC"/>
              </a:defRPr>
            </a:defPPr>
          </a:lstStyle>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250 次警報</a:t>
            </a:r>
          </a:p>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177 筆缺陷，73 筆誤報</a:t>
            </a:r>
          </a:p>
        </p:txBody>
      </p:sp>
      <p:sp>
        <p:nvSpPr>
          <p:cNvPr id="6" name="">
            <a:extLst xmlns:a="http://schemas.openxmlformats.org/drawingml/2006/main">
              <a:ext uri="{FF2B5EF4-FFF2-40B4-BE49-F238E27FC236}">
                <a16:creationId xmlns:a16="http://schemas.microsoft.com/office/drawing/2014/main" id="{DB95D848-B799-4A39-91FA-45AB9E9B0F84}"/>
              </a:ext>
            </a:extLst>
          </p:cNvPr>
          <p:cNvSpPr>
            <a:spLocks xmlns:a="http://schemas.openxmlformats.org/drawingml/2006/main" noGrp="1"/>
          </p:cNvSpPr>
          <p:nvPr/>
        </p:nvSpPr>
        <p:spPr>
          <a:xfrm xmlns:a="http://schemas.openxmlformats.org/drawingml/2006/main">
            <a:off x="7239000" y="333375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087F8C"/>
                </a:solidFill>
                <a:latin typeface="Heiti TC"/>
                <a:ea typeface="Heiti TC"/>
                <a:cs typeface="Heiti TC"/>
              </a:defRPr>
            </a:defPPr>
          </a:lstStyle>
          <a:p xmlns:a="http://schemas.openxmlformats.org/drawingml/2006/main">
            <a:pPr>
              <a:defRPr sz="2400" b="0">
                <a:solidFill>
                  <a:srgbClr val="087F8C"/>
                </a:solidFill>
                <a:latin typeface="Heiti TC"/>
                <a:ea typeface="Heiti TC"/>
                <a:cs typeface="Heiti TC"/>
              </a:defRPr>
            </a:pPr>
            <a:r>
              <a:rPr sz="2400" b="0">
                <a:solidFill>
                  <a:srgbClr val="087F8C"/>
                </a:solidFill>
                <a:latin typeface="Heiti TC"/>
                <a:ea typeface="Heiti TC"/>
                <a:cs typeface="Heiti TC"/>
              </a:rPr>
              <a:t>Precision</a:t>
            </a:r>
          </a:p>
          <a:p xmlns:a="http://schemas.openxmlformats.org/drawingml/2006/main">
            <a:pPr>
              <a:defRPr sz="2400" b="0">
                <a:solidFill>
                  <a:srgbClr val="087F8C"/>
                </a:solidFill>
                <a:latin typeface="Heiti TC"/>
                <a:ea typeface="Heiti TC"/>
                <a:cs typeface="Heiti TC"/>
              </a:defRPr>
            </a:pPr>
            <a:r>
              <a:rPr sz="2400" b="0">
                <a:solidFill>
                  <a:srgbClr val="087F8C"/>
                </a:solidFill>
                <a:latin typeface="Heiti TC"/>
                <a:ea typeface="Heiti TC"/>
                <a:cs typeface="Heiti TC"/>
              </a:rPr>
              <a:t>177 ÷ 250＝70.8%</a:t>
            </a:r>
          </a:p>
        </p:txBody>
      </p:sp>
      <p:sp>
        <p:nvSpPr>
          <p:cNvPr id="7" name="">
            <a:extLst xmlns:a="http://schemas.openxmlformats.org/drawingml/2006/main">
              <a:ext uri="{FF2B5EF4-FFF2-40B4-BE49-F238E27FC236}">
                <a16:creationId xmlns:a16="http://schemas.microsoft.com/office/drawing/2014/main" id="{227DE604-D122-496B-85DC-7E13B9566930}"/>
              </a:ext>
            </a:extLst>
          </p:cNvPr>
          <p:cNvSpPr>
            <a:spLocks xmlns:a="http://schemas.openxmlformats.org/drawingml/2006/main" noGrp="1"/>
          </p:cNvSpPr>
          <p:nvPr/>
        </p:nvSpPr>
        <p:spPr>
          <a:xfrm xmlns:a="http://schemas.openxmlformats.org/drawingml/2006/main">
            <a:off x="7239000" y="4714875"/>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42B43"/>
                </a:solidFill>
                <a:latin typeface="Heiti TC"/>
                <a:ea typeface="Heiti TC"/>
                <a:cs typeface="Heiti TC"/>
              </a:defRPr>
            </a:defPPr>
          </a:lstStyle>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Recall</a:t>
            </a:r>
          </a:p>
          <a:p xmlns:a="http://schemas.openxmlformats.org/drawingml/2006/main">
            <a:pPr>
              <a:defRPr sz="2400" b="0">
                <a:solidFill>
                  <a:srgbClr val="142B43"/>
                </a:solidFill>
                <a:latin typeface="Heiti TC"/>
                <a:ea typeface="Heiti TC"/>
                <a:cs typeface="Heiti TC"/>
              </a:defRPr>
            </a:pPr>
            <a:r>
              <a:rPr sz="2400" b="0">
                <a:solidFill>
                  <a:srgbClr val="142B43"/>
                </a:solidFill>
                <a:latin typeface="Heiti TC"/>
                <a:ea typeface="Heiti TC"/>
                <a:cs typeface="Heiti TC"/>
              </a:rPr>
              <a:t>177 ÷ 1,653＝10.7%</a:t>
            </a:r>
          </a:p>
        </p:txBody>
      </p:sp>
    </p:spTree>
    <p:extLst>
      <p:ext uri="{BB962C8B-B14F-4D97-AF65-F5344CB8AC3E}">
        <p14:creationId xmlns:p14="http://schemas.microsoft.com/office/powerpoint/2010/main" val="37846327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CF4DA92-03A7-40E8-B657-86B37F0A0905}"/>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基準 PR 曲線，觀察門檻下的比例</a:t>
            </a:r>
          </a:p>
        </p:txBody>
      </p:sp>
      <p:sp>
        <p:nvSpPr>
          <p:cNvPr id="2" name="">
            <a:extLst xmlns:a="http://schemas.openxmlformats.org/drawingml/2006/main">
              <a:ext uri="{FF2B5EF4-FFF2-40B4-BE49-F238E27FC236}">
                <a16:creationId xmlns:a16="http://schemas.microsoft.com/office/drawing/2014/main" id="{DBB81450-0D04-4A69-8B7C-128134B172ED}"/>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7408542A-1055-4D53-BE7D-75E91035428C}"/>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12</a:t>
            </a:r>
          </a:p>
        </p:txBody>
      </p:sp>
      <p:pic>
        <p:nvPicPr>
          <p:cNvPr id="4" name="">
            <a:extLst xmlns:a="http://schemas.openxmlformats.org/drawingml/2006/main">
              <a:ext uri="{FF2B5EF4-FFF2-40B4-BE49-F238E27FC236}">
                <a16:creationId xmlns:a16="http://schemas.microsoft.com/office/drawing/2014/main" id="{138FDCD4-28B2-442E-93FA-54B65EC342C0}"/>
              </a:ext>
            </a:extLst>
          </p:cNvPr>
          <p:cNvPicPr>
            <a:picLocks xmlns:a="http://schemas.openxmlformats.org/drawingml/2006/main" noChangeAspect="1"/>
          </p:cNvPicPr>
          <p:nvPr/>
        </p:nvPicPr>
        <p:blipFill>
          <a:blip xmlns:r="http://schemas.openxmlformats.org/officeDocument/2006/relationships" xmlns:a="http://schemas.openxmlformats.org/drawingml/2006/main" r:embed="R0780666ae2594eb1"/>
          <a:srcRect xmlns:a="http://schemas.openxmlformats.org/drawingml/2006/main" l="48375" t="0" r="0" b="0"/>
          <a:stretch xmlns:a="http://schemas.openxmlformats.org/drawingml/2006/main"/>
        </p:blipFill>
        <p:spPr>
          <a:xfrm xmlns:a="http://schemas.openxmlformats.org/drawingml/2006/main">
            <a:off x="921503" y="1381125"/>
            <a:ext cx="5567445"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582E90C-8990-41A2-9BF7-550550B227DA}"/>
              </a:ext>
            </a:extLst>
          </p:cNvPr>
          <p:cNvSpPr>
            <a:spLocks xmlns:a="http://schemas.openxmlformats.org/drawingml/2006/main" noGrp="1"/>
          </p:cNvSpPr>
          <p:nvPr/>
        </p:nvSpPr>
        <p:spPr>
          <a:xfrm xmlns:a="http://schemas.openxmlformats.org/drawingml/2006/main">
            <a:off x="7334250" y="171450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42B43"/>
                </a:solidFill>
                <a:latin typeface="Heiti TC"/>
                <a:ea typeface="Heiti TC"/>
                <a:cs typeface="Heiti TC"/>
              </a:defRPr>
            </a:defPPr>
          </a:lstStyle>
          <a:p xmlns:a="http://schemas.openxmlformats.org/drawingml/2006/main">
            <a:pPr>
              <a:defRPr sz="2250" b="0">
                <a:solidFill>
                  <a:srgbClr val="142B43"/>
                </a:solidFill>
                <a:latin typeface="Heiti TC"/>
                <a:ea typeface="Heiti TC"/>
                <a:cs typeface="Heiti TC"/>
              </a:defRPr>
            </a:pPr>
            <a:r>
              <a:rPr sz="2250" b="0">
                <a:solidFill>
                  <a:srgbClr val="142B43"/>
                </a:solidFill>
                <a:latin typeface="Heiti TC"/>
                <a:ea typeface="Heiti TC"/>
                <a:cs typeface="Heiti TC"/>
              </a:rPr>
              <a:t>X 軸：Recall</a:t>
            </a:r>
          </a:p>
          <a:p xmlns:a="http://schemas.openxmlformats.org/drawingml/2006/main">
            <a:pPr>
              <a:defRPr sz="2250" b="0">
                <a:solidFill>
                  <a:srgbClr val="142B43"/>
                </a:solidFill>
                <a:latin typeface="Heiti TC"/>
                <a:ea typeface="Heiti TC"/>
                <a:cs typeface="Heiti TC"/>
              </a:defRPr>
            </a:pPr>
            <a:r>
              <a:rPr sz="2250" b="0">
                <a:solidFill>
                  <a:srgbClr val="142B43"/>
                </a:solidFill>
                <a:latin typeface="Heiti TC"/>
                <a:ea typeface="Heiti TC"/>
                <a:cs typeface="Heiti TC"/>
              </a:rPr>
              <a:t>全部缺陷的涵蓋比例</a:t>
            </a:r>
          </a:p>
        </p:txBody>
      </p:sp>
      <p:sp>
        <p:nvSpPr>
          <p:cNvPr id="6" name="">
            <a:extLst xmlns:a="http://schemas.openxmlformats.org/drawingml/2006/main">
              <a:ext uri="{FF2B5EF4-FFF2-40B4-BE49-F238E27FC236}">
                <a16:creationId xmlns:a16="http://schemas.microsoft.com/office/drawing/2014/main" id="{44396EEB-1FDB-4EBB-B3A7-53203A01DBD4}"/>
              </a:ext>
            </a:extLst>
          </p:cNvPr>
          <p:cNvSpPr>
            <a:spLocks xmlns:a="http://schemas.openxmlformats.org/drawingml/2006/main" noGrp="1"/>
          </p:cNvSpPr>
          <p:nvPr/>
        </p:nvSpPr>
        <p:spPr>
          <a:xfrm xmlns:a="http://schemas.openxmlformats.org/drawingml/2006/main">
            <a:off x="7334250" y="3190875"/>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42B43"/>
                </a:solidFill>
                <a:latin typeface="Heiti TC"/>
                <a:ea typeface="Heiti TC"/>
                <a:cs typeface="Heiti TC"/>
              </a:defRPr>
            </a:defPPr>
          </a:lstStyle>
          <a:p xmlns:a="http://schemas.openxmlformats.org/drawingml/2006/main">
            <a:pPr>
              <a:defRPr sz="2250" b="0">
                <a:solidFill>
                  <a:srgbClr val="142B43"/>
                </a:solidFill>
                <a:latin typeface="Heiti TC"/>
                <a:ea typeface="Heiti TC"/>
                <a:cs typeface="Heiti TC"/>
              </a:defRPr>
            </a:pPr>
            <a:r>
              <a:rPr sz="2250" b="0">
                <a:solidFill>
                  <a:srgbClr val="142B43"/>
                </a:solidFill>
                <a:latin typeface="Heiti TC"/>
                <a:ea typeface="Heiti TC"/>
                <a:cs typeface="Heiti TC"/>
              </a:rPr>
              <a:t>Y 軸：Precision</a:t>
            </a:r>
          </a:p>
          <a:p xmlns:a="http://schemas.openxmlformats.org/drawingml/2006/main">
            <a:pPr>
              <a:defRPr sz="2250" b="0">
                <a:solidFill>
                  <a:srgbClr val="142B43"/>
                </a:solidFill>
                <a:latin typeface="Heiti TC"/>
                <a:ea typeface="Heiti TC"/>
                <a:cs typeface="Heiti TC"/>
              </a:defRPr>
            </a:pPr>
            <a:r>
              <a:rPr sz="2250" b="0">
                <a:solidFill>
                  <a:srgbClr val="142B43"/>
                </a:solidFill>
                <a:latin typeface="Heiti TC"/>
                <a:ea typeface="Heiti TC"/>
                <a:cs typeface="Heiti TC"/>
              </a:rPr>
              <a:t>警報中的缺陷比例</a:t>
            </a:r>
          </a:p>
        </p:txBody>
      </p:sp>
      <p:sp>
        <p:nvSpPr>
          <p:cNvPr id="7" name="">
            <a:extLst xmlns:a="http://schemas.openxmlformats.org/drawingml/2006/main">
              <a:ext uri="{FF2B5EF4-FFF2-40B4-BE49-F238E27FC236}">
                <a16:creationId xmlns:a16="http://schemas.microsoft.com/office/drawing/2014/main" id="{A48A3816-4263-4C4F-9D14-21AF22CBF7E6}"/>
              </a:ext>
            </a:extLst>
          </p:cNvPr>
          <p:cNvSpPr>
            <a:spLocks xmlns:a="http://schemas.openxmlformats.org/drawingml/2006/main" noGrp="1"/>
          </p:cNvSpPr>
          <p:nvPr/>
        </p:nvSpPr>
        <p:spPr>
          <a:xfrm xmlns:a="http://schemas.openxmlformats.org/drawingml/2006/main">
            <a:off x="7334250" y="4714875"/>
            <a:ext cx="409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087F8C"/>
                </a:solidFill>
                <a:latin typeface="Heiti TC"/>
                <a:ea typeface="Heiti TC"/>
                <a:cs typeface="Heiti TC"/>
              </a:defRPr>
            </a:defPPr>
          </a:lstStyle>
          <a:p xmlns:a="http://schemas.openxmlformats.org/drawingml/2006/main">
            <a:pPr>
              <a:defRPr sz="2550" b="1">
                <a:solidFill>
                  <a:srgbClr val="087F8C"/>
                </a:solidFill>
                <a:latin typeface="Heiti TC"/>
                <a:ea typeface="Heiti TC"/>
                <a:cs typeface="Heiti TC"/>
              </a:defRPr>
            </a:pPr>
            <a:r>
              <a:rPr sz="2550" b="1">
                <a:solidFill>
                  <a:srgbClr val="087F8C"/>
                </a:solidFill>
                <a:latin typeface="Heiti TC"/>
                <a:ea typeface="Heiti TC"/>
                <a:cs typeface="Heiti TC"/>
              </a:rPr>
              <a:t>灰線 11.02%</a:t>
            </a:r>
          </a:p>
          <a:p xmlns:a="http://schemas.openxmlformats.org/drawingml/2006/main">
            <a:pPr>
              <a:defRPr sz="2550" b="1">
                <a:solidFill>
                  <a:srgbClr val="087F8C"/>
                </a:solidFill>
                <a:latin typeface="Heiti TC"/>
                <a:ea typeface="Heiti TC"/>
                <a:cs typeface="Heiti TC"/>
              </a:defRPr>
            </a:pPr>
            <a:r>
              <a:rPr sz="2550" b="1">
                <a:solidFill>
                  <a:srgbClr val="087F8C"/>
                </a:solidFill>
                <a:latin typeface="Heiti TC"/>
                <a:ea typeface="Heiti TC"/>
                <a:cs typeface="Heiti TC"/>
              </a:rPr>
              <a:t>AP＝0.421</a:t>
            </a:r>
          </a:p>
        </p:txBody>
      </p:sp>
    </p:spTree>
    <p:extLst>
      <p:ext uri="{BB962C8B-B14F-4D97-AF65-F5344CB8AC3E}">
        <p14:creationId xmlns:p14="http://schemas.microsoft.com/office/powerpoint/2010/main" val="178360975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653F290-EA58-4621-9300-C5EA76387611}"/>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門檻變化，同時改變涵蓋率與誤報</a:t>
            </a:r>
          </a:p>
        </p:txBody>
      </p:sp>
      <p:sp>
        <p:nvSpPr>
          <p:cNvPr id="2" name="">
            <a:extLst xmlns:a="http://schemas.openxmlformats.org/drawingml/2006/main">
              <a:ext uri="{FF2B5EF4-FFF2-40B4-BE49-F238E27FC236}">
                <a16:creationId xmlns:a16="http://schemas.microsoft.com/office/drawing/2014/main" id="{00F1E2D2-CFC8-4770-A743-454A65472A10}"/>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57D84C1D-1E1A-4A64-9D2F-EFC200D06DDD}"/>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13</a:t>
            </a:r>
          </a:p>
        </p:txBody>
      </p:sp>
      <p:pic>
        <p:nvPicPr>
          <p:cNvPr id="4" name="">
            <a:extLst xmlns:a="http://schemas.openxmlformats.org/drawingml/2006/main">
              <a:ext uri="{FF2B5EF4-FFF2-40B4-BE49-F238E27FC236}">
                <a16:creationId xmlns:a16="http://schemas.microsoft.com/office/drawing/2014/main" id="{D1B79E1C-ECB6-4A5A-88CD-775AC7069557}"/>
              </a:ext>
            </a:extLst>
          </p:cNvPr>
          <p:cNvPicPr>
            <a:picLocks xmlns:a="http://schemas.openxmlformats.org/drawingml/2006/main" noChangeAspect="1"/>
          </p:cNvPicPr>
          <p:nvPr/>
        </p:nvPicPr>
        <p:blipFill>
          <a:blip xmlns:r="http://schemas.openxmlformats.org/officeDocument/2006/relationships" xmlns:a="http://schemas.openxmlformats.org/drawingml/2006/main" r:embed="R2a5e94958807435b"/>
          <a:srcRect xmlns:a="http://schemas.openxmlformats.org/drawingml/2006/main" l="0" t="0" r="0" b="0"/>
          <a:stretch xmlns:a="http://schemas.openxmlformats.org/drawingml/2006/main"/>
        </p:blipFill>
        <p:spPr>
          <a:xfrm xmlns:a="http://schemas.openxmlformats.org/drawingml/2006/main">
            <a:off x="784991" y="1476375"/>
            <a:ext cx="10622017" cy="4000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74FBE6A-626D-4408-B685-FE71051616AF}"/>
              </a:ext>
            </a:extLst>
          </p:cNvPr>
          <p:cNvSpPr>
            <a:spLocks xmlns:a="http://schemas.openxmlformats.org/drawingml/2006/main" noGrp="1"/>
          </p:cNvSpPr>
          <p:nvPr/>
        </p:nvSpPr>
        <p:spPr>
          <a:xfrm xmlns:a="http://schemas.openxmlformats.org/drawingml/2006/main">
            <a:off x="685800" y="57150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087F8C"/>
                </a:solidFill>
                <a:latin typeface="Heiti TC"/>
                <a:ea typeface="Heiti TC"/>
                <a:cs typeface="Heiti TC"/>
              </a:defRPr>
            </a:defPPr>
          </a:lstStyle>
          <a:p xmlns:a="http://schemas.openxmlformats.org/drawingml/2006/main">
            <a:pPr>
              <a:defRPr sz="1950" b="0">
                <a:solidFill>
                  <a:srgbClr val="087F8C"/>
                </a:solidFill>
                <a:latin typeface="Heiti TC"/>
                <a:ea typeface="Heiti TC"/>
                <a:cs typeface="Heiti TC"/>
              </a:defRPr>
            </a:pPr>
            <a:r>
              <a:rPr sz="1950" b="0">
                <a:solidFill>
                  <a:srgbClr val="087F8C"/>
                </a:solidFill>
                <a:latin typeface="Heiti TC"/>
                <a:ea typeface="Heiti TC"/>
                <a:cs typeface="Heiti TC"/>
              </a:rPr>
              <a:t>門檻 0.50 至 0.10，漏判 1,476 至 445，誤報 73 至 4,001</a:t>
            </a:r>
          </a:p>
        </p:txBody>
      </p:sp>
    </p:spTree>
    <p:extLst>
      <p:ext uri="{BB962C8B-B14F-4D97-AF65-F5344CB8AC3E}">
        <p14:creationId xmlns:p14="http://schemas.microsoft.com/office/powerpoint/2010/main" val="4239707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D8A9BE-7B4F-4451-85AB-1709B2D56468}"/>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門檻表，將比例換成檢查筆數</a:t>
            </a:r>
          </a:p>
        </p:txBody>
      </p:sp>
      <p:sp>
        <p:nvSpPr>
          <p:cNvPr id="2" name="">
            <a:extLst xmlns:a="http://schemas.openxmlformats.org/drawingml/2006/main">
              <a:ext uri="{FF2B5EF4-FFF2-40B4-BE49-F238E27FC236}">
                <a16:creationId xmlns:a16="http://schemas.microsoft.com/office/drawing/2014/main" id="{4F0A589F-E0DF-4D53-B424-09521FE64EA4}"/>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6B387D22-B59D-4BBB-A9D9-6F9CF45FFBD2}"/>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14</a:t>
            </a:r>
          </a:p>
        </p:txBody>
      </p:sp>
      <p:graphicFrame>
        <p:nvGraphicFramePr>
          <p:cNvPr id="4" name="">
            <a:extLst xmlns:a="http://schemas.openxmlformats.org/drawingml/2006/main">
              <a:ext uri="{FF2B5EF4-FFF2-40B4-BE49-F238E27FC236}">
                <a16:creationId xmlns:a16="http://schemas.microsoft.com/office/drawing/2014/main" id="{3ADA58CE-2D9A-4638-A37E-9B400F1B77A1}"/>
              </a:ext>
            </a:extLst>
          </p:cNvPr>
          <p:cNvGraphicFramePr/>
          <p:nvPr/>
        </p:nvGraphicFramePr>
        <p:xfrm>
          <a:off xmlns:a="http://schemas.openxmlformats.org/drawingml/2006/main" x="685800" y="1428750"/>
          <a:ext xmlns:a="http://schemas.openxmlformats.org/drawingml/2006/main" cx="10820400" cy="3810000"/>
        </p:xfrm>
        <a:graphic xmlns:a="http://schemas.openxmlformats.org/drawingml/2006/main">
          <a:graphicData uri="http://schemas.openxmlformats.org/drawingml/2006/table">
            <a:tbl>
              <a:tblPr/>
              <a:tblGrid>
                <a:gridCol w="1619250"/>
                <a:gridCol w="2286000"/>
                <a:gridCol w="2286000"/>
                <a:gridCol w="2286000"/>
                <a:gridCol w="2343150"/>
              </a:tblGrid>
              <a:tr h="476250">
                <a:tc>
                  <a:txBody>
                    <a:bodyPr/>
                    <a:lstStyle/>
                    <a:p>
                      <a:r>
                        <a:rPr sz="1800" b="1">
                          <a:solidFill>
                            <a:srgbClr val="FFFFFF"/>
                          </a:solidFill>
                          <a:latin typeface="Heiti TC"/>
                          <a:ea typeface="Heiti TC"/>
                          <a:cs typeface="Heiti TC"/>
                        </a:rPr>
                        <a:t>門檻</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找出缺陷</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漏判</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誤報</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警報總數</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476250">
                <a:tc>
                  <a:txBody>
                    <a:bodyPr/>
                    <a:lstStyle/>
                    <a:p>
                      <a:r>
                        <a:rPr sz="1800" b="0">
                          <a:solidFill>
                            <a:srgbClr val="142B43"/>
                          </a:solidFill>
                          <a:latin typeface="Heiti TC"/>
                          <a:ea typeface="Heiti TC"/>
                          <a:cs typeface="Heiti TC"/>
                        </a:rPr>
                        <a:t>0.05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1,465</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188</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7,232</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8,697</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76250">
                <a:tc>
                  <a:txBody>
                    <a:bodyPr/>
                    <a:lstStyle/>
                    <a:p>
                      <a:r>
                        <a:rPr sz="1800" b="0">
                          <a:solidFill>
                            <a:srgbClr val="142B43"/>
                          </a:solidFill>
                          <a:latin typeface="Heiti TC"/>
                          <a:ea typeface="Heiti TC"/>
                          <a:cs typeface="Heiti TC"/>
                        </a:rPr>
                        <a:t>0.10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1,208</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445</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4,001</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5,209</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476250">
                <a:tc>
                  <a:txBody>
                    <a:bodyPr/>
                    <a:lstStyle/>
                    <a:p>
                      <a:r>
                        <a:rPr sz="1800" b="0">
                          <a:solidFill>
                            <a:srgbClr val="142B43"/>
                          </a:solidFill>
                          <a:latin typeface="Heiti TC"/>
                          <a:ea typeface="Heiti TC"/>
                          <a:cs typeface="Heiti TC"/>
                        </a:rPr>
                        <a:t>0.15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1,009</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644</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2,327</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3,336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76250">
                <a:tc>
                  <a:txBody>
                    <a:bodyPr/>
                    <a:lstStyle/>
                    <a:p>
                      <a:r>
                        <a:rPr sz="1800" b="0">
                          <a:solidFill>
                            <a:srgbClr val="142B43"/>
                          </a:solidFill>
                          <a:latin typeface="Heiti TC"/>
                          <a:ea typeface="Heiti TC"/>
                          <a:cs typeface="Heiti TC"/>
                        </a:rPr>
                        <a:t>0.20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844</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809</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1,387</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2,231</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476250">
                <a:tc>
                  <a:txBody>
                    <a:bodyPr/>
                    <a:lstStyle/>
                    <a:p>
                      <a:r>
                        <a:rPr sz="1800" b="0">
                          <a:solidFill>
                            <a:srgbClr val="142B43"/>
                          </a:solidFill>
                          <a:latin typeface="Heiti TC"/>
                          <a:ea typeface="Heiti TC"/>
                          <a:cs typeface="Heiti TC"/>
                        </a:rPr>
                        <a:t>0.30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576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1,077</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580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1,156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76250">
                <a:tc>
                  <a:txBody>
                    <a:bodyPr/>
                    <a:lstStyle/>
                    <a:p>
                      <a:r>
                        <a:rPr sz="1800" b="0">
                          <a:solidFill>
                            <a:srgbClr val="142B43"/>
                          </a:solidFill>
                          <a:latin typeface="Heiti TC"/>
                          <a:ea typeface="Heiti TC"/>
                          <a:cs typeface="Heiti TC"/>
                        </a:rPr>
                        <a:t>0.40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352</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1,301</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214</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566</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476250">
                <a:tc>
                  <a:txBody>
                    <a:bodyPr/>
                    <a:lstStyle/>
                    <a:p>
                      <a:r>
                        <a:rPr sz="1800" b="0">
                          <a:solidFill>
                            <a:srgbClr val="142B43"/>
                          </a:solidFill>
                          <a:latin typeface="Heiti TC"/>
                          <a:ea typeface="Heiti TC"/>
                          <a:cs typeface="Heiti TC"/>
                        </a:rPr>
                        <a:t>0.50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177</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1,476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73</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250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45C1FC3-4E26-4809-8771-86F68FCF6ABE}"/>
              </a:ext>
            </a:extLst>
          </p:cNvPr>
          <p:cNvSpPr>
            <a:spLocks xmlns:a="http://schemas.openxmlformats.org/drawingml/2006/main" noGrp="1"/>
          </p:cNvSpPr>
          <p:nvPr/>
        </p:nvSpPr>
        <p:spPr>
          <a:xfrm xmlns:a="http://schemas.openxmlformats.org/drawingml/2006/main">
            <a:off x="685800" y="56197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087F8C"/>
                </a:solidFill>
                <a:latin typeface="Heiti TC"/>
                <a:ea typeface="Heiti TC"/>
                <a:cs typeface="Heiti TC"/>
              </a:defRPr>
            </a:defPPr>
          </a:lstStyle>
          <a:p xmlns:a="http://schemas.openxmlformats.org/drawingml/2006/main">
            <a:pPr>
              <a:defRPr sz="2100" b="0">
                <a:solidFill>
                  <a:srgbClr val="087F8C"/>
                </a:solidFill>
                <a:latin typeface="Heiti TC"/>
                <a:ea typeface="Heiti TC"/>
                <a:cs typeface="Heiti TC"/>
              </a:defRPr>
            </a:pPr>
            <a:r>
              <a:rPr sz="2100" b="0">
                <a:solidFill>
                  <a:srgbClr val="087F8C"/>
                </a:solidFill>
                <a:latin typeface="Heiti TC"/>
                <a:ea typeface="Heiti TC"/>
                <a:cs typeface="Heiti TC"/>
              </a:rPr>
              <a:t>0.50 至 0.10，多涵蓋 1,031 筆缺陷，增加 4,959 次警報</a:t>
            </a:r>
          </a:p>
        </p:txBody>
      </p:sp>
    </p:spTree>
    <p:extLst>
      <p:ext uri="{BB962C8B-B14F-4D97-AF65-F5344CB8AC3E}">
        <p14:creationId xmlns:p14="http://schemas.microsoft.com/office/powerpoint/2010/main" val="36355246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CC5536-D6CF-43A7-B036-D00BFF4CCE4B}"/>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固定 3,000 筆，梯度提升樹多涵蓋 268 筆</a:t>
            </a:r>
          </a:p>
        </p:txBody>
      </p:sp>
      <p:sp>
        <p:nvSpPr>
          <p:cNvPr id="2" name="">
            <a:extLst xmlns:a="http://schemas.openxmlformats.org/drawingml/2006/main">
              <a:ext uri="{FF2B5EF4-FFF2-40B4-BE49-F238E27FC236}">
                <a16:creationId xmlns:a16="http://schemas.microsoft.com/office/drawing/2014/main" id="{EB94306C-EEB2-4410-8CDE-C66E0C914695}"/>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C2B6A242-621D-4175-9189-36525F9D9CBA}"/>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15</a:t>
            </a:r>
          </a:p>
        </p:txBody>
      </p:sp>
      <p:pic>
        <p:nvPicPr>
          <p:cNvPr id="4" name="">
            <a:extLst xmlns:a="http://schemas.openxmlformats.org/drawingml/2006/main">
              <a:ext uri="{FF2B5EF4-FFF2-40B4-BE49-F238E27FC236}">
                <a16:creationId xmlns:a16="http://schemas.microsoft.com/office/drawing/2014/main" id="{C8438853-1B2D-4760-B78F-0433757EC4FD}"/>
              </a:ext>
            </a:extLst>
          </p:cNvPr>
          <p:cNvPicPr>
            <a:picLocks xmlns:a="http://schemas.openxmlformats.org/drawingml/2006/main" noChangeAspect="1"/>
          </p:cNvPicPr>
          <p:nvPr/>
        </p:nvPicPr>
        <p:blipFill>
          <a:blip xmlns:r="http://schemas.openxmlformats.org/officeDocument/2006/relationships" xmlns:a="http://schemas.openxmlformats.org/drawingml/2006/main" r:embed="R64a783fd073942d2"/>
          <a:srcRect xmlns:a="http://schemas.openxmlformats.org/drawingml/2006/main" l="0" t="0" r="0" b="0"/>
          <a:stretch xmlns:a="http://schemas.openxmlformats.org/drawingml/2006/main"/>
        </p:blipFill>
        <p:spPr>
          <a:xfrm xmlns:a="http://schemas.openxmlformats.org/drawingml/2006/main">
            <a:off x="916289" y="1381125"/>
            <a:ext cx="10359423" cy="4095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2EF9A30-C613-4478-9523-A0280C3CA9A8}"/>
              </a:ext>
            </a:extLst>
          </p:cNvPr>
          <p:cNvSpPr>
            <a:spLocks xmlns:a="http://schemas.openxmlformats.org/drawingml/2006/main" noGrp="1"/>
          </p:cNvSpPr>
          <p:nvPr/>
        </p:nvSpPr>
        <p:spPr>
          <a:xfrm xmlns:a="http://schemas.openxmlformats.org/drawingml/2006/main">
            <a:off x="685800" y="57150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7F8C"/>
                </a:solidFill>
                <a:latin typeface="Heiti TC"/>
                <a:ea typeface="Heiti TC"/>
                <a:cs typeface="Heiti TC"/>
              </a:defRPr>
            </a:defPPr>
          </a:lstStyle>
          <a:p xmlns:a="http://schemas.openxmlformats.org/drawingml/2006/main">
            <a:pPr>
              <a:defRPr sz="2250" b="0">
                <a:solidFill>
                  <a:srgbClr val="087F8C"/>
                </a:solidFill>
                <a:latin typeface="Heiti TC"/>
                <a:ea typeface="Heiti TC"/>
                <a:cs typeface="Heiti TC"/>
              </a:defRPr>
            </a:pPr>
            <a:r>
              <a:rPr sz="2250" b="0">
                <a:solidFill>
                  <a:srgbClr val="087F8C"/>
                </a:solidFill>
                <a:latin typeface="Heiti TC"/>
                <a:ea typeface="Heiti TC"/>
                <a:cs typeface="Heiti TC"/>
              </a:rPr>
              <a:t>AP 0.421 至 0.593，Recall 58.0% 至 74.2%</a:t>
            </a:r>
          </a:p>
        </p:txBody>
      </p:sp>
    </p:spTree>
    <p:extLst>
      <p:ext uri="{BB962C8B-B14F-4D97-AF65-F5344CB8AC3E}">
        <p14:creationId xmlns:p14="http://schemas.microsoft.com/office/powerpoint/2010/main" val="138905721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7AA61F-F3A4-475C-99E0-5C931D80F8B2}"/>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測試評估，1,927 筆缺陷進入檢查清單</a:t>
            </a:r>
          </a:p>
        </p:txBody>
      </p:sp>
      <p:sp>
        <p:nvSpPr>
          <p:cNvPr id="2" name="">
            <a:extLst xmlns:a="http://schemas.openxmlformats.org/drawingml/2006/main">
              <a:ext uri="{FF2B5EF4-FFF2-40B4-BE49-F238E27FC236}">
                <a16:creationId xmlns:a16="http://schemas.microsoft.com/office/drawing/2014/main" id="{5E45F210-4EF0-41F8-A88A-FAA3BAB3E43C}"/>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71687DAE-4A31-4B3B-B86E-0969013FEC2E}"/>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16</a:t>
            </a:r>
          </a:p>
        </p:txBody>
      </p:sp>
      <p:pic>
        <p:nvPicPr>
          <p:cNvPr id="4" name="">
            <a:extLst xmlns:a="http://schemas.openxmlformats.org/drawingml/2006/main">
              <a:ext uri="{FF2B5EF4-FFF2-40B4-BE49-F238E27FC236}">
                <a16:creationId xmlns:a16="http://schemas.microsoft.com/office/drawing/2014/main" id="{3CAC6723-3496-43B4-940C-E1AEE2BAEA6D}"/>
              </a:ext>
            </a:extLst>
          </p:cNvPr>
          <p:cNvPicPr>
            <a:picLocks xmlns:a="http://schemas.openxmlformats.org/drawingml/2006/main" noChangeAspect="1"/>
          </p:cNvPicPr>
          <p:nvPr/>
        </p:nvPicPr>
        <p:blipFill>
          <a:blip xmlns:r="http://schemas.openxmlformats.org/officeDocument/2006/relationships" xmlns:a="http://schemas.openxmlformats.org/drawingml/2006/main" r:embed="R170d55addfbd43e9"/>
          <a:srcRect xmlns:a="http://schemas.openxmlformats.org/drawingml/2006/main" l="0" t="0" r="0" b="0"/>
          <a:stretch xmlns:a="http://schemas.openxmlformats.org/drawingml/2006/main"/>
        </p:blipFill>
        <p:spPr>
          <a:xfrm xmlns:a="http://schemas.openxmlformats.org/drawingml/2006/main">
            <a:off x="884511" y="1381125"/>
            <a:ext cx="10422978" cy="4095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AF0BD4C-06F1-4F61-AC56-925574CDF0BA}"/>
              </a:ext>
            </a:extLst>
          </p:cNvPr>
          <p:cNvSpPr>
            <a:spLocks xmlns:a="http://schemas.openxmlformats.org/drawingml/2006/main" noGrp="1"/>
          </p:cNvSpPr>
          <p:nvPr/>
        </p:nvSpPr>
        <p:spPr>
          <a:xfrm xmlns:a="http://schemas.openxmlformats.org/drawingml/2006/main">
            <a:off x="685800" y="57150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087F8C"/>
                </a:solidFill>
                <a:latin typeface="Heiti TC"/>
                <a:ea typeface="Heiti TC"/>
                <a:cs typeface="Heiti TC"/>
              </a:defRPr>
            </a:defPPr>
          </a:lstStyle>
          <a:p xmlns:a="http://schemas.openxmlformats.org/drawingml/2006/main">
            <a:pPr>
              <a:defRPr sz="2100" b="0">
                <a:solidFill>
                  <a:srgbClr val="087F8C"/>
                </a:solidFill>
                <a:latin typeface="Heiti TC"/>
                <a:ea typeface="Heiti TC"/>
                <a:cs typeface="Heiti TC"/>
              </a:defRPr>
            </a:pPr>
            <a:r>
              <a:rPr sz="2100" b="0">
                <a:solidFill>
                  <a:srgbClr val="087F8C"/>
                </a:solidFill>
                <a:latin typeface="Heiti TC"/>
                <a:ea typeface="Heiti TC"/>
                <a:cs typeface="Heiti TC"/>
              </a:rPr>
              <a:t>3,000 筆清單包含 1,927 筆缺陷與 1,073 筆無缺陷紀錄</a:t>
            </a:r>
          </a:p>
        </p:txBody>
      </p:sp>
    </p:spTree>
    <p:extLst>
      <p:ext uri="{BB962C8B-B14F-4D97-AF65-F5344CB8AC3E}">
        <p14:creationId xmlns:p14="http://schemas.microsoft.com/office/powerpoint/2010/main" val="1778049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B8D8C05-D059-417B-B220-992920AD6451}"/>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測試指標，明確對應每個分母</a:t>
            </a:r>
          </a:p>
        </p:txBody>
      </p:sp>
      <p:sp>
        <p:nvSpPr>
          <p:cNvPr id="2" name="">
            <a:extLst xmlns:a="http://schemas.openxmlformats.org/drawingml/2006/main">
              <a:ext uri="{FF2B5EF4-FFF2-40B4-BE49-F238E27FC236}">
                <a16:creationId xmlns:a16="http://schemas.microsoft.com/office/drawing/2014/main" id="{E886D8CE-71A0-4E1F-BBC7-0A3BBFEC5A5D}"/>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54B9406F-B9A2-4574-9D35-0CB750B435DE}"/>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17</a:t>
            </a:r>
          </a:p>
        </p:txBody>
      </p:sp>
      <p:graphicFrame>
        <p:nvGraphicFramePr>
          <p:cNvPr id="4" name="">
            <a:extLst xmlns:a="http://schemas.openxmlformats.org/drawingml/2006/main">
              <a:ext uri="{FF2B5EF4-FFF2-40B4-BE49-F238E27FC236}">
                <a16:creationId xmlns:a16="http://schemas.microsoft.com/office/drawing/2014/main" id="{8129B866-0C9B-499C-A3BC-294D43198CA3}"/>
              </a:ext>
            </a:extLst>
          </p:cNvPr>
          <p:cNvGraphicFramePr/>
          <p:nvPr/>
        </p:nvGraphicFramePr>
        <p:xfrm>
          <a:off xmlns:a="http://schemas.openxmlformats.org/drawingml/2006/main" x="685800" y="1524000"/>
          <a:ext xmlns:a="http://schemas.openxmlformats.org/drawingml/2006/main" cx="10820400" cy="3905250"/>
        </p:xfrm>
        <a:graphic xmlns:a="http://schemas.openxmlformats.org/drawingml/2006/main">
          <a:graphicData uri="http://schemas.openxmlformats.org/drawingml/2006/table">
            <a:tbl>
              <a:tblPr/>
              <a:tblGrid>
                <a:gridCol w="3048000"/>
                <a:gridCol w="5238750"/>
                <a:gridCol w="2533650"/>
              </a:tblGrid>
              <a:tr h="650875">
                <a:tc>
                  <a:txBody>
                    <a:bodyPr/>
                    <a:lstStyle/>
                    <a:p>
                      <a:r>
                        <a:rPr sz="2025" b="1">
                          <a:solidFill>
                            <a:srgbClr val="FFFFFF"/>
                          </a:solidFill>
                          <a:latin typeface="Heiti TC"/>
                          <a:ea typeface="Heiti TC"/>
                          <a:cs typeface="Heiti TC"/>
                        </a:rPr>
                        <a:t>指標</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2025" b="1">
                          <a:solidFill>
                            <a:srgbClr val="FFFFFF"/>
                          </a:solidFill>
                          <a:latin typeface="Heiti TC"/>
                          <a:ea typeface="Heiti TC"/>
                          <a:cs typeface="Heiti TC"/>
                        </a:rPr>
                        <a:t>計算</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2025" b="1">
                          <a:solidFill>
                            <a:srgbClr val="FFFFFF"/>
                          </a:solidFill>
                          <a:latin typeface="Heiti TC"/>
                          <a:ea typeface="Heiti TC"/>
                          <a:cs typeface="Heiti TC"/>
                        </a:rPr>
                        <a:t>結果</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50875">
                <a:tc>
                  <a:txBody>
                    <a:bodyPr/>
                    <a:lstStyle/>
                    <a:p>
                      <a:r>
                        <a:rPr sz="2025" b="0">
                          <a:solidFill>
                            <a:srgbClr val="142B43"/>
                          </a:solidFill>
                          <a:latin typeface="Heiti TC"/>
                          <a:ea typeface="Heiti TC"/>
                          <a:cs typeface="Heiti TC"/>
                        </a:rPr>
                        <a:t>Precision</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2025" b="0">
                          <a:solidFill>
                            <a:srgbClr val="142B43"/>
                          </a:solidFill>
                          <a:latin typeface="Heiti TC"/>
                          <a:ea typeface="Heiti TC"/>
                          <a:cs typeface="Heiti TC"/>
                        </a:rPr>
                        <a:t>1,927 ÷ 3,000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2025" b="0">
                          <a:solidFill>
                            <a:srgbClr val="142B43"/>
                          </a:solidFill>
                          <a:latin typeface="Heiti TC"/>
                          <a:ea typeface="Heiti TC"/>
                          <a:cs typeface="Heiti TC"/>
                        </a:rPr>
                        <a:t>64.2%</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50875">
                <a:tc>
                  <a:txBody>
                    <a:bodyPr/>
                    <a:lstStyle/>
                    <a:p>
                      <a:r>
                        <a:rPr sz="2025" b="0">
                          <a:solidFill>
                            <a:srgbClr val="142B43"/>
                          </a:solidFill>
                          <a:latin typeface="Heiti TC"/>
                          <a:ea typeface="Heiti TC"/>
                          <a:cs typeface="Heiti TC"/>
                        </a:rPr>
                        <a:t>Recall</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2025" b="0">
                          <a:solidFill>
                            <a:srgbClr val="142B43"/>
                          </a:solidFill>
                          <a:latin typeface="Heiti TC"/>
                          <a:ea typeface="Heiti TC"/>
                          <a:cs typeface="Heiti TC"/>
                        </a:rPr>
                        <a:t>1,927 ÷ 2,657</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2025" b="0">
                          <a:solidFill>
                            <a:srgbClr val="142B43"/>
                          </a:solidFill>
                          <a:latin typeface="Heiti TC"/>
                          <a:ea typeface="Heiti TC"/>
                          <a:cs typeface="Heiti TC"/>
                        </a:rPr>
                        <a:t>72.5%</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50875">
                <a:tc>
                  <a:txBody>
                    <a:bodyPr/>
                    <a:lstStyle/>
                    <a:p>
                      <a:r>
                        <a:rPr sz="2025" b="0">
                          <a:solidFill>
                            <a:srgbClr val="142B43"/>
                          </a:solidFill>
                          <a:latin typeface="Heiti TC"/>
                          <a:ea typeface="Heiti TC"/>
                          <a:cs typeface="Heiti TC"/>
                        </a:rPr>
                        <a:t>清單外缺陷率</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2025" b="0">
                          <a:solidFill>
                            <a:srgbClr val="142B43"/>
                          </a:solidFill>
                          <a:latin typeface="Heiti TC"/>
                          <a:ea typeface="Heiti TC"/>
                          <a:cs typeface="Heiti TC"/>
                        </a:rPr>
                        <a:t>730 ÷ 12,000</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2025" b="0">
                          <a:solidFill>
                            <a:srgbClr val="142B43"/>
                          </a:solidFill>
                          <a:latin typeface="Heiti TC"/>
                          <a:ea typeface="Heiti TC"/>
                          <a:cs typeface="Heiti TC"/>
                        </a:rPr>
                        <a:t>6.08%</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50875">
                <a:tc>
                  <a:txBody>
                    <a:bodyPr/>
                    <a:lstStyle/>
                    <a:p>
                      <a:r>
                        <a:rPr sz="2025" b="0">
                          <a:solidFill>
                            <a:srgbClr val="142B43"/>
                          </a:solidFill>
                          <a:latin typeface="Heiti TC"/>
                          <a:ea typeface="Heiti TC"/>
                          <a:cs typeface="Heiti TC"/>
                        </a:rPr>
                        <a:t>隨機選取的預期缺陷</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2025" b="0">
                          <a:solidFill>
                            <a:srgbClr val="142B43"/>
                          </a:solidFill>
                          <a:latin typeface="Heiti TC"/>
                          <a:ea typeface="Heiti TC"/>
                          <a:cs typeface="Heiti TC"/>
                        </a:rPr>
                        <a:t>3,000 ×（2,657 ÷ 15,000）</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2025" b="0">
                          <a:solidFill>
                            <a:srgbClr val="142B43"/>
                          </a:solidFill>
                          <a:latin typeface="Heiti TC"/>
                          <a:ea typeface="Heiti TC"/>
                          <a:cs typeface="Heiti TC"/>
                        </a:rPr>
                        <a:t>531.4 筆</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50875">
                <a:tc>
                  <a:txBody>
                    <a:bodyPr/>
                    <a:lstStyle/>
                    <a:p>
                      <a:r>
                        <a:rPr sz="2025" b="0">
                          <a:solidFill>
                            <a:srgbClr val="142B43"/>
                          </a:solidFill>
                          <a:latin typeface="Heiti TC"/>
                          <a:ea typeface="Heiti TC"/>
                          <a:cs typeface="Heiti TC"/>
                        </a:rPr>
                        <a:t>Lift</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2025" b="0">
                          <a:solidFill>
                            <a:srgbClr val="142B43"/>
                          </a:solidFill>
                          <a:latin typeface="Heiti TC"/>
                          <a:ea typeface="Heiti TC"/>
                          <a:cs typeface="Heiti TC"/>
                        </a:rPr>
                        <a:t>1,927 ÷ 531.4</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2025" b="0">
                          <a:solidFill>
                            <a:srgbClr val="142B43"/>
                          </a:solidFill>
                          <a:latin typeface="Heiti TC"/>
                          <a:ea typeface="Heiti TC"/>
                          <a:cs typeface="Heiti TC"/>
                        </a:rPr>
                        <a:t>3.63 倍</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Tree>
    <p:extLst>
      <p:ext uri="{BB962C8B-B14F-4D97-AF65-F5344CB8AC3E}">
        <p14:creationId xmlns:p14="http://schemas.microsoft.com/office/powerpoint/2010/main" val="39035166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7BC4830-04EF-4CEF-9151-7C58FE30790F}"/>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置換重要性，對準誤差的 AP 損失最大</a:t>
            </a:r>
          </a:p>
        </p:txBody>
      </p:sp>
      <p:sp>
        <p:nvSpPr>
          <p:cNvPr id="2" name="">
            <a:extLst xmlns:a="http://schemas.openxmlformats.org/drawingml/2006/main">
              <a:ext uri="{FF2B5EF4-FFF2-40B4-BE49-F238E27FC236}">
                <a16:creationId xmlns:a16="http://schemas.microsoft.com/office/drawing/2014/main" id="{065DB6FF-905C-44BE-9723-C084376A8462}"/>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4425087D-92C3-42D1-BD3B-488C2BF3C117}"/>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18</a:t>
            </a:r>
          </a:p>
        </p:txBody>
      </p:sp>
      <p:pic>
        <p:nvPicPr>
          <p:cNvPr id="4" name="">
            <a:extLst xmlns:a="http://schemas.openxmlformats.org/drawingml/2006/main">
              <a:ext uri="{FF2B5EF4-FFF2-40B4-BE49-F238E27FC236}">
                <a16:creationId xmlns:a16="http://schemas.microsoft.com/office/drawing/2014/main" id="{BFD2AB53-5035-413A-AA8A-99AD5350D8D0}"/>
              </a:ext>
            </a:extLst>
          </p:cNvPr>
          <p:cNvPicPr>
            <a:picLocks xmlns:a="http://schemas.openxmlformats.org/drawingml/2006/main" noChangeAspect="1"/>
          </p:cNvPicPr>
          <p:nvPr/>
        </p:nvPicPr>
        <p:blipFill>
          <a:blip xmlns:r="http://schemas.openxmlformats.org/officeDocument/2006/relationships" xmlns:a="http://schemas.openxmlformats.org/drawingml/2006/main" r:embed="R1417ecde26684c35"/>
          <a:srcRect xmlns:a="http://schemas.openxmlformats.org/drawingml/2006/main" l="0" t="0" r="0" b="0"/>
          <a:stretch xmlns:a="http://schemas.openxmlformats.org/drawingml/2006/main"/>
        </p:blipFill>
        <p:spPr>
          <a:xfrm xmlns:a="http://schemas.openxmlformats.org/drawingml/2006/main">
            <a:off x="2309813" y="1381125"/>
            <a:ext cx="7572375" cy="4143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F6FA08B-AF86-4316-94FE-D6FA14D70B97}"/>
              </a:ext>
            </a:extLst>
          </p:cNvPr>
          <p:cNvSpPr>
            <a:spLocks xmlns:a="http://schemas.openxmlformats.org/drawingml/2006/main" noGrp="1"/>
          </p:cNvSpPr>
          <p:nvPr/>
        </p:nvSpPr>
        <p:spPr>
          <a:xfrm xmlns:a="http://schemas.openxmlformats.org/drawingml/2006/main">
            <a:off x="685800" y="57150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7F8C"/>
                </a:solidFill>
                <a:latin typeface="Heiti TC"/>
                <a:ea typeface="Heiti TC"/>
                <a:cs typeface="Heiti TC"/>
              </a:defRPr>
            </a:defPPr>
          </a:lstStyle>
          <a:p xmlns:a="http://schemas.openxmlformats.org/drawingml/2006/main">
            <a:pPr>
              <a:defRPr sz="2250" b="0">
                <a:solidFill>
                  <a:srgbClr val="087F8C"/>
                </a:solidFill>
                <a:latin typeface="Heiti TC"/>
                <a:ea typeface="Heiti TC"/>
                <a:cs typeface="Heiti TC"/>
              </a:defRPr>
            </a:pPr>
            <a:r>
              <a:rPr sz="2250" b="0">
                <a:solidFill>
                  <a:srgbClr val="087F8C"/>
                </a:solidFill>
                <a:latin typeface="Heiti TC"/>
                <a:ea typeface="Heiti TC"/>
                <a:cs typeface="Heiti TC"/>
              </a:rPr>
              <a:t>對準誤差打亂後，AP 約由 0.593 降至 0.269</a:t>
            </a:r>
          </a:p>
        </p:txBody>
      </p:sp>
    </p:spTree>
    <p:extLst>
      <p:ext uri="{BB962C8B-B14F-4D97-AF65-F5344CB8AC3E}">
        <p14:creationId xmlns:p14="http://schemas.microsoft.com/office/powerpoint/2010/main" val="5401434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476B9F-E988-424F-8B1E-934D514ED896}"/>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PDP，對準誤差增加時模型反應上升</a:t>
            </a:r>
          </a:p>
        </p:txBody>
      </p:sp>
      <p:sp>
        <p:nvSpPr>
          <p:cNvPr id="2" name="">
            <a:extLst xmlns:a="http://schemas.openxmlformats.org/drawingml/2006/main">
              <a:ext uri="{FF2B5EF4-FFF2-40B4-BE49-F238E27FC236}">
                <a16:creationId xmlns:a16="http://schemas.microsoft.com/office/drawing/2014/main" id="{985D4FBC-626A-4389-9B72-69CED07A2F49}"/>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99CEBC13-0635-4095-A671-70F15D80012C}"/>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19</a:t>
            </a:r>
          </a:p>
        </p:txBody>
      </p:sp>
      <p:pic>
        <p:nvPicPr>
          <p:cNvPr id="4" name="">
            <a:extLst xmlns:a="http://schemas.openxmlformats.org/drawingml/2006/main">
              <a:ext uri="{FF2B5EF4-FFF2-40B4-BE49-F238E27FC236}">
                <a16:creationId xmlns:a16="http://schemas.microsoft.com/office/drawing/2014/main" id="{8C3C9AC7-57D7-4E80-A749-0D53D2C8C3C8}"/>
              </a:ext>
            </a:extLst>
          </p:cNvPr>
          <p:cNvPicPr>
            <a:picLocks xmlns:a="http://schemas.openxmlformats.org/drawingml/2006/main" noChangeAspect="1"/>
          </p:cNvPicPr>
          <p:nvPr/>
        </p:nvPicPr>
        <p:blipFill>
          <a:blip xmlns:r="http://schemas.openxmlformats.org/officeDocument/2006/relationships" xmlns:a="http://schemas.openxmlformats.org/drawingml/2006/main" r:embed="R505e87f942d440a6"/>
          <a:srcRect xmlns:a="http://schemas.openxmlformats.org/drawingml/2006/main" l="0" t="8475" r="66579" b="0"/>
          <a:stretch xmlns:a="http://schemas.openxmlformats.org/drawingml/2006/main"/>
        </p:blipFill>
        <p:spPr>
          <a:xfrm xmlns:a="http://schemas.openxmlformats.org/drawingml/2006/main">
            <a:off x="1151555" y="1381125"/>
            <a:ext cx="5488340" cy="4667250"/>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9D4F9597-D055-489E-A684-E2EC196979D3}"/>
              </a:ext>
            </a:extLst>
          </p:cNvPr>
          <p:cNvGraphicFramePr/>
          <p:nvPr/>
        </p:nvGraphicFramePr>
        <p:xfrm>
          <a:off xmlns:a="http://schemas.openxmlformats.org/drawingml/2006/main" x="7620000" y="1809750"/>
          <a:ext xmlns:a="http://schemas.openxmlformats.org/drawingml/2006/main" cx="3810000" cy="3143250"/>
        </p:xfrm>
        <a:graphic xmlns:a="http://schemas.openxmlformats.org/drawingml/2006/main">
          <a:graphicData uri="http://schemas.openxmlformats.org/drawingml/2006/table">
            <a:tbl>
              <a:tblPr/>
              <a:tblGrid>
                <a:gridCol w="1905000"/>
                <a:gridCol w="1905000"/>
              </a:tblGrid>
              <a:tr h="628650">
                <a:tc>
                  <a:txBody>
                    <a:bodyPr/>
                    <a:lstStyle/>
                    <a:p>
                      <a:r>
                        <a:rPr sz="1950" b="1">
                          <a:solidFill>
                            <a:srgbClr val="FFFFFF"/>
                          </a:solidFill>
                          <a:latin typeface="Heiti TC"/>
                          <a:ea typeface="Heiti TC"/>
                          <a:cs typeface="Heiti TC"/>
                        </a:rPr>
                        <a:t>指定誤差值</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950" b="1">
                          <a:solidFill>
                            <a:srgbClr val="FFFFFF"/>
                          </a:solidFill>
                          <a:latin typeface="Heiti TC"/>
                          <a:ea typeface="Heiti TC"/>
                          <a:cs typeface="Heiti TC"/>
                        </a:rPr>
                        <a:t>平均反應約</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28650">
                <a:tc>
                  <a:txBody>
                    <a:bodyPr/>
                    <a:lstStyle/>
                    <a:p>
                      <a:r>
                        <a:rPr sz="1950" b="0">
                          <a:solidFill>
                            <a:srgbClr val="142B43"/>
                          </a:solidFill>
                          <a:latin typeface="Heiti TC"/>
                          <a:ea typeface="Heiti TC"/>
                          <a:cs typeface="Heiti TC"/>
                        </a:rPr>
                        <a:t>0.05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950" b="0">
                          <a:solidFill>
                            <a:srgbClr val="142B43"/>
                          </a:solidFill>
                          <a:latin typeface="Heiti TC"/>
                          <a:ea typeface="Heiti TC"/>
                          <a:cs typeface="Heiti TC"/>
                        </a:rPr>
                        <a:t>3%</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28650">
                <a:tc>
                  <a:txBody>
                    <a:bodyPr/>
                    <a:lstStyle/>
                    <a:p>
                      <a:r>
                        <a:rPr sz="1950" b="0">
                          <a:solidFill>
                            <a:srgbClr val="142B43"/>
                          </a:solidFill>
                          <a:latin typeface="Heiti TC"/>
                          <a:ea typeface="Heiti TC"/>
                          <a:cs typeface="Heiti TC"/>
                        </a:rPr>
                        <a:t>0.15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950" b="0">
                          <a:solidFill>
                            <a:srgbClr val="142B43"/>
                          </a:solidFill>
                          <a:latin typeface="Heiti TC"/>
                          <a:ea typeface="Heiti TC"/>
                          <a:cs typeface="Heiti TC"/>
                        </a:rPr>
                        <a:t>9%</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28650">
                <a:tc>
                  <a:txBody>
                    <a:bodyPr/>
                    <a:lstStyle/>
                    <a:p>
                      <a:r>
                        <a:rPr sz="1950" b="0">
                          <a:solidFill>
                            <a:srgbClr val="142B43"/>
                          </a:solidFill>
                          <a:latin typeface="Heiti TC"/>
                          <a:ea typeface="Heiti TC"/>
                          <a:cs typeface="Heiti TC"/>
                        </a:rPr>
                        <a:t>0.20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950" b="0">
                          <a:solidFill>
                            <a:srgbClr val="142B43"/>
                          </a:solidFill>
                          <a:latin typeface="Heiti TC"/>
                          <a:ea typeface="Heiti TC"/>
                          <a:cs typeface="Heiti TC"/>
                        </a:rPr>
                        <a:t>24%</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28650">
                <a:tc>
                  <a:txBody>
                    <a:bodyPr/>
                    <a:lstStyle/>
                    <a:p>
                      <a:r>
                        <a:rPr sz="1950" b="0">
                          <a:solidFill>
                            <a:srgbClr val="142B43"/>
                          </a:solidFill>
                          <a:latin typeface="Heiti TC"/>
                          <a:ea typeface="Heiti TC"/>
                          <a:cs typeface="Heiti TC"/>
                        </a:rPr>
                        <a:t>0.22</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950" b="0">
                          <a:solidFill>
                            <a:srgbClr val="142B43"/>
                          </a:solidFill>
                          <a:latin typeface="Heiti TC"/>
                          <a:ea typeface="Heiti TC"/>
                          <a:cs typeface="Heiti TC"/>
                        </a:rPr>
                        <a:t>36%</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bl>
          </a:graphicData>
        </a:graphic>
      </p:graphicFrame>
    </p:spTree>
    <p:extLst>
      <p:ext uri="{BB962C8B-B14F-4D97-AF65-F5344CB8AC3E}">
        <p14:creationId xmlns:p14="http://schemas.microsoft.com/office/powerpoint/2010/main" val="20490466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E15BBF-ECD2-4C94-B289-8B7F24056749}"/>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PDP，平均溫度的模型反應呈 U 形</a:t>
            </a:r>
          </a:p>
        </p:txBody>
      </p:sp>
      <p:sp>
        <p:nvSpPr>
          <p:cNvPr id="2" name="">
            <a:extLst xmlns:a="http://schemas.openxmlformats.org/drawingml/2006/main">
              <a:ext uri="{FF2B5EF4-FFF2-40B4-BE49-F238E27FC236}">
                <a16:creationId xmlns:a16="http://schemas.microsoft.com/office/drawing/2014/main" id="{D91FCE90-E748-45FF-96E1-545343013CC4}"/>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E7D79CBC-2F34-4A6B-9F76-514D3C7DB17B}"/>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20</a:t>
            </a:r>
          </a:p>
        </p:txBody>
      </p:sp>
      <p:pic>
        <p:nvPicPr>
          <p:cNvPr id="4" name="">
            <a:extLst xmlns:a="http://schemas.openxmlformats.org/drawingml/2006/main">
              <a:ext uri="{FF2B5EF4-FFF2-40B4-BE49-F238E27FC236}">
                <a16:creationId xmlns:a16="http://schemas.microsoft.com/office/drawing/2014/main" id="{C8DEDE81-0526-441D-B699-6F20B9850B91}"/>
              </a:ext>
            </a:extLst>
          </p:cNvPr>
          <p:cNvPicPr>
            <a:picLocks xmlns:a="http://schemas.openxmlformats.org/drawingml/2006/main" noChangeAspect="1"/>
          </p:cNvPicPr>
          <p:nvPr/>
        </p:nvPicPr>
        <p:blipFill>
          <a:blip xmlns:r="http://schemas.openxmlformats.org/officeDocument/2006/relationships" xmlns:a="http://schemas.openxmlformats.org/drawingml/2006/main" r:embed="Rcf214e6d547543a2"/>
          <a:srcRect xmlns:a="http://schemas.openxmlformats.org/drawingml/2006/main" l="33158" t="8475" r="33421" b="0"/>
          <a:stretch xmlns:a="http://schemas.openxmlformats.org/drawingml/2006/main"/>
        </p:blipFill>
        <p:spPr>
          <a:xfrm xmlns:a="http://schemas.openxmlformats.org/drawingml/2006/main">
            <a:off x="1151555" y="1381125"/>
            <a:ext cx="5488340" cy="4667250"/>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BA24AC8C-4CFB-4B97-9456-71748B5528B2}"/>
              </a:ext>
            </a:extLst>
          </p:cNvPr>
          <p:cNvGraphicFramePr/>
          <p:nvPr/>
        </p:nvGraphicFramePr>
        <p:xfrm>
          <a:off xmlns:a="http://schemas.openxmlformats.org/drawingml/2006/main" x="7620000" y="1952625"/>
          <a:ext xmlns:a="http://schemas.openxmlformats.org/drawingml/2006/main" cx="3810000" cy="2762250"/>
        </p:xfrm>
        <a:graphic xmlns:a="http://schemas.openxmlformats.org/drawingml/2006/main">
          <a:graphicData uri="http://schemas.openxmlformats.org/drawingml/2006/table">
            <a:tbl>
              <a:tblPr/>
              <a:tblGrid>
                <a:gridCol w="1905000"/>
                <a:gridCol w="1905000"/>
              </a:tblGrid>
              <a:tr h="690563">
                <a:tc>
                  <a:txBody>
                    <a:bodyPr/>
                    <a:lstStyle/>
                    <a:p>
                      <a:r>
                        <a:rPr sz="1950" b="1">
                          <a:solidFill>
                            <a:srgbClr val="FFFFFF"/>
                          </a:solidFill>
                          <a:latin typeface="Heiti TC"/>
                          <a:ea typeface="Heiti TC"/>
                          <a:cs typeface="Heiti TC"/>
                        </a:rPr>
                        <a:t>指定平均溫度</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950" b="1">
                          <a:solidFill>
                            <a:srgbClr val="FFFFFF"/>
                          </a:solidFill>
                          <a:latin typeface="Heiti TC"/>
                          <a:ea typeface="Heiti TC"/>
                          <a:cs typeface="Heiti TC"/>
                        </a:rPr>
                        <a:t>平均反應約</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90563">
                <a:tc>
                  <a:txBody>
                    <a:bodyPr/>
                    <a:lstStyle/>
                    <a:p>
                      <a:r>
                        <a:rPr sz="1950" b="0">
                          <a:solidFill>
                            <a:srgbClr val="142B43"/>
                          </a:solidFill>
                          <a:latin typeface="Heiti TC"/>
                          <a:ea typeface="Heiti TC"/>
                          <a:cs typeface="Heiti TC"/>
                        </a:rPr>
                        <a:t>245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950" b="0">
                          <a:solidFill>
                            <a:srgbClr val="142B43"/>
                          </a:solidFill>
                          <a:latin typeface="Heiti TC"/>
                          <a:ea typeface="Heiti TC"/>
                          <a:cs typeface="Heiti TC"/>
                        </a:rPr>
                        <a:t>15%</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90563">
                <a:tc>
                  <a:txBody>
                    <a:bodyPr/>
                    <a:lstStyle/>
                    <a:p>
                      <a:r>
                        <a:rPr sz="1950" b="0">
                          <a:solidFill>
                            <a:srgbClr val="142B43"/>
                          </a:solidFill>
                          <a:latin typeface="Heiti TC"/>
                          <a:ea typeface="Heiti TC"/>
                          <a:cs typeface="Heiti TC"/>
                        </a:rPr>
                        <a:t>249–250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950" b="0">
                          <a:solidFill>
                            <a:srgbClr val="142B43"/>
                          </a:solidFill>
                          <a:latin typeface="Heiti TC"/>
                          <a:ea typeface="Heiti TC"/>
                          <a:cs typeface="Heiti TC"/>
                        </a:rPr>
                        <a:t>7%</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90563">
                <a:tc>
                  <a:txBody>
                    <a:bodyPr/>
                    <a:lstStyle/>
                    <a:p>
                      <a:r>
                        <a:rPr sz="1950" b="0">
                          <a:solidFill>
                            <a:srgbClr val="142B43"/>
                          </a:solidFill>
                          <a:latin typeface="Heiti TC"/>
                          <a:ea typeface="Heiti TC"/>
                          <a:cs typeface="Heiti TC"/>
                        </a:rPr>
                        <a:t>255.7</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950" b="0">
                          <a:solidFill>
                            <a:srgbClr val="142B43"/>
                          </a:solidFill>
                          <a:latin typeface="Heiti TC"/>
                          <a:ea typeface="Heiti TC"/>
                          <a:cs typeface="Heiti TC"/>
                        </a:rPr>
                        <a:t>19%</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DFD39CF7-EC4D-4421-91B6-3E22D0D8C4C5}"/>
              </a:ext>
            </a:extLst>
          </p:cNvPr>
          <p:cNvSpPr>
            <a:spLocks xmlns:a="http://schemas.openxmlformats.org/drawingml/2006/main" noGrp="1"/>
          </p:cNvSpPr>
          <p:nvPr/>
        </p:nvSpPr>
        <p:spPr>
          <a:xfrm xmlns:a="http://schemas.openxmlformats.org/drawingml/2006/main">
            <a:off x="7620000" y="5238750"/>
            <a:ext cx="381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087F8C"/>
                </a:solidFill>
                <a:latin typeface="Heiti TC"/>
                <a:ea typeface="Heiti TC"/>
                <a:cs typeface="Heiti TC"/>
              </a:defRPr>
            </a:defPPr>
          </a:lstStyle>
          <a:p xmlns:a="http://schemas.openxmlformats.org/drawingml/2006/main">
            <a:pPr>
              <a:defRPr sz="2175" b="0">
                <a:solidFill>
                  <a:srgbClr val="087F8C"/>
                </a:solidFill>
                <a:latin typeface="Heiti TC"/>
                <a:ea typeface="Heiti TC"/>
                <a:cs typeface="Heiti TC"/>
              </a:defRPr>
            </a:pPr>
            <a:r>
              <a:rPr sz="2175" b="0">
                <a:solidFill>
                  <a:srgbClr val="087F8C"/>
                </a:solidFill>
                <a:latin typeface="Heiti TC"/>
                <a:ea typeface="Heiti TC"/>
                <a:cs typeface="Heiti TC"/>
              </a:rPr>
              <a:t>中間較低，兩端較高</a:t>
            </a:r>
          </a:p>
        </p:txBody>
      </p:sp>
    </p:spTree>
    <p:extLst>
      <p:ext uri="{BB962C8B-B14F-4D97-AF65-F5344CB8AC3E}">
        <p14:creationId xmlns:p14="http://schemas.microsoft.com/office/powerpoint/2010/main" val="4363972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0E4AD6-D8FA-4532-A2C0-EB8A5898164B}"/>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PDP，加工時間的模型反應呈 U 形</a:t>
            </a:r>
          </a:p>
        </p:txBody>
      </p:sp>
      <p:sp>
        <p:nvSpPr>
          <p:cNvPr id="2" name="">
            <a:extLst xmlns:a="http://schemas.openxmlformats.org/drawingml/2006/main">
              <a:ext uri="{FF2B5EF4-FFF2-40B4-BE49-F238E27FC236}">
                <a16:creationId xmlns:a16="http://schemas.microsoft.com/office/drawing/2014/main" id="{D856B490-EAB5-4F42-BDB7-B83A58FA149E}"/>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B1C254A5-42D0-4260-94AD-E97B4E77B03F}"/>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21</a:t>
            </a:r>
          </a:p>
        </p:txBody>
      </p:sp>
      <p:pic>
        <p:nvPicPr>
          <p:cNvPr id="4" name="">
            <a:extLst xmlns:a="http://schemas.openxmlformats.org/drawingml/2006/main">
              <a:ext uri="{FF2B5EF4-FFF2-40B4-BE49-F238E27FC236}">
                <a16:creationId xmlns:a16="http://schemas.microsoft.com/office/drawing/2014/main" id="{5B5AD354-846D-48AF-AA3F-4FCD1406A654}"/>
              </a:ext>
            </a:extLst>
          </p:cNvPr>
          <p:cNvPicPr>
            <a:picLocks xmlns:a="http://schemas.openxmlformats.org/drawingml/2006/main" noChangeAspect="1"/>
          </p:cNvPicPr>
          <p:nvPr/>
        </p:nvPicPr>
        <p:blipFill>
          <a:blip xmlns:r="http://schemas.openxmlformats.org/officeDocument/2006/relationships" xmlns:a="http://schemas.openxmlformats.org/drawingml/2006/main" r:embed="R684a996356c44b05"/>
          <a:srcRect xmlns:a="http://schemas.openxmlformats.org/drawingml/2006/main" l="66316" t="8475" r="0" b="0"/>
          <a:stretch xmlns:a="http://schemas.openxmlformats.org/drawingml/2006/main"/>
        </p:blipFill>
        <p:spPr>
          <a:xfrm xmlns:a="http://schemas.openxmlformats.org/drawingml/2006/main">
            <a:off x="1129947" y="1381125"/>
            <a:ext cx="5531556" cy="4667250"/>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6F107393-F2DA-4F7C-ACDD-392734CE9D5A}"/>
              </a:ext>
            </a:extLst>
          </p:cNvPr>
          <p:cNvGraphicFramePr/>
          <p:nvPr/>
        </p:nvGraphicFramePr>
        <p:xfrm>
          <a:off xmlns:a="http://schemas.openxmlformats.org/drawingml/2006/main" x="7620000" y="1952625"/>
          <a:ext xmlns:a="http://schemas.openxmlformats.org/drawingml/2006/main" cx="3810000" cy="2762250"/>
        </p:xfrm>
        <a:graphic xmlns:a="http://schemas.openxmlformats.org/drawingml/2006/main">
          <a:graphicData uri="http://schemas.openxmlformats.org/drawingml/2006/table">
            <a:tbl>
              <a:tblPr/>
              <a:tblGrid>
                <a:gridCol w="1905000"/>
                <a:gridCol w="1905000"/>
              </a:tblGrid>
              <a:tr h="690563">
                <a:tc>
                  <a:txBody>
                    <a:bodyPr/>
                    <a:lstStyle/>
                    <a:p>
                      <a:r>
                        <a:rPr sz="1950" b="1">
                          <a:solidFill>
                            <a:srgbClr val="FFFFFF"/>
                          </a:solidFill>
                          <a:latin typeface="Heiti TC"/>
                          <a:ea typeface="Heiti TC"/>
                          <a:cs typeface="Heiti TC"/>
                        </a:rPr>
                        <a:t>指定加工時間</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950" b="1">
                          <a:solidFill>
                            <a:srgbClr val="FFFFFF"/>
                          </a:solidFill>
                          <a:latin typeface="Heiti TC"/>
                          <a:ea typeface="Heiti TC"/>
                          <a:cs typeface="Heiti TC"/>
                        </a:rPr>
                        <a:t>平均反應約</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90563">
                <a:tc>
                  <a:txBody>
                    <a:bodyPr/>
                    <a:lstStyle/>
                    <a:p>
                      <a:r>
                        <a:rPr sz="1950" b="0">
                          <a:solidFill>
                            <a:srgbClr val="142B43"/>
                          </a:solidFill>
                          <a:latin typeface="Heiti TC"/>
                          <a:ea typeface="Heiti TC"/>
                          <a:cs typeface="Heiti TC"/>
                        </a:rPr>
                        <a:t>48.5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950" b="0">
                          <a:solidFill>
                            <a:srgbClr val="142B43"/>
                          </a:solidFill>
                          <a:latin typeface="Heiti TC"/>
                          <a:ea typeface="Heiti TC"/>
                          <a:cs typeface="Heiti TC"/>
                        </a:rPr>
                        <a:t>14%</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90563">
                <a:tc>
                  <a:txBody>
                    <a:bodyPr/>
                    <a:lstStyle/>
                    <a:p>
                      <a:r>
                        <a:rPr sz="1950" b="0">
                          <a:solidFill>
                            <a:srgbClr val="142B43"/>
                          </a:solidFill>
                          <a:latin typeface="Heiti TC"/>
                          <a:ea typeface="Heiti TC"/>
                          <a:cs typeface="Heiti TC"/>
                        </a:rPr>
                        <a:t>57–60</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950" b="0">
                          <a:solidFill>
                            <a:srgbClr val="142B43"/>
                          </a:solidFill>
                          <a:latin typeface="Heiti TC"/>
                          <a:ea typeface="Heiti TC"/>
                          <a:cs typeface="Heiti TC"/>
                        </a:rPr>
                        <a:t>8%</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90563">
                <a:tc>
                  <a:txBody>
                    <a:bodyPr/>
                    <a:lstStyle/>
                    <a:p>
                      <a:r>
                        <a:rPr sz="1950" b="0">
                          <a:solidFill>
                            <a:srgbClr val="142B43"/>
                          </a:solidFill>
                          <a:latin typeface="Heiti TC"/>
                          <a:ea typeface="Heiti TC"/>
                          <a:cs typeface="Heiti TC"/>
                        </a:rPr>
                        <a:t>71.5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950" b="0">
                          <a:solidFill>
                            <a:srgbClr val="142B43"/>
                          </a:solidFill>
                          <a:latin typeface="Heiti TC"/>
                          <a:ea typeface="Heiti TC"/>
                          <a:cs typeface="Heiti TC"/>
                        </a:rPr>
                        <a:t>16%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9C13D98-70AD-4EBA-A2F5-3D1800C39A68}"/>
              </a:ext>
            </a:extLst>
          </p:cNvPr>
          <p:cNvSpPr>
            <a:spLocks xmlns:a="http://schemas.openxmlformats.org/drawingml/2006/main" noGrp="1"/>
          </p:cNvSpPr>
          <p:nvPr/>
        </p:nvSpPr>
        <p:spPr>
          <a:xfrm xmlns:a="http://schemas.openxmlformats.org/drawingml/2006/main">
            <a:off x="7620000" y="5238750"/>
            <a:ext cx="381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087F8C"/>
                </a:solidFill>
                <a:latin typeface="Heiti TC"/>
                <a:ea typeface="Heiti TC"/>
                <a:cs typeface="Heiti TC"/>
              </a:defRPr>
            </a:defPPr>
          </a:lstStyle>
          <a:p xmlns:a="http://schemas.openxmlformats.org/drawingml/2006/main">
            <a:pPr>
              <a:defRPr sz="2175" b="0">
                <a:solidFill>
                  <a:srgbClr val="087F8C"/>
                </a:solidFill>
                <a:latin typeface="Heiti TC"/>
                <a:ea typeface="Heiti TC"/>
                <a:cs typeface="Heiti TC"/>
              </a:defRPr>
            </a:pPr>
            <a:r>
              <a:rPr sz="2175" b="0">
                <a:solidFill>
                  <a:srgbClr val="087F8C"/>
                </a:solidFill>
                <a:latin typeface="Heiti TC"/>
                <a:ea typeface="Heiti TC"/>
                <a:cs typeface="Heiti TC"/>
              </a:rPr>
              <a:t>同一套替換與平均計算</a:t>
            </a:r>
          </a:p>
        </p:txBody>
      </p:sp>
    </p:spTree>
    <p:extLst>
      <p:ext uri="{BB962C8B-B14F-4D97-AF65-F5344CB8AC3E}">
        <p14:creationId xmlns:p14="http://schemas.microsoft.com/office/powerpoint/2010/main" val="984496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DB58586-9794-4446-8B29-362C49DB123C}"/>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程式流程與產出對照</a:t>
            </a:r>
          </a:p>
        </p:txBody>
      </p:sp>
      <p:sp>
        <p:nvSpPr>
          <p:cNvPr id="2" name="">
            <a:extLst xmlns:a="http://schemas.openxmlformats.org/drawingml/2006/main">
              <a:ext uri="{FF2B5EF4-FFF2-40B4-BE49-F238E27FC236}">
                <a16:creationId xmlns:a16="http://schemas.microsoft.com/office/drawing/2014/main" id="{CF0B7BFE-F403-4DFB-91E6-F9D040237699}"/>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0E353026-3258-43B8-B5F2-EA6A1812A887}"/>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22</a:t>
            </a:r>
          </a:p>
        </p:txBody>
      </p:sp>
      <p:graphicFrame>
        <p:nvGraphicFramePr>
          <p:cNvPr id="4" name="">
            <a:extLst xmlns:a="http://schemas.openxmlformats.org/drawingml/2006/main">
              <a:ext uri="{FF2B5EF4-FFF2-40B4-BE49-F238E27FC236}">
                <a16:creationId xmlns:a16="http://schemas.microsoft.com/office/drawing/2014/main" id="{3BC3F908-4B88-4679-B5A2-6244DB8CE337}"/>
              </a:ext>
            </a:extLst>
          </p:cNvPr>
          <p:cNvGraphicFramePr/>
          <p:nvPr/>
        </p:nvGraphicFramePr>
        <p:xfrm>
          <a:off xmlns:a="http://schemas.openxmlformats.org/drawingml/2006/main" x="685800" y="1524000"/>
          <a:ext xmlns:a="http://schemas.openxmlformats.org/drawingml/2006/main" cx="10820400" cy="4000500"/>
        </p:xfrm>
        <a:graphic xmlns:a="http://schemas.openxmlformats.org/drawingml/2006/main">
          <a:graphicData uri="http://schemas.openxmlformats.org/drawingml/2006/table">
            <a:tbl>
              <a:tblPr/>
              <a:tblGrid>
                <a:gridCol w="2286000"/>
                <a:gridCol w="5238750"/>
                <a:gridCol w="3295650"/>
              </a:tblGrid>
              <a:tr h="666750">
                <a:tc>
                  <a:txBody>
                    <a:bodyPr/>
                    <a:lstStyle/>
                    <a:p>
                      <a:r>
                        <a:rPr sz="1800" b="1">
                          <a:solidFill>
                            <a:srgbClr val="FFFFFF"/>
                          </a:solidFill>
                          <a:latin typeface="Heiti TC"/>
                          <a:ea typeface="Heiti TC"/>
                          <a:cs typeface="Heiti TC"/>
                        </a:rPr>
                        <a:t>階段</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主要程式</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產出</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666750">
                <a:tc>
                  <a:txBody>
                    <a:bodyPr/>
                    <a:lstStyle/>
                    <a:p>
                      <a:r>
                        <a:rPr sz="1800" b="0">
                          <a:solidFill>
                            <a:srgbClr val="142B43"/>
                          </a:solidFill>
                          <a:latin typeface="Heiti TC"/>
                          <a:ea typeface="Heiti TC"/>
                          <a:cs typeface="Heiti TC"/>
                        </a:rPr>
                        <a:t>檢查與探索</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read_csv、qcut、groupby、resample</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資料摘要與分組圖</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66750">
                <a:tc>
                  <a:txBody>
                    <a:bodyPr/>
                    <a:lstStyle/>
                    <a:p>
                      <a:r>
                        <a:rPr sz="1800" b="0">
                          <a:solidFill>
                            <a:srgbClr val="142B43"/>
                          </a:solidFill>
                          <a:latin typeface="Heiti TC"/>
                          <a:ea typeface="Heiti TC"/>
                          <a:cs typeface="Heiti TC"/>
                        </a:rPr>
                        <a:t>切分與訓練</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批次排序、Pipeline.fit、樹模型 fit</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兩個已訓練模型</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66750">
                <a:tc>
                  <a:txBody>
                    <a:bodyPr/>
                    <a:lstStyle/>
                    <a:p>
                      <a:r>
                        <a:rPr sz="1800" b="0">
                          <a:solidFill>
                            <a:srgbClr val="142B43"/>
                          </a:solidFill>
                          <a:latin typeface="Heiti TC"/>
                          <a:ea typeface="Heiti TC"/>
                          <a:cs typeface="Heiti TC"/>
                        </a:rPr>
                        <a:t>評分與選取</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predict_proba、argsort</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分數與前 20% 清單</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666750">
                <a:tc>
                  <a:txBody>
                    <a:bodyPr/>
                    <a:lstStyle/>
                    <a:p>
                      <a:r>
                        <a:rPr sz="1800" b="0">
                          <a:solidFill>
                            <a:srgbClr val="142B43"/>
                          </a:solidFill>
                          <a:latin typeface="Heiti TC"/>
                          <a:ea typeface="Heiti TC"/>
                          <a:cs typeface="Heiti TC"/>
                        </a:rPr>
                        <a:t>評估</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AP、ROC-AUC、混淆矩陣</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數值表與比較圖</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666750">
                <a:tc>
                  <a:txBody>
                    <a:bodyPr/>
                    <a:lstStyle/>
                    <a:p>
                      <a:r>
                        <a:rPr sz="1800" b="0">
                          <a:solidFill>
                            <a:srgbClr val="142B43"/>
                          </a:solidFill>
                          <a:latin typeface="Heiti TC"/>
                          <a:ea typeface="Heiti TC"/>
                          <a:cs typeface="Heiti TC"/>
                        </a:rPr>
                        <a:t>解釋</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permutation_importance、PDP</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依賴度與反應曲線</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bl>
          </a:graphicData>
        </a:graphic>
      </p:graphicFrame>
    </p:spTree>
    <p:extLst>
      <p:ext uri="{BB962C8B-B14F-4D97-AF65-F5344CB8AC3E}">
        <p14:creationId xmlns:p14="http://schemas.microsoft.com/office/powerpoint/2010/main" val="8281793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CF49FA-6C84-42BD-A3C5-61C798B668B9}"/>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結果摘要</a:t>
            </a:r>
          </a:p>
        </p:txBody>
      </p:sp>
      <p:sp>
        <p:nvSpPr>
          <p:cNvPr id="2" name="">
            <a:extLst xmlns:a="http://schemas.openxmlformats.org/drawingml/2006/main">
              <a:ext uri="{FF2B5EF4-FFF2-40B4-BE49-F238E27FC236}">
                <a16:creationId xmlns:a16="http://schemas.microsoft.com/office/drawing/2014/main" id="{EBD2F443-F2F9-4BB1-B354-3CC014281DB2}"/>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B8B70C73-A501-41D6-937F-4F952EAE4732}"/>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23</a:t>
            </a:r>
          </a:p>
        </p:txBody>
      </p:sp>
      <p:sp>
        <p:nvSpPr>
          <p:cNvPr id="4" name="">
            <a:extLst xmlns:a="http://schemas.openxmlformats.org/drawingml/2006/main">
              <a:ext uri="{FF2B5EF4-FFF2-40B4-BE49-F238E27FC236}">
                <a16:creationId xmlns:a16="http://schemas.microsoft.com/office/drawing/2014/main" id="{CA44A23C-9245-4C23-AD28-9E777CEAE6A2}"/>
              </a:ext>
            </a:extLst>
          </p:cNvPr>
          <p:cNvSpPr>
            <a:spLocks xmlns:a="http://schemas.openxmlformats.org/drawingml/2006/main" noGrp="1"/>
          </p:cNvSpPr>
          <p:nvPr/>
        </p:nvSpPr>
        <p:spPr>
          <a:xfrm xmlns:a="http://schemas.openxmlformats.org/drawingml/2006/main">
            <a:off x="685800" y="17621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75" b="1">
                <a:solidFill>
                  <a:srgbClr val="087F8C"/>
                </a:solidFill>
                <a:latin typeface="Heiti TC"/>
                <a:ea typeface="Heiti TC"/>
                <a:cs typeface="Heiti TC"/>
              </a:defRPr>
            </a:defPPr>
          </a:lstStyle>
          <a:p xmlns:a="http://schemas.openxmlformats.org/drawingml/2006/main">
            <a:pPr>
              <a:defRPr sz="3375" b="1">
                <a:solidFill>
                  <a:srgbClr val="087F8C"/>
                </a:solidFill>
                <a:latin typeface="Heiti TC"/>
                <a:ea typeface="Heiti TC"/>
                <a:cs typeface="Heiti TC"/>
              </a:defRPr>
            </a:pPr>
            <a:r>
              <a:rPr sz="3375" b="1">
                <a:solidFill>
                  <a:srgbClr val="087F8C"/>
                </a:solidFill>
                <a:latin typeface="Heiti TC"/>
                <a:ea typeface="Heiti TC"/>
                <a:cs typeface="Heiti TC"/>
              </a:rPr>
              <a:t>3,000 筆清單，涵蓋 1,927 筆缺陷</a:t>
            </a:r>
          </a:p>
        </p:txBody>
      </p:sp>
      <p:sp>
        <p:nvSpPr>
          <p:cNvPr id="5" name="">
            <a:extLst xmlns:a="http://schemas.openxmlformats.org/drawingml/2006/main">
              <a:ext uri="{FF2B5EF4-FFF2-40B4-BE49-F238E27FC236}">
                <a16:creationId xmlns:a16="http://schemas.microsoft.com/office/drawing/2014/main" id="{E36C1298-72D3-4B93-B391-C2A3172914D2}"/>
              </a:ext>
            </a:extLst>
          </p:cNvPr>
          <p:cNvSpPr>
            <a:spLocks xmlns:a="http://schemas.openxmlformats.org/drawingml/2006/main" noGrp="1"/>
          </p:cNvSpPr>
          <p:nvPr/>
        </p:nvSpPr>
        <p:spPr>
          <a:xfrm xmlns:a="http://schemas.openxmlformats.org/drawingml/2006/main">
            <a:off x="685800" y="3143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b="0">
                <a:solidFill>
                  <a:srgbClr val="142B43"/>
                </a:solidFill>
                <a:latin typeface="Heiti TC"/>
                <a:ea typeface="Heiti TC"/>
                <a:cs typeface="Heiti TC"/>
              </a:defRPr>
            </a:defPPr>
          </a:lstStyle>
          <a:p xmlns:a="http://schemas.openxmlformats.org/drawingml/2006/main">
            <a:pPr>
              <a:defRPr sz="2625" b="0">
                <a:solidFill>
                  <a:srgbClr val="142B43"/>
                </a:solidFill>
                <a:latin typeface="Heiti TC"/>
                <a:ea typeface="Heiti TC"/>
                <a:cs typeface="Heiti TC"/>
              </a:defRPr>
            </a:pPr>
            <a:r>
              <a:rPr sz="2625" b="0">
                <a:solidFill>
                  <a:srgbClr val="142B43"/>
                </a:solidFill>
                <a:latin typeface="Heiti TC"/>
                <a:ea typeface="Heiti TC"/>
                <a:cs typeface="Heiti TC"/>
              </a:rPr>
              <a:t>Recall 72.5%，Precision 64.2%，Lift 3.63</a:t>
            </a:r>
          </a:p>
        </p:txBody>
      </p:sp>
      <p:sp>
        <p:nvSpPr>
          <p:cNvPr id="6" name="">
            <a:extLst xmlns:a="http://schemas.openxmlformats.org/drawingml/2006/main">
              <a:ext uri="{FF2B5EF4-FFF2-40B4-BE49-F238E27FC236}">
                <a16:creationId xmlns:a16="http://schemas.microsoft.com/office/drawing/2014/main" id="{4D6AA5F0-E54E-456C-8492-75CCB6594761}"/>
              </a:ext>
            </a:extLst>
          </p:cNvPr>
          <p:cNvSpPr>
            <a:spLocks xmlns:a="http://schemas.openxmlformats.org/drawingml/2006/main" noGrp="1"/>
          </p:cNvSpPr>
          <p:nvPr/>
        </p:nvSpPr>
        <p:spPr>
          <a:xfrm xmlns:a="http://schemas.openxmlformats.org/drawingml/2006/main">
            <a:off x="685800" y="4619625"/>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142B43"/>
                </a:solidFill>
                <a:latin typeface="Heiti TC"/>
                <a:ea typeface="Heiti TC"/>
                <a:cs typeface="Heiti TC"/>
              </a:defRPr>
            </a:defPPr>
          </a:lstStyle>
          <a:p xmlns:a="http://schemas.openxmlformats.org/drawingml/2006/main">
            <a:pPr>
              <a:defRPr sz="2325" b="0">
                <a:solidFill>
                  <a:srgbClr val="142B43"/>
                </a:solidFill>
                <a:latin typeface="Heiti TC"/>
                <a:ea typeface="Heiti TC"/>
                <a:cs typeface="Heiti TC"/>
              </a:defRPr>
            </a:pPr>
            <a:r>
              <a:rPr sz="2325" b="0">
                <a:solidFill>
                  <a:srgbClr val="142B43"/>
                </a:solidFill>
                <a:latin typeface="Heiti TC"/>
                <a:ea typeface="Heiti TC"/>
                <a:cs typeface="Heiti TC"/>
              </a:rPr>
              <a:t>主要依賴參數，對準誤差、平均溫度與加工時間</a:t>
            </a:r>
          </a:p>
        </p:txBody>
      </p:sp>
    </p:spTree>
    <p:extLst>
      <p:ext uri="{BB962C8B-B14F-4D97-AF65-F5344CB8AC3E}">
        <p14:creationId xmlns:p14="http://schemas.microsoft.com/office/powerpoint/2010/main" val="20567332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E919D27-965C-40B9-9E98-C5670E788C84}"/>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B43"/>
                </a:solidFill>
                <a:latin typeface="Heiti TC"/>
                <a:ea typeface="Heiti TC"/>
                <a:cs typeface="Heiti TC"/>
              </a:defRPr>
            </a:defPPr>
          </a:lstStyle>
          <a:p xmlns:a="http://schemas.openxmlformats.org/drawingml/2006/main">
            <a:pPr>
              <a:defRPr sz="3225" b="1">
                <a:solidFill>
                  <a:srgbClr val="142B43"/>
                </a:solidFill>
                <a:latin typeface="Heiti TC"/>
                <a:ea typeface="Heiti TC"/>
                <a:cs typeface="Heiti TC"/>
              </a:defRPr>
            </a:pPr>
            <a:r>
              <a:rPr sz="3225" b="1">
                <a:solidFill>
                  <a:srgbClr val="142B43"/>
                </a:solidFill>
                <a:latin typeface="Heiti TC"/>
                <a:ea typeface="Heiti TC"/>
                <a:cs typeface="Heiti TC"/>
              </a:rPr>
              <a:t>附錄，Colab 圖表與簡報頁碼</a:t>
            </a:r>
          </a:p>
        </p:txBody>
      </p:sp>
      <p:sp>
        <p:nvSpPr>
          <p:cNvPr id="2" name="">
            <a:extLst xmlns:a="http://schemas.openxmlformats.org/drawingml/2006/main">
              <a:ext uri="{FF2B5EF4-FFF2-40B4-BE49-F238E27FC236}">
                <a16:creationId xmlns:a16="http://schemas.microsoft.com/office/drawing/2014/main" id="{92B81F34-B645-4227-AF8D-CD4E6CC61651}"/>
              </a:ext>
            </a:extLst>
          </p:cNvPr>
          <p:cNvSpPr>
            <a:spLocks xmlns:a="http://schemas.openxmlformats.org/drawingml/2006/main" noGrp="1"/>
          </p:cNvSpPr>
          <p:nvPr/>
        </p:nvSpPr>
        <p:spPr>
          <a:xfrm xmlns:a="http://schemas.openxmlformats.org/drawingml/2006/main">
            <a:off x="609600" y="6438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資料來源：模擬鍵合加工紀錄</a:t>
            </a:r>
          </a:p>
        </p:txBody>
      </p:sp>
      <p:sp>
        <p:nvSpPr>
          <p:cNvPr id="3" name="">
            <a:extLst xmlns:a="http://schemas.openxmlformats.org/drawingml/2006/main">
              <a:ext uri="{FF2B5EF4-FFF2-40B4-BE49-F238E27FC236}">
                <a16:creationId xmlns:a16="http://schemas.microsoft.com/office/drawing/2014/main" id="{DEDA1F29-E851-4300-8B23-0FE58E404795}"/>
              </a:ext>
            </a:extLst>
          </p:cNvPr>
          <p:cNvSpPr>
            <a:spLocks xmlns:a="http://schemas.openxmlformats.org/drawingml/2006/main" noGrp="1"/>
          </p:cNvSpPr>
          <p:nvPr/>
        </p:nvSpPr>
        <p:spPr>
          <a:xfrm xmlns:a="http://schemas.openxmlformats.org/drawingml/2006/main">
            <a:off x="11144250" y="6438900"/>
            <a:ext cx="438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0">
                <a:solidFill>
                  <a:srgbClr val="50677C"/>
                </a:solidFill>
                <a:latin typeface="Heiti TC"/>
                <a:ea typeface="Heiti TC"/>
                <a:cs typeface="Heiti TC"/>
              </a:defRPr>
            </a:defPPr>
          </a:lstStyle>
          <a:p xmlns:a="http://schemas.openxmlformats.org/drawingml/2006/main">
            <a:pPr>
              <a:defRPr sz="1200" b="0">
                <a:solidFill>
                  <a:srgbClr val="50677C"/>
                </a:solidFill>
                <a:latin typeface="Heiti TC"/>
                <a:ea typeface="Heiti TC"/>
                <a:cs typeface="Heiti TC"/>
              </a:defRPr>
            </a:pPr>
            <a:r>
              <a:rPr sz="1200" b="0">
                <a:solidFill>
                  <a:srgbClr val="50677C"/>
                </a:solidFill>
                <a:latin typeface="Heiti TC"/>
                <a:ea typeface="Heiti TC"/>
                <a:cs typeface="Heiti TC"/>
              </a:rPr>
              <a:t>24</a:t>
            </a:r>
          </a:p>
        </p:txBody>
      </p:sp>
      <p:graphicFrame>
        <p:nvGraphicFramePr>
          <p:cNvPr id="4" name="">
            <a:extLst xmlns:a="http://schemas.openxmlformats.org/drawingml/2006/main">
              <a:ext uri="{FF2B5EF4-FFF2-40B4-BE49-F238E27FC236}">
                <a16:creationId xmlns:a16="http://schemas.microsoft.com/office/drawing/2014/main" id="{57A40BB6-F050-4509-A150-D1F4F7CD8770}"/>
              </a:ext>
            </a:extLst>
          </p:cNvPr>
          <p:cNvGraphicFramePr/>
          <p:nvPr/>
        </p:nvGraphicFramePr>
        <p:xfrm>
          <a:off xmlns:a="http://schemas.openxmlformats.org/drawingml/2006/main" x="685800" y="1381125"/>
          <a:ext xmlns:a="http://schemas.openxmlformats.org/drawingml/2006/main" cx="10820400" cy="4381500"/>
        </p:xfrm>
        <a:graphic xmlns:a="http://schemas.openxmlformats.org/drawingml/2006/main">
          <a:graphicData uri="http://schemas.openxmlformats.org/drawingml/2006/table">
            <a:tbl>
              <a:tblPr/>
              <a:tblGrid>
                <a:gridCol w="1333500"/>
                <a:gridCol w="4953000"/>
                <a:gridCol w="1905000"/>
                <a:gridCol w="2628900"/>
              </a:tblGrid>
              <a:tr h="486833">
                <a:tc>
                  <a:txBody>
                    <a:bodyPr/>
                    <a:lstStyle/>
                    <a:p>
                      <a:r>
                        <a:rPr sz="1800" b="1">
                          <a:solidFill>
                            <a:srgbClr val="FFFFFF"/>
                          </a:solidFill>
                          <a:latin typeface="Heiti TC"/>
                          <a:ea typeface="Heiti TC"/>
                          <a:cs typeface="Heiti TC"/>
                        </a:rPr>
                        <a:t>圖組</a:t>
                      </a:r>
                    </a:p>
                  </a:txBody>
                  <a:tcPr marL="133350" marR="133350" marT="95250" marB="95250" anchor="ctr">
                    <a:lnL w="9525">
                      <a:solidFill>
                        <a:srgbClr val="DCE4EA"/>
                      </a:solidFill>
                      <a:prstDash val="solid"/>
                    </a:lnL>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內容</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有效子圖</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c>
                  <a:txBody>
                    <a:bodyPr/>
                    <a:lstStyle/>
                    <a:p>
                      <a:r>
                        <a:rPr sz="1800" b="1">
                          <a:solidFill>
                            <a:srgbClr val="FFFFFF"/>
                          </a:solidFill>
                          <a:latin typeface="Heiti TC"/>
                          <a:ea typeface="Heiti TC"/>
                          <a:cs typeface="Heiti TC"/>
                        </a:rPr>
                        <a:t>簡報頁碼</a:t>
                      </a:r>
                    </a:p>
                  </a:txBody>
                  <a:tcPr marL="133350" marR="133350" marT="95250" marB="95250" anchor="ctr">
                    <a:lnR w="9525">
                      <a:solidFill>
                        <a:srgbClr val="DCE4EA"/>
                      </a:solidFill>
                      <a:prstDash val="solid"/>
                    </a:lnR>
                    <a:lnT w="9525">
                      <a:solidFill>
                        <a:srgbClr val="DCE4EA"/>
                      </a:solidFill>
                      <a:prstDash val="solid"/>
                    </a:lnT>
                    <a:lnB w="9525">
                      <a:solidFill>
                        <a:srgbClr val="DCE4EA"/>
                      </a:solidFill>
                      <a:prstDash val="solid"/>
                    </a:lnB>
                    <a:solidFill>
                      <a:srgbClr val="142B43"/>
                    </a:solidFill>
                  </a:tcPr>
                </a:tc>
              </a:tr>
              <a:tr h="486833">
                <a:tc>
                  <a:txBody>
                    <a:bodyPr/>
                    <a:lstStyle/>
                    <a:p>
                      <a:r>
                        <a:rPr sz="1800" b="0">
                          <a:solidFill>
                            <a:srgbClr val="142B43"/>
                          </a:solidFill>
                          <a:latin typeface="Heiti TC"/>
                          <a:ea typeface="Heiti TC"/>
                          <a:cs typeface="Heiti TC"/>
                        </a:rPr>
                        <a:t>01</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參數分組缺陷率</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7</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4–6</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86833">
                <a:tc>
                  <a:txBody>
                    <a:bodyPr/>
                    <a:lstStyle/>
                    <a:p>
                      <a:r>
                        <a:rPr sz="1800" b="0">
                          <a:solidFill>
                            <a:srgbClr val="142B43"/>
                          </a:solidFill>
                          <a:latin typeface="Heiti TC"/>
                          <a:ea typeface="Heiti TC"/>
                          <a:cs typeface="Heiti TC"/>
                        </a:rPr>
                        <a:t>02</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相關性、機台與時間</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3</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7–9</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486833">
                <a:tc>
                  <a:txBody>
                    <a:bodyPr/>
                    <a:lstStyle/>
                    <a:p>
                      <a:r>
                        <a:rPr sz="1800" b="0">
                          <a:solidFill>
                            <a:srgbClr val="142B43"/>
                          </a:solidFill>
                          <a:latin typeface="Heiti TC"/>
                          <a:ea typeface="Heiti TC"/>
                          <a:cs typeface="Heiti TC"/>
                        </a:rPr>
                        <a:t>03</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基準混淆矩陣與 PR</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2</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11–12</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86833">
                <a:tc>
                  <a:txBody>
                    <a:bodyPr/>
                    <a:lstStyle/>
                    <a:p>
                      <a:r>
                        <a:rPr sz="1800" b="0">
                          <a:solidFill>
                            <a:srgbClr val="142B43"/>
                          </a:solidFill>
                          <a:latin typeface="Heiti TC"/>
                          <a:ea typeface="Heiti TC"/>
                          <a:cs typeface="Heiti TC"/>
                        </a:rPr>
                        <a:t>04</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門檻比例與數量</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2</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13–14</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486833">
                <a:tc>
                  <a:txBody>
                    <a:bodyPr/>
                    <a:lstStyle/>
                    <a:p>
                      <a:r>
                        <a:rPr sz="1800" b="0">
                          <a:solidFill>
                            <a:srgbClr val="142B43"/>
                          </a:solidFill>
                          <a:latin typeface="Heiti TC"/>
                          <a:ea typeface="Heiti TC"/>
                          <a:cs typeface="Heiti TC"/>
                        </a:rPr>
                        <a:t>05</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模型 PR 與缺陷數比較</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2</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15</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86833">
                <a:tc>
                  <a:txBody>
                    <a:bodyPr/>
                    <a:lstStyle/>
                    <a:p>
                      <a:r>
                        <a:rPr sz="1800" b="0">
                          <a:solidFill>
                            <a:srgbClr val="142B43"/>
                          </a:solidFill>
                          <a:latin typeface="Heiti TC"/>
                          <a:ea typeface="Heiti TC"/>
                          <a:cs typeface="Heiti TC"/>
                        </a:rPr>
                        <a:t>06</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測試矩陣與 Recall</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2</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16–17</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r h="486833">
                <a:tc>
                  <a:txBody>
                    <a:bodyPr/>
                    <a:lstStyle/>
                    <a:p>
                      <a:r>
                        <a:rPr sz="1800" b="0">
                          <a:solidFill>
                            <a:srgbClr val="142B43"/>
                          </a:solidFill>
                          <a:latin typeface="Heiti TC"/>
                          <a:ea typeface="Heiti TC"/>
                          <a:cs typeface="Heiti TC"/>
                        </a:rPr>
                        <a:t>07</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置換重要性</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c>
                  <a:txBody>
                    <a:bodyPr/>
                    <a:lstStyle/>
                    <a:p>
                      <a:r>
                        <a:rPr sz="1800" b="0">
                          <a:solidFill>
                            <a:srgbClr val="142B43"/>
                          </a:solidFill>
                          <a:latin typeface="Heiti TC"/>
                          <a:ea typeface="Heiti TC"/>
                          <a:cs typeface="Heiti TC"/>
                        </a:rPr>
                        <a:t>18</a:t>
                      </a:r>
                    </a:p>
                  </a:txBody>
                  <a:tcPr marL="133350" marR="133350" marT="95250" marB="95250" anchor="ctr">
                    <a:lnR w="9525">
                      <a:solidFill>
                        <a:srgbClr val="DCE4EA"/>
                      </a:solidFill>
                      <a:prstDash val="solid"/>
                    </a:lnR>
                    <a:lnB w="9525">
                      <a:solidFill>
                        <a:srgbClr val="DCE4EA"/>
                      </a:solidFill>
                      <a:prstDash val="solid"/>
                    </a:lnB>
                    <a:solidFill>
                      <a:srgbClr val="FFFFFF"/>
                    </a:solidFill>
                  </a:tcPr>
                </a:tc>
              </a:tr>
              <a:tr h="486833">
                <a:tc>
                  <a:txBody>
                    <a:bodyPr/>
                    <a:lstStyle/>
                    <a:p>
                      <a:r>
                        <a:rPr sz="1800" b="0">
                          <a:solidFill>
                            <a:srgbClr val="142B43"/>
                          </a:solidFill>
                          <a:latin typeface="Heiti TC"/>
                          <a:ea typeface="Heiti TC"/>
                          <a:cs typeface="Heiti TC"/>
                        </a:rPr>
                        <a:t>08</a:t>
                      </a:r>
                    </a:p>
                  </a:txBody>
                  <a:tcPr marL="133350" marR="133350" marT="95250" marB="95250" anchor="ctr">
                    <a:lnL w="9525">
                      <a:solidFill>
                        <a:srgbClr val="DCE4EA"/>
                      </a:solidFill>
                      <a:prstDash val="solid"/>
                    </a:lnL>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部分依賴圖</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3</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c>
                  <a:txBody>
                    <a:bodyPr/>
                    <a:lstStyle/>
                    <a:p>
                      <a:r>
                        <a:rPr sz="1800" b="0">
                          <a:solidFill>
                            <a:srgbClr val="142B43"/>
                          </a:solidFill>
                          <a:latin typeface="Heiti TC"/>
                          <a:ea typeface="Heiti TC"/>
                          <a:cs typeface="Heiti TC"/>
                        </a:rPr>
                        <a:t>19–21</a:t>
                      </a:r>
                    </a:p>
                  </a:txBody>
                  <a:tcPr marL="133350" marR="133350" marT="95250" marB="95250" anchor="ctr">
                    <a:lnR w="9525">
                      <a:solidFill>
                        <a:srgbClr val="DCE4EA"/>
                      </a:solidFill>
                      <a:prstDash val="solid"/>
                    </a:lnR>
                    <a:lnB w="9525">
                      <a:solidFill>
                        <a:srgbClr val="DCE4EA"/>
                      </a:solidFill>
                      <a:prstDash val="solid"/>
                    </a:lnB>
                    <a:solidFill>
                      <a:srgbClr val="F3F7F9"/>
                    </a:solidFill>
                  </a:tcPr>
                </a:tc>
              </a:tr>
            </a:tbl>
          </a:graphicData>
        </a:graphic>
      </p:graphicFrame>
    </p:spTree>
    <p:extLst>
      <p:ext uri="{BB962C8B-B14F-4D97-AF65-F5344CB8AC3E}">
        <p14:creationId xmlns:p14="http://schemas.microsoft.com/office/powerpoint/2010/main" val="19703013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2026-10-17T06:44:49.9160000Z</dcterms:created>
  <dcterms:modified xsi:type="dcterms:W3CDTF">2026-10-17T06:44:49.9160000Z</dcterms:modified>
</coreProperties>
</file>
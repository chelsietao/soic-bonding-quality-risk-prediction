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c1540224594873" /><Relationship Type="http://schemas.openxmlformats.org/officeDocument/2006/relationships/extended-properties" Target="/docProps/app.xml" Id="Rc29e758211fc4134" /><Relationship Type="http://schemas.openxmlformats.org/officeDocument/2006/relationships/officeDocument" Target="/ppt/presentation.xml" Id="R35d2f923a46a4c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8d834bc27d4afc"/>
  </p:sldMasterIdLst>
  <p:notesMasterIdLst>
    <p:notesMasterId xmlns:r="http://schemas.openxmlformats.org/officeDocument/2006/relationships" r:id="R8e2dc6d23dd447fc"/>
  </p:notesMasterIdLst>
  <p:sldIdLst>
    <p:sldId xmlns:r="http://schemas.openxmlformats.org/officeDocument/2006/relationships" id="256" r:id="Raa2ce5256962493c"/>
    <p:sldId xmlns:r="http://schemas.openxmlformats.org/officeDocument/2006/relationships" id="257" r:id="Rbe3f773275d149aa"/>
    <p:sldId xmlns:r="http://schemas.openxmlformats.org/officeDocument/2006/relationships" id="258" r:id="R576a90f9ba474f6d"/>
    <p:sldId xmlns:r="http://schemas.openxmlformats.org/officeDocument/2006/relationships" id="259" r:id="R179f8630317647a8"/>
    <p:sldId xmlns:r="http://schemas.openxmlformats.org/officeDocument/2006/relationships" id="260" r:id="R372913c6caee4214"/>
    <p:sldId xmlns:r="http://schemas.openxmlformats.org/officeDocument/2006/relationships" id="261" r:id="R68e37dd0133d47dd"/>
    <p:sldId xmlns:r="http://schemas.openxmlformats.org/officeDocument/2006/relationships" id="262" r:id="R02c1bce1b14e4e26"/>
    <p:sldId xmlns:r="http://schemas.openxmlformats.org/officeDocument/2006/relationships" id="263" r:id="Ree59159395dd41d1"/>
    <p:sldId xmlns:r="http://schemas.openxmlformats.org/officeDocument/2006/relationships" id="264" r:id="R55f2f7a7de3a4ca7"/>
    <p:sldId xmlns:r="http://schemas.openxmlformats.org/officeDocument/2006/relationships" id="265" r:id="R520d9c6e88e84162"/>
    <p:sldId xmlns:r="http://schemas.openxmlformats.org/officeDocument/2006/relationships" id="266" r:id="R8cb6c4b1d01e45df"/>
    <p:sldId xmlns:r="http://schemas.openxmlformats.org/officeDocument/2006/relationships" id="267" r:id="R172f8a07523c4691"/>
    <p:sldId xmlns:r="http://schemas.openxmlformats.org/officeDocument/2006/relationships" id="268" r:id="R8bf3d88908d74d28"/>
    <p:sldId xmlns:r="http://schemas.openxmlformats.org/officeDocument/2006/relationships" id="269" r:id="R59a1af25a89847b8"/>
    <p:sldId xmlns:r="http://schemas.openxmlformats.org/officeDocument/2006/relationships" id="270" r:id="Raf6b849b1212426e"/>
    <p:sldId xmlns:r="http://schemas.openxmlformats.org/officeDocument/2006/relationships" id="271" r:id="Rc60f99cc038a4f66"/>
    <p:sldId xmlns:r="http://schemas.openxmlformats.org/officeDocument/2006/relationships" id="272" r:id="R1b3863f27ab940a2"/>
    <p:sldId xmlns:r="http://schemas.openxmlformats.org/officeDocument/2006/relationships" id="273" r:id="Rb7405502426340d8"/>
    <p:sldId xmlns:r="http://schemas.openxmlformats.org/officeDocument/2006/relationships" id="274" r:id="Rdd88e959f0d1405e"/>
    <p:sldId xmlns:r="http://schemas.openxmlformats.org/officeDocument/2006/relationships" id="275" r:id="Rba9f13dde4254e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b84be1117f47a5" /><Relationship Type="http://schemas.openxmlformats.org/officeDocument/2006/relationships/slideMaster" Target="/ppt/slideMasters/slideMaster1.xml" Id="R0a8d834bc27d4afc" /><Relationship Type="http://schemas.openxmlformats.org/officeDocument/2006/relationships/notesMaster" Target="/ppt/notesMasters/notesMaster1.xml" Id="R8e2dc6d23dd447fc" /><Relationship Type="http://schemas.openxmlformats.org/officeDocument/2006/relationships/presProps" Target="/ppt/presProps.xml" Id="R1aaac99f5d4840ff" /><Relationship Type="http://schemas.openxmlformats.org/officeDocument/2006/relationships/tableStyles" Target="/ppt/tableStyles.xml" Id="R119a4f8d0e214858" /><Relationship Type="http://schemas.openxmlformats.org/officeDocument/2006/relationships/slide" Target="/ppt/slides/slide1.xml" Id="Raa2ce5256962493c" /><Relationship Type="http://schemas.openxmlformats.org/officeDocument/2006/relationships/slide" Target="/ppt/slides/slide2.xml" Id="Rbe3f773275d149aa" /><Relationship Type="http://schemas.openxmlformats.org/officeDocument/2006/relationships/slide" Target="/ppt/slides/slide3.xml" Id="R576a90f9ba474f6d" /><Relationship Type="http://schemas.openxmlformats.org/officeDocument/2006/relationships/slide" Target="/ppt/slides/slide4.xml" Id="R179f8630317647a8" /><Relationship Type="http://schemas.openxmlformats.org/officeDocument/2006/relationships/slide" Target="/ppt/slides/slide5.xml" Id="R372913c6caee4214" /><Relationship Type="http://schemas.openxmlformats.org/officeDocument/2006/relationships/slide" Target="/ppt/slides/slide6.xml" Id="R68e37dd0133d47dd" /><Relationship Type="http://schemas.openxmlformats.org/officeDocument/2006/relationships/slide" Target="/ppt/slides/slide7.xml" Id="R02c1bce1b14e4e26" /><Relationship Type="http://schemas.openxmlformats.org/officeDocument/2006/relationships/slide" Target="/ppt/slides/slide8.xml" Id="Ree59159395dd41d1" /><Relationship Type="http://schemas.openxmlformats.org/officeDocument/2006/relationships/slide" Target="/ppt/slides/slide9.xml" Id="R55f2f7a7de3a4ca7" /><Relationship Type="http://schemas.openxmlformats.org/officeDocument/2006/relationships/slide" Target="/ppt/slides/slide10.xml" Id="R520d9c6e88e84162" /><Relationship Type="http://schemas.openxmlformats.org/officeDocument/2006/relationships/slide" Target="/ppt/slides/slide11.xml" Id="R8cb6c4b1d01e45df" /><Relationship Type="http://schemas.openxmlformats.org/officeDocument/2006/relationships/slide" Target="/ppt/slides/slide12.xml" Id="R172f8a07523c4691" /><Relationship Type="http://schemas.openxmlformats.org/officeDocument/2006/relationships/slide" Target="/ppt/slides/slide13.xml" Id="R8bf3d88908d74d28" /><Relationship Type="http://schemas.openxmlformats.org/officeDocument/2006/relationships/slide" Target="/ppt/slides/slide14.xml" Id="R59a1af25a89847b8" /><Relationship Type="http://schemas.openxmlformats.org/officeDocument/2006/relationships/slide" Target="/ppt/slides/slide15.xml" Id="Raf6b849b1212426e" /><Relationship Type="http://schemas.openxmlformats.org/officeDocument/2006/relationships/slide" Target="/ppt/slides/slide16.xml" Id="Rc60f99cc038a4f66" /><Relationship Type="http://schemas.openxmlformats.org/officeDocument/2006/relationships/slide" Target="/ppt/slides/slide17.xml" Id="R1b3863f27ab940a2" /><Relationship Type="http://schemas.openxmlformats.org/officeDocument/2006/relationships/slide" Target="/ppt/slides/slide18.xml" Id="Rb7405502426340d8" /><Relationship Type="http://schemas.openxmlformats.org/officeDocument/2006/relationships/slide" Target="/ppt/slides/slide19.xml" Id="Rdd88e959f0d1405e" /><Relationship Type="http://schemas.openxmlformats.org/officeDocument/2006/relationships/slide" Target="/ppt/slides/slide20.xml" Id="Rba9f13dde4254e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292faf51c74a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0a878aa53d40c2" /><Relationship Type="http://schemas.openxmlformats.org/officeDocument/2006/relationships/notesMaster" Target="/ppt/notesMasters/notesMaster1.xml" Id="Rdf0b61342a324cc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86512fb9924141" /><Relationship Type="http://schemas.openxmlformats.org/officeDocument/2006/relationships/notesMaster" Target="/ppt/notesMasters/notesMaster1.xml" Id="R48d2fa25a80c4a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4861cde1a4f0e" /><Relationship Type="http://schemas.openxmlformats.org/officeDocument/2006/relationships/notesMaster" Target="/ppt/notesMasters/notesMaster1.xml" Id="R2e9671f1711b40c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3ff910cc8d4bd4" /><Relationship Type="http://schemas.openxmlformats.org/officeDocument/2006/relationships/notesMaster" Target="/ppt/notesMasters/notesMaster1.xml" Id="R331c39f3ca3142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829e7c9c63941b7" /><Relationship Type="http://schemas.openxmlformats.org/officeDocument/2006/relationships/notesMaster" Target="/ppt/notesMasters/notesMaster1.xml" Id="R673a79be64d940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0266c592974b26" /><Relationship Type="http://schemas.openxmlformats.org/officeDocument/2006/relationships/notesMaster" Target="/ppt/notesMasters/notesMaster1.xml" Id="R90d9668e09d14c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d5d57e1a2e449a" /><Relationship Type="http://schemas.openxmlformats.org/officeDocument/2006/relationships/notesMaster" Target="/ppt/notesMasters/notesMaster1.xml" Id="Rfaa0777ece0b462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dfeefaef7f4ec6" /><Relationship Type="http://schemas.openxmlformats.org/officeDocument/2006/relationships/notesMaster" Target="/ppt/notesMasters/notesMaster1.xml" Id="R8a61749825e04d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399bb077614857" /><Relationship Type="http://schemas.openxmlformats.org/officeDocument/2006/relationships/notesMaster" Target="/ppt/notesMasters/notesMaster1.xml" Id="R9460173f7aa14a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29186adc545460e" /><Relationship Type="http://schemas.openxmlformats.org/officeDocument/2006/relationships/notesMaster" Target="/ppt/notesMasters/notesMaster1.xml" Id="R02644763aff64c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67065f6c6e42ca" /><Relationship Type="http://schemas.openxmlformats.org/officeDocument/2006/relationships/notesMaster" Target="/ppt/notesMasters/notesMaster1.xml" Id="Rc1bd355409e9465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ebdc3473ad44884" /><Relationship Type="http://schemas.openxmlformats.org/officeDocument/2006/relationships/notesMaster" Target="/ppt/notesMasters/notesMaster1.xml" Id="R5ea2b2b370ed48e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0fd077d62c479d" /><Relationship Type="http://schemas.openxmlformats.org/officeDocument/2006/relationships/notesMaster" Target="/ppt/notesMasters/notesMaster1.xml" Id="Rbf46f1e900fd43a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0966ec5aad4424" /><Relationship Type="http://schemas.openxmlformats.org/officeDocument/2006/relationships/notesMaster" Target="/ppt/notesMasters/notesMaster1.xml" Id="R61662d93bb694d5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6484ac39de4eee" /><Relationship Type="http://schemas.openxmlformats.org/officeDocument/2006/relationships/notesMaster" Target="/ppt/notesMasters/notesMaster1.xml" Id="R56c02575f98b4e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1ddfea4ac264024" /><Relationship Type="http://schemas.openxmlformats.org/officeDocument/2006/relationships/notesMaster" Target="/ppt/notesMasters/notesMaster1.xml" Id="R0e1d58b71f96485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f84cf6c63db4d83" /><Relationship Type="http://schemas.openxmlformats.org/officeDocument/2006/relationships/notesMaster" Target="/ppt/notesMasters/notesMaster1.xml" Id="Rb484be72a7e64f7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79222ca7ed484f" /><Relationship Type="http://schemas.openxmlformats.org/officeDocument/2006/relationships/notesMaster" Target="/ppt/notesMasters/notesMaster1.xml" Id="R0d61ee060ac84a7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75474d3539047e6" /><Relationship Type="http://schemas.openxmlformats.org/officeDocument/2006/relationships/notesMaster" Target="/ppt/notesMasters/notesMaster1.xml" Id="R024ca5b5a17249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18ca82ad4ad4286" /><Relationship Type="http://schemas.openxmlformats.org/officeDocument/2006/relationships/notesMaster" Target="/ppt/notesMasters/notesMaster1.xml" Id="Re3aff00c45db47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本專題以鍵合加工的模擬資料建立缺陷風險排序模型，研究在檢查容量有限的情況下，如何優先檢查較可能有缺陷的紀錄，並用可追溯的評估與模型解釋提出工程調查方向。</a:t>
            </a:r>
          </a:p>
          <a:p xmlns:a="http://schemas.openxmlformats.org/drawingml/2006/main">
            <a:r>
              <a:t>這份研究尚未使用真實製程資料，所有結果都限定在目前模擬資料與分析設定。</a:t>
            </a:r>
          </a:p>
          <a:p xmlns:a="http://schemas.openxmlformats.org/drawingml/2006/main">
            <a:r>
              <a:t>來源：README.zh-TW.md，results/final_evaluation.csv，職務內容依提供的職缺文字。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問題定義為加工後、品質檢查前的檢查優先排序，因為平均溫度與加工時間等摘要需要在該步驟完成後才可取得。</a:t>
            </a:r>
          </a:p>
          <a:p xmlns:a="http://schemas.openxmlformats.org/drawingml/2006/main">
            <a:r>
              <a:t>假設某批紀錄只能檢查百分之二十，模型用可用參數產生分數，整批排序後選取高分紀錄，再以品質標籤評估涵蓋率。</a:t>
            </a:r>
          </a:p>
          <a:p xmlns:a="http://schemas.openxmlformats.org/drawingml/2006/main">
            <a:r>
              <a:t>百分之二十只是容量示範，放行、攔貨與停機仍依現場 SOP，模型沒有執行這些動作。</a:t>
            </a:r>
          </a:p>
          <a:p xmlns:a="http://schemas.openxmlformats.org/drawingml/2006/main">
            <a:r>
              <a:t>來源：notebooks/SoIC_Bonding_01_EDA.ipynb，models/model_metadata.json。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製程工程應用涵蓋製程開發與維持、設備排查、跨部門溝通與 SPC／DOE，Python 與模型分析可提供資料支持。</a:t>
            </a:r>
          </a:p>
          <a:p xmlns:a="http://schemas.openxmlformats.org/drawingml/2006/main">
            <a:r>
              <a:t>每個分析步驟對應到一個工程問題，並保留證據層級，現有成果支持資料分析，現場操作與量產改善需額外驗證。</a:t>
            </a:r>
          </a:p>
          <a:p xmlns:a="http://schemas.openxmlformats.org/drawingml/2006/main">
            <a:r>
              <a:t>雙語技術文件與交接方法可支持跨廠協作，現場責任依實際作業規範確認。</a:t>
            </a:r>
          </a:p>
          <a:p xmlns:a="http://schemas.openxmlformats.org/drawingml/2006/main">
            <a:r>
              <a:t>來源：使用者提供的 2027預聘_SoIC AP7P2(嘉義) &amp; SoIC AZ(美國) 3DAS Process Engineer 職缺文字。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資料有十萬筆，代表模擬晶圓加工紀錄，包含四千批次與三台機台，缺陷率為百分之十點零四六。</a:t>
            </a:r>
          </a:p>
          <a:p xmlns:a="http://schemas.openxmlformats.org/drawingml/2006/main">
            <a:r>
              <a:t>七個數值特徵構成模型輸入，編號與時間供追溯及資料切分。</a:t>
            </a:r>
          </a:p>
          <a:p xmlns:a="http://schemas.openxmlformats.org/drawingml/2006/main">
            <a:r>
              <a:t>溫度、壓力、時間與對準誤差的物理單位尚未記錄，粒子數的量測面積和門檻也未知，因此不能把數值當成真實配方。</a:t>
            </a:r>
          </a:p>
          <a:p xmlns:a="http://schemas.openxmlformats.org/drawingml/2006/main">
            <a:r>
              <a:t>來源：data/synthetic_bonding_data.csv，models/model_metadata.json。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資料依批次最早時間排序，分成七成訓練、一成五驗證與一成五測試，並檢查各集合的時間範圍沒有重疊。</a:t>
            </a:r>
          </a:p>
          <a:p xmlns:a="http://schemas.openxmlformats.org/drawingml/2006/main">
            <a:r>
              <a:t>訓練資料決定模型參數，驗證集比較模型與政策，測試集評估固定版本。</a:t>
            </a:r>
          </a:p>
          <a:p xmlns:a="http://schemas.openxmlformats.org/drawingml/2006/main">
            <a:r>
              <a:t>同批次不跨集合可降低批次相似性造成的評估偏差，但全期間 EDA 已先看過，因此正式確認仍需要新期間資料。</a:t>
            </a:r>
          </a:p>
          <a:p xmlns:a="http://schemas.openxmlformats.org/drawingml/2006/main">
            <a:r>
              <a:t>來源：notebooks/SoIC_Bonding_01_EDA.ipynb，results/final_evaluation.csv。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參數分組圖以組內中位數作為 X 軸，缺陷比例作為 Y 軸，因此點代表一組紀錄。</a:t>
            </a:r>
          </a:p>
          <a:p xmlns:a="http://schemas.openxmlformats.org/drawingml/2006/main">
            <a:r>
              <a:t>溫度、壓力與時間呈 U 形，Spearman 只檢查單調方向，接近零仍可能存在非線性關係。</a:t>
            </a:r>
          </a:p>
          <a:p xmlns:a="http://schemas.openxmlformats.org/drawingml/2006/main">
            <a:r>
              <a:t>TOOL_C 的缺陷率較高，可形成調查範圍，但仍需核對產品與時段，機台差異無法直接等同設備故障。</a:t>
            </a:r>
          </a:p>
          <a:p xmlns:a="http://schemas.openxmlformats.org/drawingml/2006/main">
            <a:r>
              <a:t>來源：notebooks/SoIC_Bonding_01_EDA.ipynb，固定 CSV 的分組結果。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這頁數值來自 Logistic Regression 驗證集，門檻改變的是警報規則，模型分數與排序沒有改變。</a:t>
            </a:r>
          </a:p>
          <a:p xmlns:a="http://schemas.openxmlformats.org/drawingml/2006/main">
            <a:r>
              <a:t>從零點五降到零點一，Recall 從百分之十點七升到七十三點一，警報從兩百五十筆增加到五千兩百零九筆，漏判減少的同時需要更多檢查。</a:t>
            </a:r>
          </a:p>
          <a:p xmlns:a="http://schemas.openxmlformats.org/drawingml/2006/main">
            <a:r>
              <a:t>接著固定相同檢查量比較模型，才能評估排序方法本身的差異。</a:t>
            </a:r>
          </a:p>
          <a:p xmlns:a="http://schemas.openxmlformats.org/drawingml/2006/main">
            <a:r>
              <a:t>來源：results/threshold_comparison_logistic.csv。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兩個模型都使用相同七個數值特徵，在同一份驗證集各選風險最高的三千筆。</a:t>
            </a:r>
          </a:p>
          <a:p xmlns:a="http://schemas.openxmlformats.org/drawingml/2006/main">
            <a:r>
              <a:t>Logistic Regression 涵蓋九百五十八筆缺陷，梯度提升樹涵蓋一千兩百二十六筆，差距為兩百六十八筆，未涵蓋缺陷從六百九十五筆降到四百二十七筆，相對下降百分之三十八點六。</a:t>
            </a:r>
          </a:p>
          <a:p xmlns:a="http://schemas.openxmlformats.org/drawingml/2006/main">
            <a:r>
              <a:t>這是選取成效，尚未證明製造缺陷生成率、良率或成本改善，非線性表達能力是合理改善機制，尚未量化各機制貢獻。</a:t>
            </a:r>
          </a:p>
          <a:p xmlns:a="http://schemas.openxmlformats.org/drawingml/2006/main">
            <a:r>
              <a:t>來源：results/model_comparison.csv。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測試集有一萬五千筆紀錄，其中兩千六百五十七筆有缺陷，模型選出三千筆，其中一千九百二十七筆有缺陷，一千零七十三筆沒有缺陷。</a:t>
            </a:r>
          </a:p>
          <a:p xmlns:a="http://schemas.openxmlformats.org/drawingml/2006/main">
            <a:r>
              <a:t>剩下的一萬兩千筆仍有七百三十筆缺陷，所以未警報不能被視為合格放行證據。</a:t>
            </a:r>
          </a:p>
          <a:p xmlns:a="http://schemas.openxmlformats.org/drawingml/2006/main">
            <a:r>
              <a:t>若隨機選三千筆，預期涵蓋五百三十一點四筆，模型約為其三點六三倍，這是缺陷濃度提升，尚未換算工時與成本。</a:t>
            </a:r>
          </a:p>
          <a:p xmlns:a="http://schemas.openxmlformats.org/drawingml/2006/main">
            <a:r>
              <a:t>來源：results/final_evaluation.csv，算式 1927/(3000*2657/15000)。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驗證 Recall 為百分之七十四點二，測試為七十二點五，相差一點七個百分點，固定容量的涵蓋率在這次較晚期間仍接近。</a:t>
            </a:r>
          </a:p>
          <a:p xmlns:a="http://schemas.openxmlformats.org/drawingml/2006/main">
            <a:r>
              <a:t>測試缺陷率從百分之十一點零二上升到十七點七一，這會影響 Precision 與 AP，不能把兩者上升全部解讀成模型泛化改善。</a:t>
            </a:r>
          </a:p>
          <a:p xmlns:a="http://schemas.openxmlformats.org/drawingml/2006/main">
            <a:r>
              <a:t>ROC-AUC 由零點八八七升到零點九一二，提供排序判別的補充證據，仍需更多窗口與 lot-aware 不確定性估計。</a:t>
            </a:r>
          </a:p>
          <a:p xmlns:a="http://schemas.openxmlformats.org/drawingml/2006/main">
            <a:r>
              <a:t>來源：results/final_evaluation.csv。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置換重要性固定模型，將驗證集一個欄位打亂五次，以 AP 下降量衡量依賴程度。</a:t>
            </a:r>
          </a:p>
          <a:p xmlns:a="http://schemas.openxmlformats.org/drawingml/2006/main">
            <a:r>
              <a:t>對準誤差最大，平均溫度與加工時間其次，原本 AP 約零點五九三，打亂對準誤差後約降到零點二六九。</a:t>
            </a:r>
          </a:p>
          <a:p xmlns:a="http://schemas.openxmlformats.org/drawingml/2006/main">
            <a:r>
              <a:t>相關特徵可能共用資訊，所以低重要性不代表物理上不重要，數值也不能加總成因果貢獻，誤差線僅反映打亂重複的波動。</a:t>
            </a:r>
          </a:p>
          <a:p xmlns:a="http://schemas.openxmlformats.org/drawingml/2006/main">
            <a:r>
              <a:t>來源：results/permutation_importance.csv。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這張圖將每筆驗證紀錄的一個參數替換成指定值，再平均預測機率，範圍是第五到第九十五百分位。</a:t>
            </a:r>
          </a:p>
          <a:p xmlns:a="http://schemas.openxmlformats.org/drawingml/2006/main">
            <a:r>
              <a:t>對準誤差增加時模型風險上升，平均溫度與加工時間呈 U 形，這解釋了模型學到的形狀。</a:t>
            </a:r>
          </a:p>
          <a:p xmlns:a="http://schemas.openxmlformats.org/drawingml/2006/main">
            <a:r>
              <a:t>假設替換可能形成少見組合，輸出也未校準，因此低點不能當成最佳配方或工程規格。</a:t>
            </a:r>
          </a:p>
          <a:p xmlns:a="http://schemas.openxmlformats.org/drawingml/2006/main">
            <a:r>
              <a:t>來源：images/04_partial_dependence.png，notebooks/SoIC_Bonding_01_EDA.ipynb，原始分析圖保留為影像。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若高分紀錄集中在某台設備或某時段，需要先核對資料與量測，再分層產品、配方、腔體與維修事件，避免把資料異常當成物理故障。</a:t>
            </a:r>
          </a:p>
          <a:p xmlns:a="http://schemas.openxmlformats.org/drawingml/2006/main">
            <a:r>
              <a:t>對準誤差可以引導查核校正與量測，粒子數可引導查看量測面積與設備維護證據，具體原因仍依現場量測與設備紀錄確認。</a:t>
            </a:r>
          </a:p>
          <a:p xmlns:a="http://schemas.openxmlformats.org/drawingml/2006/main">
            <a:r>
              <a:t>Owner 記錄假設、證據、下一步與完成條件，設備、製程、良率與量測團隊各自提供脈絡，技術員依核准 SOP 執行，處置後用後續量測確認復歸。</a:t>
            </a:r>
          </a:p>
          <a:p xmlns:a="http://schemas.openxmlformats.org/drawingml/2006/main">
            <a:r>
              <a:t>來源：README.zh-TW.md 第十三節，應用規劃尚未導入。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目前筆記本只有描述性趨勢圖，沒有正式管制界限或 out-of-control 規則。</a:t>
            </a:r>
          </a:p>
          <a:p xmlns:a="http://schemas.openxmlformats.org/drawingml/2006/main">
            <a:r>
              <a:t>若要加上 SPC，需要先確認量測系統、穩定基準與合理子群，再依資料性質評估缺陷比例 p-chart 或連續量測管制圖，批次群聚、時間相依與過度離散也要檢查。</a:t>
            </a:r>
          </a:p>
          <a:p xmlns:a="http://schemas.openxmlformats.org/drawingml/2006/main">
            <a:r>
              <a:t>管制界限描述基準變異，規格界限來自工程要求，兩者不可混用，資料沒有規格與穩定性確認，因此沒有 Cpk 結論。</a:t>
            </a:r>
          </a:p>
          <a:p xmlns:a="http://schemas.openxmlformats.org/drawingml/2006/main">
            <a:r>
              <a:t>來源：NIST https://www.itl.nist.gov/div898/handbook/pmc/section3/pmc31.htm，README.zh-TW.md 第十四節，以下屬規劃。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DOE 的目標是驗證因素變化對品質的影響，模型只協助形成與排序假設。</a:t>
            </a:r>
          </a:p>
          <a:p xmlns:a="http://schemas.openxmlformats.org/drawingml/2006/main">
            <a:r>
              <a:t>溫度與時間可在實際步驟、單位與核准範圍確認後作為候選因素，設計應依目標估計交互作用與曲率，並考慮機台與批次的區集、隨機化、獨立重複及精度。</a:t>
            </a:r>
          </a:p>
          <a:p xmlns:a="http://schemas.openxmlformats.org/drawingml/2006/main">
            <a:r>
              <a:t>對準誤差是觀測量，若沒有定義可控制且安全的介入，不能當作任意可設的 treatment，同批多片也未必是獨立重複。</a:t>
            </a:r>
          </a:p>
          <a:p xmlns:a="http://schemas.openxmlformats.org/drawingml/2006/main">
            <a:r>
              <a:t>來源：NIST https://www.itl.nist.gov/div898/handbook/pri/section3/pri3.htm 及 https://www.itl.nist.gov/div898/handbook/pri/section3/pri332.htm，以下屬規劃。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職缺提供嘉義受訓後赴 AZ 的工作情境，跨廠交接需要將單位、品質定義與設備配方脈絡統一，再用當地資料確認模型適用性。</a:t>
            </a:r>
          </a:p>
          <a:p xmlns:a="http://schemas.openxmlformats.org/drawingml/2006/main">
            <a:r>
              <a:t>交接內容包含中英文欄位字典、版本、異常案例與復歸紀錄，跨時區交接明確標示目前狀態、待確認事項、Owner 與完成條件。</a:t>
            </a:r>
          </a:p>
          <a:p xmlns:a="http://schemas.openxmlformats.org/drawingml/2006/main">
            <a:r>
              <a:t>文件與方法能支持交接，當地設備與配方條件仍需驗證。</a:t>
            </a:r>
          </a:p>
          <a:p xmlns:a="http://schemas.openxmlformats.org/drawingml/2006/main">
            <a:r>
              <a:t>來源：使用者提供職缺，README.zh-TW.md 第十六節，跨廠工作流程為規劃。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目前已完成的是模擬資料分析、模型比較與解釋，尚未有量產導入或配方改善的證據。</a:t>
            </a:r>
          </a:p>
          <a:p xmlns:a="http://schemas.openxmlformats.org/drawingml/2006/main">
            <a:r>
              <a:t>需要先補齊單位與標籤定義，取得授權且具代表性的真實資料，再評估更多期間、機台與產品，確認分數校準和缺陷遺漏代價。</a:t>
            </a:r>
          </a:p>
          <a:p xmlns:a="http://schemas.openxmlformats.org/drawingml/2006/main">
            <a:r>
              <a:t>影子模式應維持原有品質規則，經證據與權責確認後再討論調整作業，SPC 與 DOE 的實作也是後續驗證的一部分。</a:t>
            </a:r>
          </a:p>
          <a:p xmlns:a="http://schemas.openxmlformats.org/drawingml/2006/main">
            <a:r>
              <a:t>來源：README.zh-TW.md 第十九節，results/final_evaluation.csv。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Precision 的分母是選中紀錄數，Recall 的分母是所有缺陷數，兩個百分比回答不同問題。</a:t>
            </a:r>
          </a:p>
          <a:p xmlns:a="http://schemas.openxmlformats.org/drawingml/2006/main">
            <a:r>
              <a:t>Lift 用選中紀錄的缺陷率除以整體缺陷率，描述相對隨機選取的濃度，AP 和 ROC-AUC 都不是答對比例。</a:t>
            </a:r>
          </a:p>
          <a:p xmlns:a="http://schemas.openxmlformats.org/drawingml/2006/main">
            <a:r>
              <a:t>來源：results/final_evaluation.csv，指標依程式實作定義。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目前證據是選取清單集中更多缺陷，良率改善需要處置後的獨立結果。</a:t>
            </a:r>
          </a:p>
          <a:p xmlns:a="http://schemas.openxmlformats.org/drawingml/2006/main">
            <a:r>
              <a:t>對準誤差是模型依賴度最高的參數，物理根因尚需量測與實驗確認。</a:t>
            </a:r>
          </a:p>
          <a:p xmlns:a="http://schemas.openxmlformats.org/drawingml/2006/main">
            <a:r>
              <a:t>未選中紀錄仍有缺陷，品質政策需要依規範決定。</a:t>
            </a:r>
          </a:p>
          <a:p xmlns:a="http://schemas.openxmlformats.org/drawingml/2006/main">
            <a:r>
              <a:t>來源：README.zh-TW.md 第十七節。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可從 GitHub 首頁開啟 Colab，下載固定 CSV 後上傳，依序執行分析格，結果表、模型與圖都在儲存庫。</a:t>
            </a:r>
          </a:p>
          <a:p xmlns:a="http://schemas.openxmlformats.org/drawingml/2006/main">
            <a:r>
              <a:t>英文表述可以說：On a synthetic chronological test set, selecting the highest-risk twenty percent covered seventy-two point five percent of defects, with sixty-four point two percent precision. This supports inspection prioritization, with real-process qualification still required.</a:t>
            </a:r>
          </a:p>
          <a:p xmlns:a="http://schemas.openxmlformats.org/drawingml/2006/main">
            <a:r>
              <a:t>資料生成原始碼未保存，固定 CSV 能重現分析輸入，模型載入需要可信來源與版本相容。</a:t>
            </a:r>
          </a:p>
          <a:p xmlns:a="http://schemas.openxmlformats.org/drawingml/2006/main">
            <a:r>
              <a:t>來源：https://github.com/chelsietao/soic-bonding-quality-risk-prediction，models/model_metadata.json。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594b46600945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2bfe7f33c7433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5d37a5a16a42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423f33ab4a4a9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7bc457d1f54da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2964cc16747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7D1A9A8-1E40-4F69-BA6E-7C1794104F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E91B01-5483-4019-886C-1EFD39DE3A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C483A44-DB60-4A87-A520-399432630C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44F97B8-5604-4DA4-B61A-00E45A3A0C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CA1DA6F-A07E-4EB2-8B37-551645E50BE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A3F5FF8-2EC3-487C-83D7-6EE626C3E2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60899F-B3E7-4415-AE91-910E0B0EC2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0DEA16-3FED-4A4C-9967-7F62AACB39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406C65-9C3D-4295-8B6F-F84A5630654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73D851A-0119-4F25-A361-2FF85AE9B7D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ce1323898f4cea" /><Relationship Type="http://schemas.openxmlformats.org/officeDocument/2006/relationships/slideLayout" Target="/ppt/slideLayouts/slideLayout1.xml" Id="R739b60cd8a4e4280" /><Relationship Type="http://schemas.openxmlformats.org/officeDocument/2006/relationships/slideLayout" Target="/ppt/slideLayouts/slideLayout2.xml" Id="Ref6ea8f6473a47e6" /><Relationship Type="http://schemas.openxmlformats.org/officeDocument/2006/relationships/slideLayout" Target="/ppt/slideLayouts/slideLayout3.xml" Id="R0c2461779f704bfc" /><Relationship Type="http://schemas.openxmlformats.org/officeDocument/2006/relationships/slideLayout" Target="/ppt/slideLayouts/slideLayout4.xml" Id="R26d78940b98c4766" /><Relationship Type="http://schemas.openxmlformats.org/officeDocument/2006/relationships/slideLayout" Target="/ppt/slideLayouts/slideLayout5.xml" Id="R31e65d42249a49a8" /><Relationship Type="http://schemas.openxmlformats.org/officeDocument/2006/relationships/slideLayout" Target="/ppt/slideLayouts/slideLayout6.xml" Id="Rfc2febe5710243c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9b60cd8a4e4280"/>
    <p:sldLayoutId xmlns:r="http://schemas.openxmlformats.org/officeDocument/2006/relationships" id="2147483650" r:id="Ref6ea8f6473a47e6"/>
    <p:sldLayoutId xmlns:r="http://schemas.openxmlformats.org/officeDocument/2006/relationships" id="2147483651" r:id="R0c2461779f704bfc"/>
    <p:sldLayoutId xmlns:r="http://schemas.openxmlformats.org/officeDocument/2006/relationships" id="2147483652" r:id="R26d78940b98c4766"/>
    <p:sldLayoutId xmlns:r="http://schemas.openxmlformats.org/officeDocument/2006/relationships" id="2147483653" r:id="R31e65d42249a49a8"/>
    <p:sldLayoutId xmlns:r="http://schemas.openxmlformats.org/officeDocument/2006/relationships" id="2147483654" r:id="Rfc2febe5710243c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9141d92a2e4ee2" /><Relationship Type="http://schemas.openxmlformats.org/officeDocument/2006/relationships/notesSlide" Target="/ppt/notesSlides/notesSlide1.xml" Id="Rbd644c450a744a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6206953a184593" /><Relationship Type="http://schemas.openxmlformats.org/officeDocument/2006/relationships/notesSlide" Target="/ppt/notesSlides/notesSlide2.xml" Id="Rb5b8f31e172546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b827bacff1495f" /><Relationship Type="http://schemas.openxmlformats.org/officeDocument/2006/relationships/notesSlide" Target="/ppt/notesSlides/notesSlide3.xml" Id="R7bd41d33e392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228b433cb492f" /><Relationship Type="http://schemas.openxmlformats.org/officeDocument/2006/relationships/notesSlide" Target="/ppt/notesSlides/notesSlide4.xml" Id="Rf430c3fa0dbe4e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a9022f1a3784e6c" /><Relationship Type="http://schemas.openxmlformats.org/officeDocument/2006/relationships/notesSlide" Target="/ppt/notesSlides/notesSlide5.xml" Id="R14f00406fff042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7a0b4a65f0464b" /><Relationship Type="http://schemas.openxmlformats.org/officeDocument/2006/relationships/notesSlide" Target="/ppt/notesSlides/notesSlide6.xml" Id="R5cbb80acf5dc46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40989ba0104a51" /><Relationship Type="http://schemas.openxmlformats.org/officeDocument/2006/relationships/chart" Target="/ppt/slides/charts/chart1.xml" Id="R277f31cb835349bd" /><Relationship Type="http://schemas.openxmlformats.org/officeDocument/2006/relationships/notesSlide" Target="/ppt/notesSlides/notesSlide7.xml" Id="R32088cff8d9d4ee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ddca391c0940c0" /><Relationship Type="http://schemas.openxmlformats.org/officeDocument/2006/relationships/chart" Target="/ppt/slides/charts/chart2.xml" Id="Rb45e35f1dee2487d" /><Relationship Type="http://schemas.openxmlformats.org/officeDocument/2006/relationships/notesSlide" Target="/ppt/notesSlides/notesSlide8.xml" Id="R5cf4fbc00e5d44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df2823a9305443b" /><Relationship Type="http://schemas.openxmlformats.org/officeDocument/2006/relationships/notesSlide" Target="/ppt/notesSlides/notesSlide9.xml" Id="R893f87d8258d44f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5870a57dae4a2f" /><Relationship Type="http://schemas.openxmlformats.org/officeDocument/2006/relationships/chart" Target="/ppt/slides/charts/chart3.xml" Id="R286e7ce55e544398" /><Relationship Type="http://schemas.openxmlformats.org/officeDocument/2006/relationships/notesSlide" Target="/ppt/notesSlides/notesSlide10.xml" Id="Rec7666f75fdf425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00bfc50d934d8f" /><Relationship Type="http://schemas.openxmlformats.org/officeDocument/2006/relationships/chart" Target="/ppt/slides/charts/chart4.xml" Id="R6d7bd3a422734644" /><Relationship Type="http://schemas.openxmlformats.org/officeDocument/2006/relationships/notesSlide" Target="/ppt/notesSlides/notesSlide11.xml" Id="Ra23e08d3d31c423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028eed46f24a69" /><Relationship Type="http://schemas.openxmlformats.org/officeDocument/2006/relationships/image" Target="/ppt/media/image.png" Id="R6cfa051902094e75" /><Relationship Type="http://schemas.openxmlformats.org/officeDocument/2006/relationships/notesSlide" Target="/ppt/notesSlides/notesSlide12.xml" Id="R838a8003fc4b423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2749bb3aab4771" /><Relationship Type="http://schemas.openxmlformats.org/officeDocument/2006/relationships/notesSlide" Target="/ppt/notesSlides/notesSlide13.xml" Id="Rb6bacfe88ef0462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0fdd18f414c85" /><Relationship Type="http://schemas.openxmlformats.org/officeDocument/2006/relationships/notesSlide" Target="/ppt/notesSlides/notesSlide14.xml" Id="Rba94c8b78f8845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d385dbaaa948d0" /><Relationship Type="http://schemas.openxmlformats.org/officeDocument/2006/relationships/notesSlide" Target="/ppt/notesSlides/notesSlide15.xml" Id="R2a19f8cccb6248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4c4202d1f74c9e" /><Relationship Type="http://schemas.openxmlformats.org/officeDocument/2006/relationships/notesSlide" Target="/ppt/notesSlides/notesSlide16.xml" Id="Rf99fd5836c3a47e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28570b03604614" /><Relationship Type="http://schemas.openxmlformats.org/officeDocument/2006/relationships/notesSlide" Target="/ppt/notesSlides/notesSlide17.xml" Id="R9a5e2ff2061e4a1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4756f251de433f" /><Relationship Type="http://schemas.openxmlformats.org/officeDocument/2006/relationships/notesSlide" Target="/ppt/notesSlides/notesSlide18.xml" Id="R635e175ccade42c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5dbf9470c74d77" /><Relationship Type="http://schemas.openxmlformats.org/officeDocument/2006/relationships/notesSlide" Target="/ppt/notesSlides/notesSlide19.xml" Id="Raed1262ebb2c40b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20a1da99d54a4a" /><Relationship Type="http://schemas.openxmlformats.org/officeDocument/2006/relationships/notesSlide" Target="/ppt/notesSlides/notesSlide20.xml" Id="Rd824307e31554e4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Precision</c:v>
          </c:tx>
          <c:spPr>
            <a:ln xmlns:a="http://schemas.openxmlformats.org/drawingml/2006/main" w="28575">
              <a:solidFill>
                <a:srgbClr val="087F8C"/>
              </a:solidFill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0.30</c:v>
                </c:pt>
                <c:pt idx="5">
                  <c:v>0.40</c:v>
                </c:pt>
                <c:pt idx="6">
                  <c:v>0.50</c:v>
                </c:pt>
              </c:numCache>
            </c:numRef>
          </c:cat>
          <c:val>
            <c:numRef>
              <c:f>'Chart Data'!$B$2:$B$8</c:f>
              <c:numCache>
                <c:formatCode>0%</c:formatCode>
                <c:ptCount val="7"/>
                <c:pt idx="0">
                  <c:v>0.1684489</c:v>
                </c:pt>
                <c:pt idx="1">
                  <c:v>0.2319063</c:v>
                </c:pt>
                <c:pt idx="2">
                  <c:v>0.302458</c:v>
                </c:pt>
                <c:pt idx="3">
                  <c:v>0.3783057</c:v>
                </c:pt>
                <c:pt idx="4">
                  <c:v>0.4982699</c:v>
                </c:pt>
                <c:pt idx="5">
                  <c:v>0.6219081</c:v>
                </c:pt>
                <c:pt idx="6">
                  <c:v>0.708</c:v>
                </c:pt>
              </c:numCache>
            </c:numRef>
          </c:val>
          <c:smooth val="0"/>
        </c:ser>
        <c:ser>
          <c:idx val="1"/>
          <c:order val="1"/>
          <c:tx>
            <c:v>Recall</c:v>
          </c:tx>
          <c:spPr>
            <a:ln xmlns:a="http://schemas.openxmlformats.org/drawingml/2006/main" w="28575">
              <a:solidFill>
                <a:srgbClr val="C54D4D"/>
              </a:solidFill>
            </a:ln>
          </c:spPr>
          <c:marker>
            <c:symbol val="none"/>
          </c:marker>
          <c:cat>
            <c:numRef>
              <c:f>'Chart Data'!$C$2:$C$8</c:f>
              <c:numCache>
                <c:formatCode>General</c:formatCode>
                <c:ptCount val="7"/>
                <c:pt idx="0">
                  <c:v>0.05</c:v>
                </c:pt>
                <c:pt idx="1">
                  <c:v>0.10</c:v>
                </c:pt>
                <c:pt idx="2">
                  <c:v>0.15</c:v>
                </c:pt>
                <c:pt idx="3">
                  <c:v>0.20</c:v>
                </c:pt>
                <c:pt idx="4">
                  <c:v>0.30</c:v>
                </c:pt>
                <c:pt idx="5">
                  <c:v>0.40</c:v>
                </c:pt>
                <c:pt idx="6">
                  <c:v>0.50</c:v>
                </c:pt>
              </c:numCache>
            </c:numRef>
          </c:cat>
          <c:val>
            <c:numRef>
              <c:f>'Chart Data'!$D$2:$D$8</c:f>
              <c:numCache>
                <c:formatCode>0%</c:formatCode>
                <c:ptCount val="7"/>
                <c:pt idx="0">
                  <c:v>0.8862674</c:v>
                </c:pt>
                <c:pt idx="1">
                  <c:v>0.7307925</c:v>
                </c:pt>
                <c:pt idx="2">
                  <c:v>0.6104053</c:v>
                </c:pt>
                <c:pt idx="3">
                  <c:v>0.5105868</c:v>
                </c:pt>
                <c:pt idx="4">
                  <c:v>0.3484574</c:v>
                </c:pt>
                <c:pt idx="5">
                  <c:v>0.2129462</c:v>
                </c:pt>
                <c:pt idx="6">
                  <c:v>0.107078</c:v>
                </c:pt>
              </c:numCache>
            </c:numRef>
          </c:val>
          <c:smooth val="0"/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B43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Heiti TC"/>
              <a:ea typeface="Heiti TC"/>
              <a:cs typeface="Heiti TC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涵蓋缺陷數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Logistic Regression</c:v>
                </c:pt>
                <c:pt idx="1">
                  <c:v>Gradient Boosting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958</c:v>
                </c:pt>
                <c:pt idx="1">
                  <c:v>1226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B43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Recall at top 20%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Validation</c:v>
                </c:pt>
                <c:pt idx="1">
                  <c:v>Test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0.74168179</c:v>
                </c:pt>
                <c:pt idx="1">
                  <c:v>0.72525405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B43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AP decrease</c:v>
          </c:tx>
          <c:spPr>
            <a:solidFill xmlns:a="http://schemas.openxmlformats.org/drawingml/2006/main">
              <a:srgbClr val="087F8C"/>
            </a:solidFill>
          </c:spPr>
          <c:invertIfNegative val="0"/>
          <c:cat>
            <c:strRef>
              <c:f>'Chart Data'!$A$2:$A$8</c:f>
              <c:strCache>
                <c:ptCount val="7"/>
                <c:pt idx="0">
                  <c:v>對準誤差</c:v>
                </c:pt>
                <c:pt idx="1">
                  <c:v>平均溫度</c:v>
                </c:pt>
                <c:pt idx="2">
                  <c:v>加工時間</c:v>
                </c:pt>
                <c:pt idx="3">
                  <c:v>平均壓力</c:v>
                </c:pt>
                <c:pt idx="4">
                  <c:v>粒子數</c:v>
                </c:pt>
                <c:pt idx="5">
                  <c:v>溫度波動</c:v>
                </c:pt>
                <c:pt idx="6">
                  <c:v>維修後次數</c:v>
                </c:pt>
              </c:strCache>
            </c:strRef>
          </c:cat>
          <c:val>
            <c:numRef>
              <c:f>'Chart Data'!$B$2:$B$8</c:f>
              <c:numCache>
                <c:formatCode>0.00</c:formatCode>
                <c:ptCount val="7"/>
                <c:pt idx="0">
                  <c:v>0.323663</c:v>
                </c:pt>
                <c:pt idx="1">
                  <c:v>0.208988</c:v>
                </c:pt>
                <c:pt idx="2">
                  <c:v>0.145942</c:v>
                </c:pt>
                <c:pt idx="3">
                  <c:v>0.076539</c:v>
                </c:pt>
                <c:pt idx="4">
                  <c:v>0.036939</c:v>
                </c:pt>
                <c:pt idx="5">
                  <c:v>0.004595</c:v>
                </c:pt>
                <c:pt idx="6">
                  <c:v>0.003604</c:v>
                </c:pt>
              </c:numCache>
            </c:numRef>
          </c:val>
        </c:ser>
        <c:dLbls>
          <c:numFmt formatCode="0.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42B43"/>
                  </a:solidFill>
                  <a:latin typeface="Heiti TC"/>
                  <a:ea typeface="Heiti TC"/>
                  <a:cs typeface="Heiti T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CE4EA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72768"/>
      </c:catAx>
      <c:valAx>
        <c:axId val="48672768"/>
        <c:scaling>
          <c:orientation val="minMax"/>
          <c:max val="0.3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A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Heiti TC"/>
                <a:ea typeface="Heiti TC"/>
                <a:cs typeface="Heiti TC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1D3591-EEAC-4994-9AF9-424D4630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SoIC 鍵合品質風險預測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BF957E-5923-4CAB-ADD5-BBFA918C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95E63F-2845-422C-98A5-CFE29941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D55988-75B1-415A-8CE6-B643C0A1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6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360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有限檢查容量下的缺陷涵蓋率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B9AF0-8114-4C82-948D-97156295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7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7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20% 檢查量，涵蓋 72.5% 測試缺陷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49871-20F0-4FCC-84A4-C781FB24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3DAS Process Engineer 技術專題說明</a:t>
            </a:r>
          </a:p>
          <a:p xmlns:a="http://schemas.openxmlformats.org/drawingml/2006/main">
            <a:pPr>
              <a:defRPr sz="21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21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嘉義受訓與 AZ 工作情境</a:t>
            </a:r>
          </a:p>
        </p:txBody>
      </p:sp>
    </p:spTree>
    <p:extLst>
      <p:ext uri="{BB962C8B-B14F-4D97-AF65-F5344CB8AC3E}">
        <p14:creationId xmlns:p14="http://schemas.microsoft.com/office/powerpoint/2010/main" val="164064489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209082-C548-4E28-AB9C-412741F5A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工程問題與決策時點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59CB9F-858D-46BF-B3E1-1F5E27F8E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E0BCC0-6F18-45D7-9CFC-76DB9BDC1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B23B6-4B4A-42F3-9980-D3EE868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加工後、品質檢查前，使用已取得的製程摘要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5485B1-DCCD-4EDB-A016-A696EE08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整批紀錄依風險排序，固定選取前 20%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45295F-96B6-4823-A76A-B346C765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以品質標籤評估清單，觀察缺陷涵蓋率與檢查命中率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FBB01-2E05-4FE3-BE78-2070630E2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現場品質規則與負責人，決定後續處置</a:t>
            </a:r>
          </a:p>
        </p:txBody>
      </p:sp>
    </p:spTree>
    <p:extLst>
      <p:ext uri="{BB962C8B-B14F-4D97-AF65-F5344CB8AC3E}">
        <p14:creationId xmlns:p14="http://schemas.microsoft.com/office/powerpoint/2010/main" val="7794794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EAA08-E474-42EA-8049-554711E22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與 3DAS Process Engineer 的連結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1BB61C-2C5D-4ECE-A673-389B80A84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4E922-BAC8-4935-BAFD-5FE080264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442DA-81CE-43C7-9CA0-FFE3372E2B80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00500"/>
                <a:gridCol w="443865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職務內容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專題證據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延伸工作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製程改善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區間與非線性風險分析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實驗驗證候選假設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設備與日常維持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機台、時間分層觀察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加入腔體、配方與維修紀錄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SPC／DOE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方法銜接規劃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管制圖與核准實驗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Python／溝通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模型、雙語文件與版本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跨團隊問題追蹤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21023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AB847E-94B2-4A3B-AC86-5242AAE95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資料範圍與工程定義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66AE9C-1BAC-40F7-98B5-0320AACD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88AEAB-A79A-4BC8-8579-5AF383F3A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F4328-C6B1-49B2-AB23-61564D8F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100,000 筆紀錄，4,000 批次，3 台機台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D353C-A188-4853-81FC-73F33767ACF1}"/>
              </a:ext>
            </a:extLst>
          </p:cNvPr>
          <p:cNvGraphicFramePr/>
          <p:nvPr/>
        </p:nvGraphicFramePr>
        <p:xfrm>
          <a:off xmlns:a="http://schemas.openxmlformats.org/drawingml/2006/main" x="685800" y="2333625"/>
          <a:ext xmlns:a="http://schemas.openxmlformats.org/drawingml/2006/main" cx="108204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6191250"/>
                <a:gridCol w="2247900"/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資料類型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製程摘要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溫度平均值、溫度標準差、壓力、時間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模型輸入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加工前與設備狀態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對準誤差、粒子數、維修後加工次數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模型輸入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追溯與品質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晶圓、批次、機台、時間與缺陷標籤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分層、切分與評估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009917-F5E1-401F-AB51-30A6AC84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C54D4D"/>
                </a:solidFill>
                <a:latin typeface="Heiti TC"/>
                <a:ea typeface="Heiti TC"/>
                <a:cs typeface="Heiti TC"/>
              </a:rPr>
              <a:t>物理單位與缺陷判定未定義，真實製程解讀前需補齊</a:t>
            </a:r>
          </a:p>
        </p:txBody>
      </p:sp>
    </p:spTree>
    <p:extLst>
      <p:ext uri="{BB962C8B-B14F-4D97-AF65-F5344CB8AC3E}">
        <p14:creationId xmlns:p14="http://schemas.microsoft.com/office/powerpoint/2010/main" val="2476216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3A59FA-2A88-4BA0-AA40-94E87F3A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時間與批次切分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7BAE3-A227-4AC7-83B3-CFDD0AE68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B61690-4B9F-4099-B172-F4D4E10A6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1D5D4-79E7-403A-966F-091C8C9D84B0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857500"/>
                <a:gridCol w="1905000"/>
                <a:gridCol w="4343400"/>
              </a:tblGrid>
              <a:tr h="7858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資料集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紀錄／批次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缺陷率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用途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訓練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70,000／2,800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8.19%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學習模型與前處理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驗證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15,000／600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11.02%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比較模型與政策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測試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15,000／600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17.71%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固定版本評估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E1DAB-6A7F-4230-AA7F-E15EC2D6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較晚期間缺陷率上升，時間順序是評估的重要條件</a:t>
            </a:r>
          </a:p>
        </p:txBody>
      </p:sp>
    </p:spTree>
    <p:extLst>
      <p:ext uri="{BB962C8B-B14F-4D97-AF65-F5344CB8AC3E}">
        <p14:creationId xmlns:p14="http://schemas.microsoft.com/office/powerpoint/2010/main" val="865843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1B1696-B8F2-4480-A0FC-FA465E2C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探索性分析的工程線索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56649-0E42-4C71-976B-97A26ABA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7DAF18-1D76-4C15-90D5-12A6EE43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D9B21-DC2E-4B27-80E8-1F070E67267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905250"/>
                <a:gridCol w="3486150"/>
              </a:tblGrid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觀察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可提出的問題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證據限制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溫度／壓力／時間呈 U 形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哪些區間值得查核？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需控制其他條件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對準誤差增加，缺陷率上升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量測與對位校正是否變化？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需要設備與量測證據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TOOL_C 缺陷率 13.46%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產品、配方或時段是否不同？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未隔離設備因果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後期缺陷率上升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維修、材料或製程條件是否改變？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趨勢圖尚非 SPC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5987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1E869-FF96-4891-8B04-107B98A6D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基準模型的門檻取捨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CB137-FA13-457A-BED9-A1230E1F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EB410F-E59A-493E-B586-CF3B21F0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7127142-CA48-42AA-893F-8BA745F4E35D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524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7f31cb835349b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7C266D-658F-485E-8280-CE460F0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145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門檻 0.50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250 次警報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Recall 10.7%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F822F-E860-45A8-B1D6-BB90C756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85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門檻 0.10</a:t>
            </a:r>
          </a:p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5,209 次警報</a:t>
            </a:r>
          </a:p>
          <a:p xmlns:a="http://schemas.openxmlformats.org/drawingml/2006/main">
            <a:pPr>
              <a:defRPr sz="21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Recall 73.1%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4D3C7-FF02-4A54-8CD3-4595A79D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1082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X 軸為機率門檻，這頁屬於 Logistic Regression</a:t>
            </a:r>
          </a:p>
        </p:txBody>
      </p:sp>
    </p:spTree>
    <p:extLst>
      <p:ext uri="{BB962C8B-B14F-4D97-AF65-F5344CB8AC3E}">
        <p14:creationId xmlns:p14="http://schemas.microsoft.com/office/powerpoint/2010/main" val="10681462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0F0D89-8FEA-413D-9F20-D3FCFEF36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同樣檢查 3,000 筆，多涵蓋 268 筆缺陷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6507E9-3E66-4793-A7AF-B6DF5A4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B017DB-F171-4F31-A489-2EFD7AA7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08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AE4B6C5F-C8BF-4038-9EC8-3F61282F5B28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3342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45e35f1dee2487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63B6A-D7E7-46F8-B4FE-9123843AD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Recall</a:t>
            </a:r>
          </a:p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25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58.0%  提升至  74.2%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A357E-917A-4684-85CF-363D8566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4325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AP</a:t>
            </a:r>
          </a:p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0.421  提升至  0.593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2B8295-7B2B-47AC-A306-7CECA17B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62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相同容量，衡量風險排序的改善</a:t>
            </a:r>
          </a:p>
        </p:txBody>
      </p:sp>
    </p:spTree>
    <p:extLst>
      <p:ext uri="{BB962C8B-B14F-4D97-AF65-F5344CB8AC3E}">
        <p14:creationId xmlns:p14="http://schemas.microsoft.com/office/powerpoint/2010/main" val="114009108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8756D-829B-4274-AA2B-E6F8260C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測試集，20% 檢查量涵蓋 72.5% 缺陷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AF9FDD-E85B-46E5-9AC1-9A9BB300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1D56CF-AFFC-4BAE-8477-69EEC244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8BE8E-1C24-4A2B-80C8-7C31B7F0DEF7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838575"/>
                <a:gridCol w="3838575"/>
              </a:tblGrid>
              <a:tr h="85725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實際結果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未選入檢查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選入檢查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無缺陷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11,270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1,073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有缺陷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730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1,927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B50D2E-072B-4D8D-9BD4-558814F5C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7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70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Precision 64.2%，Recall 72.5%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943F56-904B-4204-A7D9-DB41F7ED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C54D4D"/>
                </a:solidFill>
                <a:latin typeface="Heiti TC"/>
                <a:ea typeface="Heiti TC"/>
                <a:cs typeface="Heiti TC"/>
              </a:rPr>
              <a:t>未選中紀錄仍有 6.08% 缺陷，放行依既有品質規範</a:t>
            </a:r>
          </a:p>
        </p:txBody>
      </p:sp>
    </p:spTree>
    <p:extLst>
      <p:ext uri="{BB962C8B-B14F-4D97-AF65-F5344CB8AC3E}">
        <p14:creationId xmlns:p14="http://schemas.microsoft.com/office/powerpoint/2010/main" val="18944420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5F2B0-67BD-4EB9-8559-D0B7F5618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跨期間評估與缺陷率變化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168526-1505-4BA7-B8D4-135245269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02BEF-DFE6-47AB-8C34-9F121D52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10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06F0E50A-F81A-4B10-96E2-CB6B57D0BFBB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143750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6e7ce55e54439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26FFEC-3793-4154-B4A9-595B8C629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14500"/>
            <a:ext cx="3143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缺陷率</a:t>
            </a:r>
          </a:p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25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11.02%  至  17.71%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DB512-F9BC-49BB-8437-A988573C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測試 AP 0.756</a:t>
            </a:r>
          </a:p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測試 ROC-AUC 0.912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87049-CA88-48B1-A6FD-53939AB47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143500"/>
            <a:ext cx="314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pPr>
            <a:r>
              <a:rPr sz="2025" b="0">
                <a:solidFill>
                  <a:srgbClr val="C54D4D"/>
                </a:solidFill>
                <a:latin typeface="Heiti TC"/>
                <a:ea typeface="Heiti TC"/>
                <a:cs typeface="Heiti TC"/>
              </a:rPr>
              <a:t>單一時間切分，尚未證明量產穩定性</a:t>
            </a:r>
          </a:p>
        </p:txBody>
      </p:sp>
    </p:spTree>
    <p:extLst>
      <p:ext uri="{BB962C8B-B14F-4D97-AF65-F5344CB8AC3E}">
        <p14:creationId xmlns:p14="http://schemas.microsoft.com/office/powerpoint/2010/main" val="154539670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A7A2A-BF5A-4B0C-B345-190026D9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模型依賴的參數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70967A-0E8D-4A68-990E-BCC7224E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340D14-13D3-4FFA-BEA0-7E2511C5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11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79C7493-3AC3-46AB-9A59-BE90FFA429C4}"/>
              </a:ext>
            </a:extLst>
          </p:cNvPr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d7bd3a42273464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390DC5-D574-4A64-8A02-CC21EC1D4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pPr>
            <a:r>
              <a:rPr sz="1950" b="0">
                <a:solidFill>
                  <a:srgbClr val="C54D4D"/>
                </a:solidFill>
                <a:latin typeface="Heiti TC"/>
                <a:ea typeface="Heiti TC"/>
                <a:cs typeface="Heiti TC"/>
              </a:rPr>
              <a:t>Y 軸為 AP 下降量，代表模型依賴程度，因果仍需驗證</a:t>
            </a:r>
          </a:p>
        </p:txBody>
      </p:sp>
    </p:spTree>
    <p:extLst>
      <p:ext uri="{BB962C8B-B14F-4D97-AF65-F5344CB8AC3E}">
        <p14:creationId xmlns:p14="http://schemas.microsoft.com/office/powerpoint/2010/main" val="6115238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6818D7-C103-4A42-B33A-58CDD9CC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參數變化與模型預測反應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EE29B-F5C7-4B5C-8E41-3C97EDBC6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4B81F-0D85-4158-94C8-279A3AAC8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12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28245-06C9-4CC9-AC1E-7DC39DC9DC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fa051902094e75"/>
          <a:stretch xmlns:a="http://schemas.openxmlformats.org/drawingml/2006/main"/>
        </p:blipFill>
        <p:spPr>
          <a:xfrm xmlns:a="http://schemas.openxmlformats.org/drawingml/2006/main">
            <a:off x="533400" y="1562100"/>
            <a:ext cx="11125200" cy="3476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07DAB-F849-4F18-ABF8-FF4E05D6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C54D4D"/>
                </a:solidFill>
                <a:latin typeface="Heiti TC"/>
                <a:ea typeface="Heiti TC"/>
                <a:cs typeface="Heiti TC"/>
              </a:defRPr>
            </a:pPr>
            <a:r>
              <a:rPr sz="2175" b="0">
                <a:solidFill>
                  <a:srgbClr val="C54D4D"/>
                </a:solidFill>
                <a:latin typeface="Heiti TC"/>
                <a:ea typeface="Heiti TC"/>
                <a:cs typeface="Heiti TC"/>
              </a:rPr>
              <a:t>曲線描述模型反應，低點與轉折尚非製程窗口或失效門檻</a:t>
            </a:r>
          </a:p>
        </p:txBody>
      </p:sp>
    </p:spTree>
    <p:extLst>
      <p:ext uri="{BB962C8B-B14F-4D97-AF65-F5344CB8AC3E}">
        <p14:creationId xmlns:p14="http://schemas.microsoft.com/office/powerpoint/2010/main" val="21047226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EEF6F8-4B0E-4CC2-93D6-100ECF93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設備異常的追查與復歸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B41734-716A-4430-911E-6B7C61671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74E75D-0AC8-4334-A87E-F6053855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BE7297-23E1-4BF1-B632-DFEDC17CEA78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5429250"/>
                <a:gridCol w="3057525"/>
              </a:tblGrid>
              <a:tr h="7905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工作階段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確認內容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交付物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資料與範圍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單位、標籤、機台、產品及配方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受影響範圍表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物理證據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校正、警報、粒子與維修歷史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候選原因與證據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處置與分工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現場 SOP、Owner 與升級條件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行動與完成條件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復歸確認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獨立量測及後續加工結果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復歸與追蹤紀錄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436695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E006F-28D0-496D-A766-99F25929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SPC 延伸規劃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0F6B9-A003-4CD2-8A5E-5C8852B1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5D43-60A1-4606-98F4-5FED962D3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B05BEA-50F4-4D9C-BA9E-87504170D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已完成描述性趨勢，正式 SPC 尚待實作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F6591-ABBD-4BCD-969A-403D1500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先確認量測、穩定基準與合理子群，再選擇管制圖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34E41D-5FA6-4D61-8A60-C877CEF0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缺陷比例可評估 p-chart，需檢查群聚與過度離散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220754-DD5F-4B76-8224-1A8B9C6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管制界限與規格用途不同，目前無 Cpk 合格結論</a:t>
            </a:r>
          </a:p>
        </p:txBody>
      </p:sp>
    </p:spTree>
    <p:extLst>
      <p:ext uri="{BB962C8B-B14F-4D97-AF65-F5344CB8AC3E}">
        <p14:creationId xmlns:p14="http://schemas.microsoft.com/office/powerpoint/2010/main" val="56651990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D7F398-4EC2-47DD-9E89-5B69BF58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DOE 延伸規劃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931BDD-253C-4A79-B88E-B282F1F77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5443D-8415-4B5E-829C-7C58D972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0E6BF6-8994-4E3E-81A8-4B65A88A4C2D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4286250"/>
                <a:gridCol w="4343400"/>
              </a:tblGrid>
              <a:tr h="8001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設計要素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候選方向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執行前確認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因素與反應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溫度／時間設定，明確品質量測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單位、可控性及核准範圍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效應估計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交互作用與曲率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設計能辨識所需效應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干擾與重複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機台／批次區集與執行順序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實驗單位、獨立重複及精度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工程接受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效果大小與復驗條件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量測系統與安全規範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98102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A19C2-7BB6-4E3A-AFBB-601BE0CC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嘉義與 AZ 的技術交接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7EE28-3E85-460F-9F71-829FC9064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867F8-E666-4679-9A67-8850F15A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96F95-D937-4113-BA5E-888DB265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共同定義，對齊欄位單位、缺陷分類與量測流程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0E5B1-F4F1-4DE0-BCF6-9FA6977F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當地驗證，確認設備、配方與產品差異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01DEE4-7608-4EAD-90CC-030B19CA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交接紀錄，保留版本、異常範圍與復歸證據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124C35-4E1A-407D-9019-A3A60D7D4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跨時區協作，列明 Owner、待確認事項與完成條件</a:t>
            </a:r>
          </a:p>
        </p:txBody>
      </p:sp>
    </p:spTree>
    <p:extLst>
      <p:ext uri="{BB962C8B-B14F-4D97-AF65-F5344CB8AC3E}">
        <p14:creationId xmlns:p14="http://schemas.microsoft.com/office/powerpoint/2010/main" val="1738477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B2CD14-4220-49A8-9698-E33A6D7A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證據範圍與下一個驗證階段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172089-AE3F-41F2-BC0A-D611582C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53FF36-A195-4838-A8FE-AD1689F7B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0996F9-8612-4C94-9623-BD615351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目前證據，模擬資料上的排序成效與模型解釋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6DF69-F08D-44D8-A801-051CE4F2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先補定義，確認單位、步驟與品質標籤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D4575-1E11-4CA5-8379-BDACB11E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再做驗證，加入新期間、機台與產品資料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C26BD-849E-4506-B0B4-66BE33F85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00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後續導入，影子模式、責任分工與核准實驗</a:t>
            </a:r>
          </a:p>
        </p:txBody>
      </p:sp>
    </p:spTree>
    <p:extLst>
      <p:ext uri="{BB962C8B-B14F-4D97-AF65-F5344CB8AC3E}">
        <p14:creationId xmlns:p14="http://schemas.microsoft.com/office/powerpoint/2010/main" val="95165113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71B3A7-A187-46E2-BFD6-A78BF307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附錄，指標與分母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9CAD0A-7C33-4DA5-95DE-5AD499279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D17043-15AA-4212-AEBA-FAECEB0A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18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74FB9-B56E-459F-85EC-9ABA606079DA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86000"/>
                <a:gridCol w="4476750"/>
                <a:gridCol w="4057650"/>
              </a:tblGrid>
              <a:tr h="8001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指標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測試集計算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意義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Precision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1,927 ÷ 3,000＝64.2%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檢查命中率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Recall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1,927 ÷ 2,657＝72.5%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缺陷涵蓋率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Residual rate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730 ÷ 12,000＝6.08%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未選中群的缺陷率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Lift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64.2333% ÷ 17.7133%＝3.63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相對隨機選取的濃度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64845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0451-D226-4572-A31A-C1DDD55F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附錄，技術問題與結果解讀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15088-F2C4-40E6-8C6B-4AFCC756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47B44-D1BC-4C05-BB1F-184C9EAF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19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D7FF0-43A6-49EF-9696-484C573CBAC8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105650"/>
              </a:tblGrid>
              <a:tr h="8001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追問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Heiti TC"/>
                          <a:ea typeface="Heiti TC"/>
                          <a:cs typeface="Heiti TC"/>
                        </a:rPr>
                        <a:t>回答依據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42B43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能否宣稱良率提升？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目前是排序增益，需改善後量測才能驗證良率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對準誤差是否最大根因？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模型依賴度最高，物理因果需額外證據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能否放行未警報紀錄？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清單外仍有 730 筆缺陷，放行依品質規範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SPC／DOE 做到哪裡？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42B43"/>
                          </a:solidFill>
                          <a:latin typeface="Heiti TC"/>
                          <a:ea typeface="Heiti TC"/>
                          <a:cs typeface="Heiti TC"/>
                        </a:rPr>
                        <a:t>已有銜接規劃，正式管制與實驗尚未執行</a:t>
                      </a:r>
                    </a:p>
                  </a:txBody>
                  <a:tcPr marL="133350" marR="133350" marT="95250" marB="9525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3F7F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3020526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D8F94-B4C1-4F5A-BE74-13949106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3225" b="1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附錄，重現方式與英文說明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7EF092-1E48-455E-83EB-8AD56090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952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模擬資料研究，尚未完成真實製程驗證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12F07F-CA0D-4418-A662-001499CA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38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0677C"/>
                </a:solidFill>
                <a:latin typeface="Heiti TC"/>
                <a:ea typeface="Heiti TC"/>
                <a:cs typeface="Heiti TC"/>
              </a:defRPr>
            </a:pPr>
            <a:r>
              <a:rPr sz="1200" b="0">
                <a:solidFill>
                  <a:srgbClr val="50677C"/>
                </a:solidFill>
                <a:latin typeface="Heiti TC"/>
                <a:ea typeface="Heiti TC"/>
                <a:cs typeface="Heiti TC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BACE4B-46F5-4810-805B-0E3493E6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55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550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GitHub 與 Colab，保存固定資料、模型及結果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883690-B4A3-4ABA-9608-33862A02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8204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4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4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On a synthetic chronological test set, selecting the</a:t>
            </a:r>
          </a:p>
          <a:p xmlns:a="http://schemas.openxmlformats.org/drawingml/2006/main">
            <a:pPr>
              <a:defRPr sz="24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highest-risk 20% covered 72.5% of defects,</a:t>
            </a:r>
          </a:p>
          <a:p xmlns:a="http://schemas.openxmlformats.org/drawingml/2006/main">
            <a:pPr>
              <a:defRPr sz="247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47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with 64.2% precision.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BD541C-16B0-49B9-ACA7-2843DC7B7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>
            <a:def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142B43"/>
                </a:solidFill>
                <a:latin typeface="Heiti TC"/>
                <a:ea typeface="Heiti TC"/>
                <a:cs typeface="Heiti TC"/>
              </a:defRPr>
            </a:pPr>
            <a:r>
              <a:rPr sz="2325" b="0">
                <a:solidFill>
                  <a:srgbClr val="142B43"/>
                </a:solidFill>
                <a:latin typeface="Heiti TC"/>
                <a:ea typeface="Heiti TC"/>
                <a:cs typeface="Heiti TC"/>
              </a:rPr>
              <a:t>結果表與模型版本可追溯，真實製程資格仍需驗證</a:t>
            </a:r>
          </a:p>
        </p:txBody>
      </p:sp>
    </p:spTree>
    <p:extLst>
      <p:ext uri="{BB962C8B-B14F-4D97-AF65-F5344CB8AC3E}">
        <p14:creationId xmlns:p14="http://schemas.microsoft.com/office/powerpoint/2010/main" val="1654701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2026-10-17T06:32:49.3610000Z</dcterms:created>
  <dcterms:modified xsi:type="dcterms:W3CDTF">2026-10-17T06:32:49.3610000Z</dcterms:modified>
</coreProperties>
</file>